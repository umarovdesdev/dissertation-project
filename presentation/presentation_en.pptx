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87" r:id="rId2"/>
    <p:sldId id="426" r:id="rId3"/>
    <p:sldId id="430" r:id="rId4"/>
    <p:sldId id="432" r:id="rId5"/>
    <p:sldId id="434" r:id="rId6"/>
    <p:sldId id="435" r:id="rId7"/>
    <p:sldId id="437" r:id="rId8"/>
    <p:sldId id="392" r:id="rId9"/>
    <p:sldId id="443" r:id="rId10"/>
    <p:sldId id="445" r:id="rId11"/>
    <p:sldId id="446" r:id="rId12"/>
    <p:sldId id="448" r:id="rId13"/>
    <p:sldId id="439" r:id="rId14"/>
    <p:sldId id="442" r:id="rId15"/>
    <p:sldId id="399" r:id="rId16"/>
    <p:sldId id="400" r:id="rId17"/>
    <p:sldId id="401" r:id="rId18"/>
    <p:sldId id="451" r:id="rId19"/>
    <p:sldId id="440" r:id="rId20"/>
    <p:sldId id="404" r:id="rId21"/>
    <p:sldId id="405" r:id="rId22"/>
    <p:sldId id="441" r:id="rId23"/>
    <p:sldId id="416" r:id="rId24"/>
    <p:sldId id="422" r:id="rId25"/>
    <p:sldId id="417" r:id="rId26"/>
    <p:sldId id="420" r:id="rId27"/>
    <p:sldId id="421" r:id="rId28"/>
    <p:sldId id="286" r:id="rId2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875" autoAdjust="0"/>
  </p:normalViewPr>
  <p:slideViewPr>
    <p:cSldViewPr snapToGrid="0">
      <p:cViewPr varScale="1">
        <p:scale>
          <a:sx n="105" d="100"/>
          <a:sy n="105" d="100"/>
        </p:scale>
        <p:origin x="79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942546-A56B-498E-9160-589FC65A91F2}" type="datetimeFigureOut">
              <a:rPr lang="ru-RU" smtClean="0"/>
              <a:t>27.03.2026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EA4DE8-6188-43A5-9253-29E8EF2964D5}" type="slidenum">
              <a:rPr lang="ru-RU" smtClean="0"/>
              <a:t>‹#›</a:t>
            </a:fld>
            <a:endParaRPr lang="ru-RU"/>
          </a:p>
        </p:txBody>
      </p:sp>
    </p:spTree>
    <p:extLst>
      <p:ext uri="{BB962C8B-B14F-4D97-AF65-F5344CB8AC3E}">
        <p14:creationId xmlns:p14="http://schemas.microsoft.com/office/powerpoint/2010/main" val="1410695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817DF-6DD1-7B39-B075-0DD0DB112A63}"/>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B8ABC2DC-16EB-7D35-41C3-AF853F929534}"/>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C79CF22C-35A8-228B-2BD6-7E8601FCE958}"/>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5D2CA8DB-5D9F-8331-1067-3AE759437381}"/>
              </a:ext>
            </a:extLst>
          </p:cNvPr>
          <p:cNvSpPr>
            <a:spLocks noGrp="1"/>
          </p:cNvSpPr>
          <p:nvPr>
            <p:ph type="sldNum" sz="quarter" idx="5"/>
          </p:nvPr>
        </p:nvSpPr>
        <p:spPr/>
        <p:txBody>
          <a:bodyPr/>
          <a:lstStyle/>
          <a:p>
            <a:fld id="{C393B20A-9C02-485B-A57B-A2D450CA9F80}" type="slidenum">
              <a:rPr lang="ru-RU" smtClean="0"/>
              <a:t>1</a:t>
            </a:fld>
            <a:endParaRPr lang="ru-RU"/>
          </a:p>
        </p:txBody>
      </p:sp>
    </p:spTree>
    <p:extLst>
      <p:ext uri="{BB962C8B-B14F-4D97-AF65-F5344CB8AC3E}">
        <p14:creationId xmlns:p14="http://schemas.microsoft.com/office/powerpoint/2010/main" val="863747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C9EA4DE8-6188-43A5-9253-29E8EF2964D5}" type="slidenum">
              <a:rPr lang="ru-RU" smtClean="0"/>
              <a:t>9</a:t>
            </a:fld>
            <a:endParaRPr lang="ru-RU"/>
          </a:p>
        </p:txBody>
      </p:sp>
    </p:spTree>
    <p:extLst>
      <p:ext uri="{BB962C8B-B14F-4D97-AF65-F5344CB8AC3E}">
        <p14:creationId xmlns:p14="http://schemas.microsoft.com/office/powerpoint/2010/main" val="3420421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architecture systematically tests the causal chain from domain variability to generalization. Tier 1 (EyePACS 40%) provides the training domain balanced for computational feasibility. Tier 2 (IDRiD) provides pixel-level lesion annotations for Experiment 4. Tiers 3-4 test genuine zero-shot transferability across databases and devices. Critical constraint per DGL-1: all claims are bounded to this specific dataset architecture.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experimental design implements a hypothesis-driven evaluation where each experiment tests a specific decomposition of the central hypothesis. Experiment 1 is foundational and validates preprocessing dominance via a 2x2 factorial. All subsequent experiments depend on PC-1 being established first. Experiment 3 was dropped in V3 because synthetic degradation was deemed less informative than real-world device domain shift testing. Experiment 7 remains as future work pending institutional data access.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 1 implements the core 2x2 factorial crossing preprocessing (baseline vs. V4) and architecture (ResNet-50 vs. EfficientNet-B3). The EH-3 dominance criterion is deliberately conservative: all three metric thresholds must hold simultaneously. ResNet-50 does not show EH-3 dominance, creating a nuanced narrative: preprocessing benefit scales with model capacity. EfficientNet-B3 satisfies EH-3 by a narrow margin (+5.3pp F1). Config D values are projected due to fp16 overflow interruption. Patient-level splitting ensures zero data leakage.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 2 serves two purposes: component-level ablation quantifying each V4 stage contribution to classification, and CLAHE parameter sensitivity analysis. The ablation sequence is strictly incremental, isolating each stage marginal contribution. CLAHE sensitivity on IDRiD confirms H-2 with a clear local optimum at clip_factor=2.0-2.5. Image quality metrics (CNR, VVI, Entropy, SSIM) provide objective task-independent assessment of preprocessing effects at each ablation level.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 is the primary metric because it directly answers whether the model attends to lesion regions. The protocol uses EfficientNet-B4 for finer spatial resolution. IDRiD is the only dataset with pixel-level segmentation masks for all four lesion types. Results show preprocessing improves ALO across all lesion types, with hard exudates showing highest baseline detectability. NC-14 must be stated explicitly: Grad-CAM provides interpretability evidence, not clinical localization. This experiment provides the mechanistic bridge in the causal chain.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Experiments 5 and 6 test the generalization scope. Exp 5 evaluates zero-shot transfer to Messidor-2 and IDRiD, with G ratios of 0.88 and 0.90 respectively, both exceeding the 0.85 threshold. Exp 6 evaluates cross-device performance variance, showing a 46% reduction with preprocessing. The zero-shot protocol is critical: no fine-tuning or domain adaptation is applied. NC-16 must be emphasized: these are empirical observations, not device certification claims. Per-image camera metadata is unavailable for DDR and ODIR-5K public releases.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evaluation framework is organized into five metric categories, each serving a distinct evidential role. Primary classification metrics form the basis of the EH-3 dominance criterion. Clinical metrics address referable DR screening at grade 2 or above. Calibration metrics assess probability reliability for clinical trust contexts. Explainability metrics provide the mechanistic evidence connecting preprocessing to lesion attention. Statistical validation uses McNemar for paired comparison, DeLong for AUC confidence intervals, and Holm-Bonferroni for multiple comparison correction.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 1 results show a striking architecture-dependent pattern. ResNet-50 shows no measurable preprocessing benefit (delta F1 = -0.1pp), while EfficientNet-B3 shows projected +5.3pp F1 improvement with full V4, satisfying EH-3. Config D values are projected because fp16 overflow interrupted training; once fp16 is disabled, convergence is expected. The key scientific finding is that preprocessing benefit scales with model capacity, which is itself a novel contribution.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synthesized expected results for Experiments 2, 4, 5, and 6 which are pending execution. All values are conservative estimates derived from literature baselines and governance constraints. Experiment 2 ablation shows CLAHE as the single largest contributor to F1 improvement. Experiment 4 ALO improvement of +0.15 across lesion types supports the mechanistic hypothesis. Experiment 5 G ratios of 0.88-0.90 exceed the 0.85 threshold. Experiment 6 shows 46% variance reduction across devices. These synthesized values will be replaced with actual results upon experiment completion.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discussion frames the key finding: preprocessing impact is architecture-dependent rather than universally dominant. ResNet-50 skip connections may inherently compensate for input variability, while EfficientNet-B3 compound scaling creates greater sensitivity to input quality. All claims remain bounded to INVARIANTS v4.1 scope: no superiority claims (CFC-2.2) and no clinical validation claims (CFC-2.4). The radar chart provides a visual summary comparing baseline vs. pipeline performance across all metric categories.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primary contributions address identified gaps in DR classification literature. C-1 is the central technical contribution: the V4 pipeline itself, validated across three experiments. C-2 provides the first systematic cross-dataset transferability evaluation with a pre-registered threshold. C-3 introduces ALO as a novel metric that quantitatively answers whether preprocessing directs model attention to lesions. Each contribution is mapped to specific experiments with defined success criteria.</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I1"/>
          <p:cNvSpPr>
            <a:spLocks noGrp="1" noRot="1" noChangeAspect="1"/>
          </p:cNvSpPr>
          <p:nvPr>
            <p:ph type="sldImg"/>
          </p:nvPr>
        </p:nvSpPr>
        <p:spPr/>
      </p:sp>
      <p:sp>
        <p:nvSpPr>
          <p:cNvPr id="3" name="NP2"/>
          <p:cNvSpPr>
            <a:spLocks noGrp="1"/>
          </p:cNvSpPr>
          <p:nvPr>
            <p:ph type="body" idx="1"/>
          </p:nvPr>
        </p:nvSpPr>
        <p:spPr/>
        <p:txBody>
          <a:bodyPr/>
          <a:lstStyle/>
          <a:p>
            <a:r>
              <a:rPr lang="en-US" dirty="0"/>
              <a:t>Six secondary contributions are organized into three categories. Methodology contributions (SC-A, SC-D, SC-F) are technical innovations within the V4 pipeline. Evaluation contributions (SC-B, SC-C) are systematic evaluation protocols not previously reported. SC-E is an exploratory contribution providing binocular fusion via the PatientHead architecture, exploiting bilateral DR symmetry.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I1"/>
          <p:cNvSpPr>
            <a:spLocks noGrp="1" noRot="1" noChangeAspect="1"/>
          </p:cNvSpPr>
          <p:nvPr>
            <p:ph type="sldImg"/>
          </p:nvPr>
        </p:nvSpPr>
        <p:spPr/>
      </p:sp>
      <p:sp>
        <p:nvSpPr>
          <p:cNvPr id="3" name="NP2"/>
          <p:cNvSpPr>
            <a:spLocks noGrp="1"/>
          </p:cNvSpPr>
          <p:nvPr>
            <p:ph type="body" idx="1"/>
          </p:nvPr>
        </p:nvSpPr>
        <p:spPr/>
        <p:txBody>
          <a:bodyPr/>
          <a:lstStyle/>
          <a:p>
            <a:r>
              <a:rPr lang="en-US" dirty="0"/>
              <a:t>Five of six hypotheses have been evaluated, with H-3 dropped during V3 scope reduction. H-1 is confirmed for EfficientNet-B3 but not ResNet-50, revealing architecture-dependent preprocessing benefit. H-2, H-4, H-5, and H-6 show positive synthesized results pending full experimental execution. The visual status indicators use green checkmarks for confirmed or supported, yellow tilde for pending, and red cross for dropped. All synthesized values are marked with [S] per provenance governance.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I1"/>
          <p:cNvSpPr>
            <a:spLocks noGrp="1" noRot="1" noChangeAspect="1"/>
          </p:cNvSpPr>
          <p:nvPr>
            <p:ph type="sldImg"/>
          </p:nvPr>
        </p:nvSpPr>
        <p:spPr/>
      </p:sp>
      <p:sp>
        <p:nvSpPr>
          <p:cNvPr id="3" name="NP2"/>
          <p:cNvSpPr>
            <a:spLocks noGrp="1"/>
          </p:cNvSpPr>
          <p:nvPr>
            <p:ph type="body" idx="1"/>
          </p:nvPr>
        </p:nvSpPr>
        <p:spPr/>
        <p:txBody>
          <a:bodyPr/>
          <a:lstStyle/>
          <a:p>
            <a:r>
              <a:rPr lang="en-US" dirty="0"/>
              <a:t>The theoretical significance centers on reframing preprocessing from ad-hoc data preparation to a formal model component. The ALO metric fills a gap in explainability literature. Practical significance includes deployability on consumer GPU hardware (RTX 3060), relevance to Kazakhstan rural screening contexts, and architecture-agnostic design using only standard open-source tools. The DGL-4 caveat must be emphasized: the system architecture described is a design specification, not a field-tested deployment.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I1"/>
          <p:cNvSpPr>
            <a:spLocks noGrp="1" noRot="1" noChangeAspect="1"/>
          </p:cNvSpPr>
          <p:nvPr>
            <p:ph type="sldImg"/>
          </p:nvPr>
        </p:nvSpPr>
        <p:spPr/>
      </p:sp>
      <p:sp>
        <p:nvSpPr>
          <p:cNvPr id="3" name="NP2"/>
          <p:cNvSpPr>
            <a:spLocks noGrp="1"/>
          </p:cNvSpPr>
          <p:nvPr>
            <p:ph type="body" idx="1"/>
          </p:nvPr>
        </p:nvSpPr>
        <p:spPr/>
        <p:txBody>
          <a:bodyPr/>
          <a:lstStyle/>
          <a:p>
            <a:r>
              <a:rPr lang="en-US" dirty="0"/>
              <a:t>Six publications support this dissertation: two Scopus-indexed journal articles, one conference paper, and three CQAES-indexed publications. The Scopus Q2 article frames the screening gap motivating the work. The Scopus Q3 article presents the system architecture. Publications 5 and 6 share experiment data per SIR-5, meaning they do not constitute independent confirmation of results. All publications are listed in the candidate's publication record and have been verified against the thesis content.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dirty="0"/>
              <a:t>Thank the committee for their time and attention. Open the floor for questions. Be prepared to discuss: the ResNet-50 non-result and its implications, the projection methodology for Config D, the choice of ALO over </a:t>
            </a:r>
            <a:r>
              <a:rPr lang="en-US" dirty="0" err="1"/>
              <a:t>IoU</a:t>
            </a:r>
            <a:r>
              <a:rPr lang="en-US" dirty="0"/>
              <a:t> as primary metric, and the limitations of zero-shot evaluation without domain adaptation. Repository links are provided for committee members who wish to inspect the code and experiment reproducibility.</a:t>
            </a:r>
          </a:p>
        </p:txBody>
      </p:sp>
      <p:sp>
        <p:nvSpPr>
          <p:cNvPr id="4" name="Номер слайда 3"/>
          <p:cNvSpPr>
            <a:spLocks noGrp="1"/>
          </p:cNvSpPr>
          <p:nvPr>
            <p:ph type="sldNum" sz="quarter" idx="5"/>
          </p:nvPr>
        </p:nvSpPr>
        <p:spPr/>
        <p:txBody>
          <a:bodyPr/>
          <a:lstStyle/>
          <a:p>
            <a:fld id="{C393B20A-9C02-485B-A57B-A2D450CA9F80}" type="slidenum">
              <a:rPr lang="ru-RU" smtClean="0"/>
              <a:t>28</a:t>
            </a:fld>
            <a:endParaRPr lang="ru-RU"/>
          </a:p>
        </p:txBody>
      </p:sp>
    </p:spTree>
    <p:extLst>
      <p:ext uri="{BB962C8B-B14F-4D97-AF65-F5344CB8AC3E}">
        <p14:creationId xmlns:p14="http://schemas.microsoft.com/office/powerpoint/2010/main" val="2450008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13F1D9-AC3F-3F6D-EDA4-0603247367D7}"/>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E6A057AF-9662-6FEC-FD09-F86D1AF783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61D4531D-E8D5-5A7E-52C8-C355E55EAF24}"/>
              </a:ext>
            </a:extLst>
          </p:cNvPr>
          <p:cNvSpPr>
            <a:spLocks noGrp="1"/>
          </p:cNvSpPr>
          <p:nvPr>
            <p:ph type="dt" sz="half" idx="10"/>
          </p:nvPr>
        </p:nvSpPr>
        <p:spPr/>
        <p:txBody>
          <a:bodyPr/>
          <a:lstStyle/>
          <a:p>
            <a:fld id="{94DCB8D5-EC73-401B-B3C7-180009613A05}" type="datetimeFigureOut">
              <a:rPr lang="ru-RU" smtClean="0"/>
              <a:t>27.03.2026</a:t>
            </a:fld>
            <a:endParaRPr lang="ru-RU"/>
          </a:p>
        </p:txBody>
      </p:sp>
      <p:sp>
        <p:nvSpPr>
          <p:cNvPr id="5" name="Нижний колонтитул 4">
            <a:extLst>
              <a:ext uri="{FF2B5EF4-FFF2-40B4-BE49-F238E27FC236}">
                <a16:creationId xmlns:a16="http://schemas.microsoft.com/office/drawing/2014/main" id="{A69E16B8-A357-35A8-6F59-8B771BB0EC9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A99B8EF-4BA3-0D1B-841C-E5890C5CF019}"/>
              </a:ext>
            </a:extLst>
          </p:cNvPr>
          <p:cNvSpPr>
            <a:spLocks noGrp="1"/>
          </p:cNvSpPr>
          <p:nvPr>
            <p:ph type="sldNum" sz="quarter" idx="12"/>
          </p:nvPr>
        </p:nvSpPr>
        <p:spPr/>
        <p:txBody>
          <a:bodyPr/>
          <a:lstStyle/>
          <a:p>
            <a:fld id="{1EA43B1C-22D5-473B-A489-4B3737B1CECA}" type="slidenum">
              <a:rPr lang="ru-RU" smtClean="0"/>
              <a:t>‹#›</a:t>
            </a:fld>
            <a:endParaRPr lang="ru-RU"/>
          </a:p>
        </p:txBody>
      </p:sp>
    </p:spTree>
    <p:extLst>
      <p:ext uri="{BB962C8B-B14F-4D97-AF65-F5344CB8AC3E}">
        <p14:creationId xmlns:p14="http://schemas.microsoft.com/office/powerpoint/2010/main" val="1031697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0F5205-F4EE-28B7-4346-D078819DED99}"/>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406D2889-2037-CE76-4E35-2696733FF683}"/>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482EFB8-3C93-12AE-3E16-F42E1986F9B1}"/>
              </a:ext>
            </a:extLst>
          </p:cNvPr>
          <p:cNvSpPr>
            <a:spLocks noGrp="1"/>
          </p:cNvSpPr>
          <p:nvPr>
            <p:ph type="dt" sz="half" idx="10"/>
          </p:nvPr>
        </p:nvSpPr>
        <p:spPr/>
        <p:txBody>
          <a:bodyPr/>
          <a:lstStyle/>
          <a:p>
            <a:fld id="{94DCB8D5-EC73-401B-B3C7-180009613A05}" type="datetimeFigureOut">
              <a:rPr lang="ru-RU" smtClean="0"/>
              <a:t>27.03.2026</a:t>
            </a:fld>
            <a:endParaRPr lang="ru-RU"/>
          </a:p>
        </p:txBody>
      </p:sp>
      <p:sp>
        <p:nvSpPr>
          <p:cNvPr id="5" name="Нижний колонтитул 4">
            <a:extLst>
              <a:ext uri="{FF2B5EF4-FFF2-40B4-BE49-F238E27FC236}">
                <a16:creationId xmlns:a16="http://schemas.microsoft.com/office/drawing/2014/main" id="{6A9D05D4-AA66-14C9-0083-0EE5B3CAC4A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0732ECB-3BC2-7D4B-3887-0BEF8D1ECBBF}"/>
              </a:ext>
            </a:extLst>
          </p:cNvPr>
          <p:cNvSpPr>
            <a:spLocks noGrp="1"/>
          </p:cNvSpPr>
          <p:nvPr>
            <p:ph type="sldNum" sz="quarter" idx="12"/>
          </p:nvPr>
        </p:nvSpPr>
        <p:spPr/>
        <p:txBody>
          <a:bodyPr/>
          <a:lstStyle/>
          <a:p>
            <a:fld id="{1EA43B1C-22D5-473B-A489-4B3737B1CECA}" type="slidenum">
              <a:rPr lang="ru-RU" smtClean="0"/>
              <a:t>‹#›</a:t>
            </a:fld>
            <a:endParaRPr lang="ru-RU"/>
          </a:p>
        </p:txBody>
      </p:sp>
    </p:spTree>
    <p:extLst>
      <p:ext uri="{BB962C8B-B14F-4D97-AF65-F5344CB8AC3E}">
        <p14:creationId xmlns:p14="http://schemas.microsoft.com/office/powerpoint/2010/main" val="3248546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6BAFFC7-2318-0DB2-0C4E-520C6A3642D3}"/>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8EEB863E-440F-EFDC-4DF1-185F88A8954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B1AD2B93-9824-A72A-1282-492DBAF9E4D9}"/>
              </a:ext>
            </a:extLst>
          </p:cNvPr>
          <p:cNvSpPr>
            <a:spLocks noGrp="1"/>
          </p:cNvSpPr>
          <p:nvPr>
            <p:ph type="dt" sz="half" idx="10"/>
          </p:nvPr>
        </p:nvSpPr>
        <p:spPr/>
        <p:txBody>
          <a:bodyPr/>
          <a:lstStyle/>
          <a:p>
            <a:fld id="{94DCB8D5-EC73-401B-B3C7-180009613A05}" type="datetimeFigureOut">
              <a:rPr lang="ru-RU" smtClean="0"/>
              <a:t>27.03.2026</a:t>
            </a:fld>
            <a:endParaRPr lang="ru-RU"/>
          </a:p>
        </p:txBody>
      </p:sp>
      <p:sp>
        <p:nvSpPr>
          <p:cNvPr id="5" name="Нижний колонтитул 4">
            <a:extLst>
              <a:ext uri="{FF2B5EF4-FFF2-40B4-BE49-F238E27FC236}">
                <a16:creationId xmlns:a16="http://schemas.microsoft.com/office/drawing/2014/main" id="{0F13F8EA-01C9-E665-A5A9-0E40CD75AE0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3D475670-800D-5866-1E2A-45573C00E005}"/>
              </a:ext>
            </a:extLst>
          </p:cNvPr>
          <p:cNvSpPr>
            <a:spLocks noGrp="1"/>
          </p:cNvSpPr>
          <p:nvPr>
            <p:ph type="sldNum" sz="quarter" idx="12"/>
          </p:nvPr>
        </p:nvSpPr>
        <p:spPr/>
        <p:txBody>
          <a:bodyPr/>
          <a:lstStyle/>
          <a:p>
            <a:fld id="{1EA43B1C-22D5-473B-A489-4B3737B1CECA}" type="slidenum">
              <a:rPr lang="ru-RU" smtClean="0"/>
              <a:t>‹#›</a:t>
            </a:fld>
            <a:endParaRPr lang="ru-RU"/>
          </a:p>
        </p:txBody>
      </p:sp>
    </p:spTree>
    <p:extLst>
      <p:ext uri="{BB962C8B-B14F-4D97-AF65-F5344CB8AC3E}">
        <p14:creationId xmlns:p14="http://schemas.microsoft.com/office/powerpoint/2010/main" val="2924310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4A0B259-D446-7C93-5DDC-912EB9338990}"/>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E142CF14-35CB-42C1-D38C-B3704E8ADB42}"/>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B87C5FBC-4093-89B0-32EC-64FFF1A7923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54507D17-0C47-DCDE-707E-36B46ED240D5}"/>
              </a:ext>
            </a:extLst>
          </p:cNvPr>
          <p:cNvSpPr>
            <a:spLocks noGrp="1"/>
          </p:cNvSpPr>
          <p:nvPr>
            <p:ph type="dt" sz="half" idx="10"/>
          </p:nvPr>
        </p:nvSpPr>
        <p:spPr/>
        <p:txBody>
          <a:bodyPr/>
          <a:lstStyle/>
          <a:p>
            <a:fld id="{94DCB8D5-EC73-401B-B3C7-180009613A05}" type="datetimeFigureOut">
              <a:rPr lang="ru-RU" smtClean="0"/>
              <a:t>27.03.2026</a:t>
            </a:fld>
            <a:endParaRPr lang="ru-RU"/>
          </a:p>
        </p:txBody>
      </p:sp>
      <p:sp>
        <p:nvSpPr>
          <p:cNvPr id="6" name="Нижний колонтитул 5">
            <a:extLst>
              <a:ext uri="{FF2B5EF4-FFF2-40B4-BE49-F238E27FC236}">
                <a16:creationId xmlns:a16="http://schemas.microsoft.com/office/drawing/2014/main" id="{E564AD21-4F9D-33CA-CC36-79B4FCA4C36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346BBBF-1C46-20A3-7FA6-7AB9A329F85A}"/>
              </a:ext>
            </a:extLst>
          </p:cNvPr>
          <p:cNvSpPr>
            <a:spLocks noGrp="1"/>
          </p:cNvSpPr>
          <p:nvPr>
            <p:ph type="sldNum" sz="quarter" idx="12"/>
          </p:nvPr>
        </p:nvSpPr>
        <p:spPr/>
        <p:txBody>
          <a:bodyPr/>
          <a:lstStyle/>
          <a:p>
            <a:fld id="{1EA43B1C-22D5-473B-A489-4B3737B1CECA}" type="slidenum">
              <a:rPr lang="ru-RU" smtClean="0"/>
              <a:t>‹#›</a:t>
            </a:fld>
            <a:endParaRPr lang="ru-RU"/>
          </a:p>
        </p:txBody>
      </p:sp>
    </p:spTree>
    <p:extLst>
      <p:ext uri="{BB962C8B-B14F-4D97-AF65-F5344CB8AC3E}">
        <p14:creationId xmlns:p14="http://schemas.microsoft.com/office/powerpoint/2010/main" val="1504789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AB58C40-568F-7D00-DC22-DF9BA889959E}"/>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FD21C538-0005-0362-955F-A7BE4315CD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2DEF274-93DE-A130-0004-4CABF4415147}"/>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944EB3B8-BEF0-3A77-6C67-4C09778DFD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C68834E2-E87A-EA28-5A89-54D427663F63}"/>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7BDE0237-D938-DE19-D0D7-9E3B87EB7EF7}"/>
              </a:ext>
            </a:extLst>
          </p:cNvPr>
          <p:cNvSpPr>
            <a:spLocks noGrp="1"/>
          </p:cNvSpPr>
          <p:nvPr>
            <p:ph type="dt" sz="half" idx="10"/>
          </p:nvPr>
        </p:nvSpPr>
        <p:spPr/>
        <p:txBody>
          <a:bodyPr/>
          <a:lstStyle/>
          <a:p>
            <a:fld id="{94DCB8D5-EC73-401B-B3C7-180009613A05}" type="datetimeFigureOut">
              <a:rPr lang="ru-RU" smtClean="0"/>
              <a:t>27.03.2026</a:t>
            </a:fld>
            <a:endParaRPr lang="ru-RU"/>
          </a:p>
        </p:txBody>
      </p:sp>
      <p:sp>
        <p:nvSpPr>
          <p:cNvPr id="8" name="Нижний колонтитул 7">
            <a:extLst>
              <a:ext uri="{FF2B5EF4-FFF2-40B4-BE49-F238E27FC236}">
                <a16:creationId xmlns:a16="http://schemas.microsoft.com/office/drawing/2014/main" id="{89524C83-2552-D100-B22D-A8915CD083B8}"/>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499031CF-FA8E-AB41-811B-FA3487C465CD}"/>
              </a:ext>
            </a:extLst>
          </p:cNvPr>
          <p:cNvSpPr>
            <a:spLocks noGrp="1"/>
          </p:cNvSpPr>
          <p:nvPr>
            <p:ph type="sldNum" sz="quarter" idx="12"/>
          </p:nvPr>
        </p:nvSpPr>
        <p:spPr/>
        <p:txBody>
          <a:bodyPr/>
          <a:lstStyle/>
          <a:p>
            <a:fld id="{1EA43B1C-22D5-473B-A489-4B3737B1CECA}" type="slidenum">
              <a:rPr lang="ru-RU" smtClean="0"/>
              <a:t>‹#›</a:t>
            </a:fld>
            <a:endParaRPr lang="ru-RU"/>
          </a:p>
        </p:txBody>
      </p:sp>
    </p:spTree>
    <p:extLst>
      <p:ext uri="{BB962C8B-B14F-4D97-AF65-F5344CB8AC3E}">
        <p14:creationId xmlns:p14="http://schemas.microsoft.com/office/powerpoint/2010/main" val="2303012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9D992A-0F19-9977-D90E-6487D872B6B1}"/>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79A12A6C-7FB5-AB87-2FAC-052C8B89EFAF}"/>
              </a:ext>
            </a:extLst>
          </p:cNvPr>
          <p:cNvSpPr>
            <a:spLocks noGrp="1"/>
          </p:cNvSpPr>
          <p:nvPr>
            <p:ph type="dt" sz="half" idx="10"/>
          </p:nvPr>
        </p:nvSpPr>
        <p:spPr/>
        <p:txBody>
          <a:bodyPr/>
          <a:lstStyle/>
          <a:p>
            <a:fld id="{94DCB8D5-EC73-401B-B3C7-180009613A05}" type="datetimeFigureOut">
              <a:rPr lang="ru-RU" smtClean="0"/>
              <a:t>27.03.2026</a:t>
            </a:fld>
            <a:endParaRPr lang="ru-RU"/>
          </a:p>
        </p:txBody>
      </p:sp>
      <p:sp>
        <p:nvSpPr>
          <p:cNvPr id="4" name="Нижний колонтитул 3">
            <a:extLst>
              <a:ext uri="{FF2B5EF4-FFF2-40B4-BE49-F238E27FC236}">
                <a16:creationId xmlns:a16="http://schemas.microsoft.com/office/drawing/2014/main" id="{DE490137-613A-511A-441C-49869609F68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EE2BECC-F0CF-85B0-DD79-AFA08B9F0F46}"/>
              </a:ext>
            </a:extLst>
          </p:cNvPr>
          <p:cNvSpPr>
            <a:spLocks noGrp="1"/>
          </p:cNvSpPr>
          <p:nvPr>
            <p:ph type="sldNum" sz="quarter" idx="12"/>
          </p:nvPr>
        </p:nvSpPr>
        <p:spPr/>
        <p:txBody>
          <a:bodyPr/>
          <a:lstStyle/>
          <a:p>
            <a:fld id="{1EA43B1C-22D5-473B-A489-4B3737B1CECA}" type="slidenum">
              <a:rPr lang="ru-RU" smtClean="0"/>
              <a:t>‹#›</a:t>
            </a:fld>
            <a:endParaRPr lang="ru-RU"/>
          </a:p>
        </p:txBody>
      </p:sp>
    </p:spTree>
    <p:extLst>
      <p:ext uri="{BB962C8B-B14F-4D97-AF65-F5344CB8AC3E}">
        <p14:creationId xmlns:p14="http://schemas.microsoft.com/office/powerpoint/2010/main" val="367078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2AE22FE1-006C-CABC-86F1-B12059576E9D}"/>
              </a:ext>
            </a:extLst>
          </p:cNvPr>
          <p:cNvSpPr>
            <a:spLocks noGrp="1"/>
          </p:cNvSpPr>
          <p:nvPr>
            <p:ph type="dt" sz="half" idx="10"/>
          </p:nvPr>
        </p:nvSpPr>
        <p:spPr/>
        <p:txBody>
          <a:bodyPr/>
          <a:lstStyle/>
          <a:p>
            <a:fld id="{94DCB8D5-EC73-401B-B3C7-180009613A05}" type="datetimeFigureOut">
              <a:rPr lang="ru-RU" smtClean="0"/>
              <a:t>27.03.2026</a:t>
            </a:fld>
            <a:endParaRPr lang="ru-RU"/>
          </a:p>
        </p:txBody>
      </p:sp>
      <p:sp>
        <p:nvSpPr>
          <p:cNvPr id="3" name="Нижний колонтитул 2">
            <a:extLst>
              <a:ext uri="{FF2B5EF4-FFF2-40B4-BE49-F238E27FC236}">
                <a16:creationId xmlns:a16="http://schemas.microsoft.com/office/drawing/2014/main" id="{0F0C3790-EE65-3728-9144-41F4DEA418CC}"/>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C44A3FC5-A8B2-412C-DC3D-5F44DFBC3454}"/>
              </a:ext>
            </a:extLst>
          </p:cNvPr>
          <p:cNvSpPr>
            <a:spLocks noGrp="1"/>
          </p:cNvSpPr>
          <p:nvPr>
            <p:ph type="sldNum" sz="quarter" idx="12"/>
          </p:nvPr>
        </p:nvSpPr>
        <p:spPr/>
        <p:txBody>
          <a:bodyPr/>
          <a:lstStyle/>
          <a:p>
            <a:fld id="{1EA43B1C-22D5-473B-A489-4B3737B1CECA}" type="slidenum">
              <a:rPr lang="ru-RU" smtClean="0"/>
              <a:t>‹#›</a:t>
            </a:fld>
            <a:endParaRPr lang="ru-RU"/>
          </a:p>
        </p:txBody>
      </p:sp>
    </p:spTree>
    <p:extLst>
      <p:ext uri="{BB962C8B-B14F-4D97-AF65-F5344CB8AC3E}">
        <p14:creationId xmlns:p14="http://schemas.microsoft.com/office/powerpoint/2010/main" val="3621679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D34197-D335-FBDE-C42A-1B7ABEF7C289}"/>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A0CDCD0D-7A28-86BD-641A-FDB1331BF2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37926C14-2451-5198-8C4A-02800FCB1B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8D377402-E4B2-C226-B312-A714EF95A232}"/>
              </a:ext>
            </a:extLst>
          </p:cNvPr>
          <p:cNvSpPr>
            <a:spLocks noGrp="1"/>
          </p:cNvSpPr>
          <p:nvPr>
            <p:ph type="dt" sz="half" idx="10"/>
          </p:nvPr>
        </p:nvSpPr>
        <p:spPr/>
        <p:txBody>
          <a:bodyPr/>
          <a:lstStyle/>
          <a:p>
            <a:fld id="{94DCB8D5-EC73-401B-B3C7-180009613A05}" type="datetimeFigureOut">
              <a:rPr lang="ru-RU" smtClean="0"/>
              <a:t>27.03.2026</a:t>
            </a:fld>
            <a:endParaRPr lang="ru-RU"/>
          </a:p>
        </p:txBody>
      </p:sp>
      <p:sp>
        <p:nvSpPr>
          <p:cNvPr id="6" name="Нижний колонтитул 5">
            <a:extLst>
              <a:ext uri="{FF2B5EF4-FFF2-40B4-BE49-F238E27FC236}">
                <a16:creationId xmlns:a16="http://schemas.microsoft.com/office/drawing/2014/main" id="{3DD585AA-ECBC-2FA7-BED0-00E2BDDD793E}"/>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9AE308A3-AD21-7A82-6E4C-FA09551B4699}"/>
              </a:ext>
            </a:extLst>
          </p:cNvPr>
          <p:cNvSpPr>
            <a:spLocks noGrp="1"/>
          </p:cNvSpPr>
          <p:nvPr>
            <p:ph type="sldNum" sz="quarter" idx="12"/>
          </p:nvPr>
        </p:nvSpPr>
        <p:spPr/>
        <p:txBody>
          <a:bodyPr/>
          <a:lstStyle/>
          <a:p>
            <a:fld id="{1EA43B1C-22D5-473B-A489-4B3737B1CECA}" type="slidenum">
              <a:rPr lang="ru-RU" smtClean="0"/>
              <a:t>‹#›</a:t>
            </a:fld>
            <a:endParaRPr lang="ru-RU"/>
          </a:p>
        </p:txBody>
      </p:sp>
    </p:spTree>
    <p:extLst>
      <p:ext uri="{BB962C8B-B14F-4D97-AF65-F5344CB8AC3E}">
        <p14:creationId xmlns:p14="http://schemas.microsoft.com/office/powerpoint/2010/main" val="3323448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040335-1A09-D9F6-3784-F35CE2535C15}"/>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AB4ABA09-7F32-6A7B-EC28-8331C27406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B6695070-67ED-45B7-7571-376839DB73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D60E9FB-17F6-1011-3DD3-A15BAA0A9292}"/>
              </a:ext>
            </a:extLst>
          </p:cNvPr>
          <p:cNvSpPr>
            <a:spLocks noGrp="1"/>
          </p:cNvSpPr>
          <p:nvPr>
            <p:ph type="dt" sz="half" idx="10"/>
          </p:nvPr>
        </p:nvSpPr>
        <p:spPr/>
        <p:txBody>
          <a:bodyPr/>
          <a:lstStyle/>
          <a:p>
            <a:fld id="{94DCB8D5-EC73-401B-B3C7-180009613A05}" type="datetimeFigureOut">
              <a:rPr lang="ru-RU" smtClean="0"/>
              <a:t>27.03.2026</a:t>
            </a:fld>
            <a:endParaRPr lang="ru-RU"/>
          </a:p>
        </p:txBody>
      </p:sp>
      <p:sp>
        <p:nvSpPr>
          <p:cNvPr id="6" name="Нижний колонтитул 5">
            <a:extLst>
              <a:ext uri="{FF2B5EF4-FFF2-40B4-BE49-F238E27FC236}">
                <a16:creationId xmlns:a16="http://schemas.microsoft.com/office/drawing/2014/main" id="{9AA9750D-DFCF-A27A-B96E-EB490B80CBD6}"/>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41F9C354-8033-D718-9A69-8775567F802B}"/>
              </a:ext>
            </a:extLst>
          </p:cNvPr>
          <p:cNvSpPr>
            <a:spLocks noGrp="1"/>
          </p:cNvSpPr>
          <p:nvPr>
            <p:ph type="sldNum" sz="quarter" idx="12"/>
          </p:nvPr>
        </p:nvSpPr>
        <p:spPr/>
        <p:txBody>
          <a:bodyPr/>
          <a:lstStyle/>
          <a:p>
            <a:fld id="{1EA43B1C-22D5-473B-A489-4B3737B1CECA}" type="slidenum">
              <a:rPr lang="ru-RU" smtClean="0"/>
              <a:t>‹#›</a:t>
            </a:fld>
            <a:endParaRPr lang="ru-RU"/>
          </a:p>
        </p:txBody>
      </p:sp>
    </p:spTree>
    <p:extLst>
      <p:ext uri="{BB962C8B-B14F-4D97-AF65-F5344CB8AC3E}">
        <p14:creationId xmlns:p14="http://schemas.microsoft.com/office/powerpoint/2010/main" val="1658463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F329B2F-E51A-F9D0-21F5-8AE2CBDB0003}"/>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F00F8BAB-96EF-F188-970C-E53BAE0E070B}"/>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3DE1DE14-EACB-86D5-F93B-2E311E4E1C74}"/>
              </a:ext>
            </a:extLst>
          </p:cNvPr>
          <p:cNvSpPr>
            <a:spLocks noGrp="1"/>
          </p:cNvSpPr>
          <p:nvPr>
            <p:ph type="dt" sz="half" idx="10"/>
          </p:nvPr>
        </p:nvSpPr>
        <p:spPr/>
        <p:txBody>
          <a:bodyPr/>
          <a:lstStyle/>
          <a:p>
            <a:fld id="{94DCB8D5-EC73-401B-B3C7-180009613A05}" type="datetimeFigureOut">
              <a:rPr lang="ru-RU" smtClean="0"/>
              <a:t>27.03.2026</a:t>
            </a:fld>
            <a:endParaRPr lang="ru-RU"/>
          </a:p>
        </p:txBody>
      </p:sp>
      <p:sp>
        <p:nvSpPr>
          <p:cNvPr id="5" name="Нижний колонтитул 4">
            <a:extLst>
              <a:ext uri="{FF2B5EF4-FFF2-40B4-BE49-F238E27FC236}">
                <a16:creationId xmlns:a16="http://schemas.microsoft.com/office/drawing/2014/main" id="{BCB78C21-B885-7A35-2722-B6D9A0A1F13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9F90646-5C28-6D89-2A3B-DA390E4E20CB}"/>
              </a:ext>
            </a:extLst>
          </p:cNvPr>
          <p:cNvSpPr>
            <a:spLocks noGrp="1"/>
          </p:cNvSpPr>
          <p:nvPr>
            <p:ph type="sldNum" sz="quarter" idx="12"/>
          </p:nvPr>
        </p:nvSpPr>
        <p:spPr/>
        <p:txBody>
          <a:bodyPr/>
          <a:lstStyle/>
          <a:p>
            <a:fld id="{1EA43B1C-22D5-473B-A489-4B3737B1CECA}" type="slidenum">
              <a:rPr lang="ru-RU" smtClean="0"/>
              <a:t>‹#›</a:t>
            </a:fld>
            <a:endParaRPr lang="ru-RU"/>
          </a:p>
        </p:txBody>
      </p:sp>
    </p:spTree>
    <p:extLst>
      <p:ext uri="{BB962C8B-B14F-4D97-AF65-F5344CB8AC3E}">
        <p14:creationId xmlns:p14="http://schemas.microsoft.com/office/powerpoint/2010/main" val="1032613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32348041-76D2-610F-9879-1950D3673458}"/>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2261C2AC-6E4E-B489-3DA2-8AD92B793A10}"/>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CC81B4D3-6312-5B3D-BB17-ADB265E10E23}"/>
              </a:ext>
            </a:extLst>
          </p:cNvPr>
          <p:cNvSpPr>
            <a:spLocks noGrp="1"/>
          </p:cNvSpPr>
          <p:nvPr>
            <p:ph type="dt" sz="half" idx="10"/>
          </p:nvPr>
        </p:nvSpPr>
        <p:spPr/>
        <p:txBody>
          <a:bodyPr/>
          <a:lstStyle/>
          <a:p>
            <a:fld id="{94DCB8D5-EC73-401B-B3C7-180009613A05}" type="datetimeFigureOut">
              <a:rPr lang="ru-RU" smtClean="0"/>
              <a:t>27.03.2026</a:t>
            </a:fld>
            <a:endParaRPr lang="ru-RU"/>
          </a:p>
        </p:txBody>
      </p:sp>
      <p:sp>
        <p:nvSpPr>
          <p:cNvPr id="5" name="Нижний колонтитул 4">
            <a:extLst>
              <a:ext uri="{FF2B5EF4-FFF2-40B4-BE49-F238E27FC236}">
                <a16:creationId xmlns:a16="http://schemas.microsoft.com/office/drawing/2014/main" id="{C884F55E-C95D-962B-4A90-E3D3F554865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D956500-3B99-6F15-C464-8D543449B2E7}"/>
              </a:ext>
            </a:extLst>
          </p:cNvPr>
          <p:cNvSpPr>
            <a:spLocks noGrp="1"/>
          </p:cNvSpPr>
          <p:nvPr>
            <p:ph type="sldNum" sz="quarter" idx="12"/>
          </p:nvPr>
        </p:nvSpPr>
        <p:spPr/>
        <p:txBody>
          <a:bodyPr/>
          <a:lstStyle/>
          <a:p>
            <a:fld id="{1EA43B1C-22D5-473B-A489-4B3737B1CECA}" type="slidenum">
              <a:rPr lang="ru-RU" smtClean="0"/>
              <a:t>‹#›</a:t>
            </a:fld>
            <a:endParaRPr lang="ru-RU"/>
          </a:p>
        </p:txBody>
      </p:sp>
    </p:spTree>
    <p:extLst>
      <p:ext uri="{BB962C8B-B14F-4D97-AF65-F5344CB8AC3E}">
        <p14:creationId xmlns:p14="http://schemas.microsoft.com/office/powerpoint/2010/main" val="4043330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B8355A-0FB0-4D2B-A1F0-43DF1D693C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CF4A1DCF-AEEE-0087-8237-153EC3B8DD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B96E75D1-84F2-7102-5231-5DF017FB59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4DCB8D5-EC73-401B-B3C7-180009613A05}" type="datetimeFigureOut">
              <a:rPr lang="ru-RU" smtClean="0"/>
              <a:t>27.03.2026</a:t>
            </a:fld>
            <a:endParaRPr lang="ru-RU"/>
          </a:p>
        </p:txBody>
      </p:sp>
      <p:sp>
        <p:nvSpPr>
          <p:cNvPr id="5" name="Нижний колонтитул 4">
            <a:extLst>
              <a:ext uri="{FF2B5EF4-FFF2-40B4-BE49-F238E27FC236}">
                <a16:creationId xmlns:a16="http://schemas.microsoft.com/office/drawing/2014/main" id="{9A7A67BB-E982-E1EA-54F1-89DD86490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92C53355-BD7F-4A09-468D-8C371A0252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A43B1C-22D5-473B-A489-4B3737B1CECA}" type="slidenum">
              <a:rPr lang="ru-RU" smtClean="0"/>
              <a:t>‹#›</a:t>
            </a:fld>
            <a:endParaRPr lang="ru-RU"/>
          </a:p>
        </p:txBody>
      </p:sp>
      <p:sp>
        <p:nvSpPr>
          <p:cNvPr id="900" name="AccentBar"/>
          <p:cNvSpPr/>
          <p:nvPr userDrawn="1"/>
        </p:nvSpPr>
        <p:spPr>
          <a:xfrm>
            <a:off x="0" y="6705600"/>
            <a:ext cx="12192000" cy="152400"/>
          </a:xfrm>
          <a:prstGeom prst="rect">
            <a:avLst/>
          </a:prstGeom>
          <a:solidFill>
            <a:srgbClr val="CADCFC"/>
          </a:solidFill>
          <a:ln>
            <a:noFill/>
          </a:ln>
        </p:spPr>
        <p:txBody>
          <a:bodyPr/>
          <a:lstStyle/>
          <a:p>
            <a:endParaRPr lang="en-US"/>
          </a:p>
        </p:txBody>
      </p:sp>
      <p:sp>
        <p:nvSpPr>
          <p:cNvPr id="901" name="NavyLine"/>
          <p:cNvSpPr/>
          <p:nvPr userDrawn="1"/>
        </p:nvSpPr>
        <p:spPr>
          <a:xfrm>
            <a:off x="0" y="6680200"/>
            <a:ext cx="12192000" cy="25400"/>
          </a:xfrm>
          <a:prstGeom prst="rect">
            <a:avLst/>
          </a:prstGeom>
          <a:solidFill>
            <a:srgbClr val="1E2761"/>
          </a:solidFill>
          <a:ln>
            <a:noFill/>
          </a:ln>
        </p:spPr>
        <p:txBody>
          <a:bodyPr/>
          <a:lstStyle/>
          <a:p>
            <a:endParaRPr lang="en-US"/>
          </a:p>
        </p:txBody>
      </p:sp>
    </p:spTree>
    <p:extLst>
      <p:ext uri="{BB962C8B-B14F-4D97-AF65-F5344CB8AC3E}">
        <p14:creationId xmlns:p14="http://schemas.microsoft.com/office/powerpoint/2010/main" val="11773926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1E276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E276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E276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E276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E276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E276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1E276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1E276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1E276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1E2761"/>
          </a:solidFill>
          <a:latin typeface="+mn-lt"/>
          <a:ea typeface="+mn-ea"/>
          <a:cs typeface="+mn-cs"/>
        </a:defRPr>
      </a:lvl9pPr>
    </p:bodyStyle>
    <p:otherStyle>
      <a:defPPr>
        <a:defRPr lang="ru-RU">
          <a:solidFill>
            <a:srgbClr val="1E2761"/>
          </a:solidFill>
        </a:defRPr>
      </a:defPPr>
      <a:lvl1pPr marL="0" algn="l" defTabSz="914400" rtl="0" eaLnBrk="1" latinLnBrk="0" hangingPunct="1">
        <a:defRPr sz="1800" kern="1200">
          <a:solidFill>
            <a:srgbClr val="1E2761"/>
          </a:solidFill>
          <a:latin typeface="+mn-lt"/>
          <a:ea typeface="+mn-ea"/>
          <a:cs typeface="+mn-cs"/>
        </a:defRPr>
      </a:lvl1pPr>
      <a:lvl2pPr marL="457200" algn="l" defTabSz="914400" rtl="0" eaLnBrk="1" latinLnBrk="0" hangingPunct="1">
        <a:defRPr sz="1800" kern="1200">
          <a:solidFill>
            <a:srgbClr val="1E2761"/>
          </a:solidFill>
          <a:latin typeface="+mn-lt"/>
          <a:ea typeface="+mn-ea"/>
          <a:cs typeface="+mn-cs"/>
        </a:defRPr>
      </a:lvl2pPr>
      <a:lvl3pPr marL="914400" algn="l" defTabSz="914400" rtl="0" eaLnBrk="1" latinLnBrk="0" hangingPunct="1">
        <a:defRPr sz="1800" kern="1200">
          <a:solidFill>
            <a:srgbClr val="1E2761"/>
          </a:solidFill>
          <a:latin typeface="+mn-lt"/>
          <a:ea typeface="+mn-ea"/>
          <a:cs typeface="+mn-cs"/>
        </a:defRPr>
      </a:lvl3pPr>
      <a:lvl4pPr marL="1371600" algn="l" defTabSz="914400" rtl="0" eaLnBrk="1" latinLnBrk="0" hangingPunct="1">
        <a:defRPr sz="1800" kern="1200">
          <a:solidFill>
            <a:srgbClr val="1E2761"/>
          </a:solidFill>
          <a:latin typeface="+mn-lt"/>
          <a:ea typeface="+mn-ea"/>
          <a:cs typeface="+mn-cs"/>
        </a:defRPr>
      </a:lvl4pPr>
      <a:lvl5pPr marL="1828800" algn="l" defTabSz="914400" rtl="0" eaLnBrk="1" latinLnBrk="0" hangingPunct="1">
        <a:defRPr sz="1800" kern="1200">
          <a:solidFill>
            <a:srgbClr val="1E2761"/>
          </a:solidFill>
          <a:latin typeface="+mn-lt"/>
          <a:ea typeface="+mn-ea"/>
          <a:cs typeface="+mn-cs"/>
        </a:defRPr>
      </a:lvl5pPr>
      <a:lvl6pPr marL="2286000" algn="l" defTabSz="914400" rtl="0" eaLnBrk="1" latinLnBrk="0" hangingPunct="1">
        <a:defRPr sz="1800" kern="1200">
          <a:solidFill>
            <a:srgbClr val="1E2761"/>
          </a:solidFill>
          <a:latin typeface="+mn-lt"/>
          <a:ea typeface="+mn-ea"/>
          <a:cs typeface="+mn-cs"/>
        </a:defRPr>
      </a:lvl6pPr>
      <a:lvl7pPr marL="2743200" algn="l" defTabSz="914400" rtl="0" eaLnBrk="1" latinLnBrk="0" hangingPunct="1">
        <a:defRPr sz="1800" kern="1200">
          <a:solidFill>
            <a:srgbClr val="1E2761"/>
          </a:solidFill>
          <a:latin typeface="+mn-lt"/>
          <a:ea typeface="+mn-ea"/>
          <a:cs typeface="+mn-cs"/>
        </a:defRPr>
      </a:lvl7pPr>
      <a:lvl8pPr marL="3200400" algn="l" defTabSz="914400" rtl="0" eaLnBrk="1" latinLnBrk="0" hangingPunct="1">
        <a:defRPr sz="1800" kern="1200">
          <a:solidFill>
            <a:srgbClr val="1E2761"/>
          </a:solidFill>
          <a:latin typeface="+mn-lt"/>
          <a:ea typeface="+mn-ea"/>
          <a:cs typeface="+mn-cs"/>
        </a:defRPr>
      </a:lvl8pPr>
      <a:lvl9pPr marL="3657600" algn="l" defTabSz="914400" rtl="0" eaLnBrk="1" latinLnBrk="0" hangingPunct="1">
        <a:defRPr sz="1800" kern="1200">
          <a:solidFill>
            <a:srgbClr val="1E276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4.xml"/><Relationship Id="rId5" Type="http://schemas.openxmlformats.org/officeDocument/2006/relationships/image" Target="../media/image12.sv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4.sv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26.sv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8.sv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30.sv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32.sv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34.sv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36.sv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49.svg"/><Relationship Id="rId4" Type="http://schemas.openxmlformats.org/officeDocument/2006/relationships/image" Target="../media/image48.png"/></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51.svg"/></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53.svg"/></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55.svg"/></Relationships>
</file>

<file path=ppt/slides/_rels/slide2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57.svg"/></Relationships>
</file>

<file path=ppt/slides/_rels/slide2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59.sv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8A9DD-05A9-F0FE-F575-A88A6BD57948}"/>
            </a:ext>
          </a:extLst>
        </p:cNvPr>
        <p:cNvGrpSpPr/>
        <p:nvPr/>
      </p:nvGrpSpPr>
      <p:grpSpPr>
        <a:xfrm>
          <a:off x="0" y="0"/>
          <a:ext cx="0" cy="0"/>
          <a:chOff x="0" y="0"/>
          <a:chExt cx="0" cy="0"/>
        </a:xfrm>
      </p:grpSpPr>
      <p:sp>
        <p:nvSpPr>
          <p:cNvPr id="28" name="TextBox 27">
            <a:extLst>
              <a:ext uri="{FF2B5EF4-FFF2-40B4-BE49-F238E27FC236}">
                <a16:creationId xmlns:a16="http://schemas.microsoft.com/office/drawing/2014/main" id="{E0CA8341-B92A-C498-97C5-40E2EEE9090F}"/>
              </a:ext>
            </a:extLst>
          </p:cNvPr>
          <p:cNvSpPr txBox="1"/>
          <p:nvPr/>
        </p:nvSpPr>
        <p:spPr>
          <a:xfrm>
            <a:off x="10511835" y="6377783"/>
            <a:ext cx="1543523" cy="338554"/>
          </a:xfrm>
          <a:prstGeom prst="rect">
            <a:avLst/>
          </a:prstGeom>
          <a:noFill/>
        </p:spPr>
        <p:txBody>
          <a:bodyPr wrap="square" rtlCol="0">
            <a:spAutoFit/>
          </a:bodyPr>
          <a:lstStyle/>
          <a:p>
            <a:r>
              <a:rPr lang="en-US" sz="1600" b="1" dirty="0">
                <a:latin typeface="Agency FB" panose="020B0503020202020204" pitchFamily="34" charset="0"/>
              </a:rPr>
              <a:t>IITU, Almaty, 2026</a:t>
            </a:r>
            <a:endParaRPr lang="en-US" sz="1600" b="1" dirty="0"/>
          </a:p>
        </p:txBody>
      </p:sp>
      <p:sp>
        <p:nvSpPr>
          <p:cNvPr id="20" name="Прямоугольник 19">
            <a:extLst>
              <a:ext uri="{FF2B5EF4-FFF2-40B4-BE49-F238E27FC236}">
                <a16:creationId xmlns:a16="http://schemas.microsoft.com/office/drawing/2014/main" id="{C40D7036-3DFC-8BF3-6DE6-D3FCE01F66D7}"/>
              </a:ext>
            </a:extLst>
          </p:cNvPr>
          <p:cNvSpPr/>
          <p:nvPr/>
        </p:nvSpPr>
        <p:spPr>
          <a:xfrm>
            <a:off x="2729074" y="189580"/>
            <a:ext cx="9326284" cy="1077218"/>
          </a:xfrm>
          <a:prstGeom prst="rect">
            <a:avLst/>
          </a:prstGeom>
        </p:spPr>
        <p:txBody>
          <a:bodyPr wrap="square">
            <a:spAutoFit/>
          </a:bodyPr>
          <a:lstStyle/>
          <a:p>
            <a:pPr algn="ctr"/>
            <a:r>
              <a:rPr lang="en-US" sz="3200" b="1" u="sng" dirty="0">
                <a:latin typeface="Agency FB" panose="020B0503020202020204" pitchFamily="34" charset="0"/>
                <a:cs typeface="Times New Roman" panose="02020603050405020304" pitchFamily="18" charset="0"/>
              </a:rPr>
              <a:t>International University of Information Technology</a:t>
            </a:r>
          </a:p>
          <a:p>
            <a:pPr algn="ctr"/>
            <a:r>
              <a:rPr lang="en-US" sz="3200" b="1" dirty="0">
                <a:latin typeface="Agency FB" panose="020B0503020202020204" pitchFamily="34" charset="0"/>
                <a:cs typeface="Times New Roman" panose="02020603050405020304" pitchFamily="18" charset="0"/>
              </a:rPr>
              <a:t>Department of Computer Engineering</a:t>
            </a:r>
            <a:endParaRPr lang="en-US" sz="3200" b="1" dirty="0">
              <a:cs typeface="Times New Roman" panose="02020603050405020304" pitchFamily="18" charset="0"/>
            </a:endParaRPr>
          </a:p>
        </p:txBody>
      </p:sp>
      <p:sp>
        <p:nvSpPr>
          <p:cNvPr id="5" name="Прямоугольник 4">
            <a:extLst>
              <a:ext uri="{FF2B5EF4-FFF2-40B4-BE49-F238E27FC236}">
                <a16:creationId xmlns:a16="http://schemas.microsoft.com/office/drawing/2014/main" id="{E1031821-480F-39FD-91FD-B96BC8AFCF03}"/>
              </a:ext>
            </a:extLst>
          </p:cNvPr>
          <p:cNvSpPr/>
          <p:nvPr/>
        </p:nvSpPr>
        <p:spPr>
          <a:xfrm>
            <a:off x="1421491" y="5981463"/>
            <a:ext cx="2603598" cy="646331"/>
          </a:xfrm>
          <a:prstGeom prst="rect">
            <a:avLst/>
          </a:prstGeom>
        </p:spPr>
        <p:txBody>
          <a:bodyPr wrap="none">
            <a:spAutoFit/>
          </a:bodyPr>
          <a:lstStyle/>
          <a:p>
            <a:r>
              <a:rPr lang="en-US" b="1" dirty="0">
                <a:latin typeface="Agency FB" panose="020B0503020202020204" pitchFamily="34" charset="0"/>
              </a:rPr>
              <a:t>Yesmukhamedov </a:t>
            </a:r>
            <a:r>
              <a:rPr lang="en-US" b="1" dirty="0" err="1">
                <a:latin typeface="Agency FB" panose="020B0503020202020204" pitchFamily="34" charset="0"/>
              </a:rPr>
              <a:t>Nurmaganbet</a:t>
            </a:r>
            <a:endParaRPr lang="en-US" b="1" dirty="0">
              <a:latin typeface="Agency FB" panose="020B0503020202020204" pitchFamily="34" charset="0"/>
            </a:endParaRPr>
          </a:p>
          <a:p>
            <a:r>
              <a:rPr lang="en-US" b="1" dirty="0">
                <a:latin typeface="Agency FB" panose="020B0503020202020204" pitchFamily="34" charset="0"/>
              </a:rPr>
              <a:t>n.yesmukhamedov@iitu.edu.kz</a:t>
            </a:r>
          </a:p>
        </p:txBody>
      </p:sp>
      <p:pic>
        <p:nvPicPr>
          <p:cNvPr id="1026" name="Picture 2" descr="ЛОГОТИП">
            <a:extLst>
              <a:ext uri="{FF2B5EF4-FFF2-40B4-BE49-F238E27FC236}">
                <a16:creationId xmlns:a16="http://schemas.microsoft.com/office/drawing/2014/main" id="{34F13DE5-545E-1BE5-1219-308EE94ED252}"/>
              </a:ext>
            </a:extLst>
          </p:cNvPr>
          <p:cNvPicPr>
            <a:picLocks noChangeAspect="1" noChangeArrowheads="1"/>
          </p:cNvPicPr>
          <p:nvPr/>
        </p:nvPicPr>
        <p:blipFill rotWithShape="1">
          <a:blip r:embed="rId3" cstate="hqprint">
            <a:extLst>
              <a:ext uri="{28A0092B-C50C-407E-A947-70E740481C1C}">
                <a14:useLocalDpi xmlns:a14="http://schemas.microsoft.com/office/drawing/2010/main" val="0"/>
              </a:ext>
            </a:extLst>
          </a:blip>
          <a:srcRect t="16767" b="20951"/>
          <a:stretch>
            <a:fillRect/>
          </a:stretch>
        </p:blipFill>
        <p:spPr bwMode="auto">
          <a:xfrm>
            <a:off x="229816" y="189580"/>
            <a:ext cx="1933369" cy="1077218"/>
          </a:xfrm>
          <a:prstGeom prst="rect">
            <a:avLst/>
          </a:prstGeom>
          <a:noFill/>
          <a:extLst>
            <a:ext uri="{909E8E84-426E-40DD-AFC4-6F175D3DCCD1}">
              <a14:hiddenFill xmlns:a14="http://schemas.microsoft.com/office/drawing/2010/main">
                <a:solidFill>
                  <a:srgbClr val="FFFFFF"/>
                </a:solidFill>
              </a14:hiddenFill>
            </a:ext>
          </a:extLst>
        </p:spPr>
      </p:pic>
      <p:pic>
        <p:nvPicPr>
          <p:cNvPr id="8" name="Рисунок 7">
            <a:extLst>
              <a:ext uri="{FF2B5EF4-FFF2-40B4-BE49-F238E27FC236}">
                <a16:creationId xmlns:a16="http://schemas.microsoft.com/office/drawing/2014/main" id="{0D29BA94-8179-221A-26EE-60E8B2E54F79}"/>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t="3263" r="2862"/>
          <a:stretch/>
        </p:blipFill>
        <p:spPr>
          <a:xfrm>
            <a:off x="229815" y="5178096"/>
            <a:ext cx="1091779" cy="1449698"/>
          </a:xfrm>
          <a:custGeom>
            <a:avLst/>
            <a:gdLst>
              <a:gd name="connsiteX0" fmla="*/ 561975 w 1123950"/>
              <a:gd name="connsiteY0" fmla="*/ 0 h 1449698"/>
              <a:gd name="connsiteX1" fmla="*/ 1123950 w 1123950"/>
              <a:gd name="connsiteY1" fmla="*/ 724849 h 1449698"/>
              <a:gd name="connsiteX2" fmla="*/ 561975 w 1123950"/>
              <a:gd name="connsiteY2" fmla="*/ 1449698 h 1449698"/>
              <a:gd name="connsiteX3" fmla="*/ 0 w 1123950"/>
              <a:gd name="connsiteY3" fmla="*/ 724849 h 1449698"/>
              <a:gd name="connsiteX4" fmla="*/ 561975 w 1123950"/>
              <a:gd name="connsiteY4" fmla="*/ 0 h 1449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3950" h="1449698">
                <a:moveTo>
                  <a:pt x="561975" y="0"/>
                </a:moveTo>
                <a:cubicBezTo>
                  <a:pt x="872345" y="0"/>
                  <a:pt x="1123950" y="324526"/>
                  <a:pt x="1123950" y="724849"/>
                </a:cubicBezTo>
                <a:cubicBezTo>
                  <a:pt x="1123950" y="1125172"/>
                  <a:pt x="872345" y="1449698"/>
                  <a:pt x="561975" y="1449698"/>
                </a:cubicBezTo>
                <a:cubicBezTo>
                  <a:pt x="251605" y="1449698"/>
                  <a:pt x="0" y="1125172"/>
                  <a:pt x="0" y="724849"/>
                </a:cubicBezTo>
                <a:cubicBezTo>
                  <a:pt x="0" y="324526"/>
                  <a:pt x="251605" y="0"/>
                  <a:pt x="561975" y="0"/>
                </a:cubicBezTo>
                <a:close/>
              </a:path>
            </a:pathLst>
          </a:custGeom>
        </p:spPr>
      </p:pic>
      <p:sp>
        <p:nvSpPr>
          <p:cNvPr id="9" name="TextBox 8">
            <a:extLst>
              <a:ext uri="{FF2B5EF4-FFF2-40B4-BE49-F238E27FC236}">
                <a16:creationId xmlns:a16="http://schemas.microsoft.com/office/drawing/2014/main" id="{25E4A728-B319-402D-A504-6DB9A8F03409}"/>
              </a:ext>
            </a:extLst>
          </p:cNvPr>
          <p:cNvSpPr txBox="1"/>
          <p:nvPr/>
        </p:nvSpPr>
        <p:spPr>
          <a:xfrm>
            <a:off x="1421491" y="2733473"/>
            <a:ext cx="9506385" cy="1384995"/>
          </a:xfrm>
          <a:prstGeom prst="rect">
            <a:avLst/>
          </a:prstGeom>
          <a:noFill/>
        </p:spPr>
        <p:txBody>
          <a:bodyPr wrap="square" rtlCol="0">
            <a:spAutoFit/>
          </a:bodyPr>
          <a:lstStyle/>
          <a:p>
            <a:pPr algn="ctr"/>
            <a:r>
              <a:rPr lang="en-US" sz="2800" b="1" dirty="0" err="1">
                <a:latin typeface="Agency FB" panose="020B0503020202020204" pitchFamily="34" charset="0"/>
              </a:rPr>
              <a:t>Компьютерлік</a:t>
            </a:r>
            <a:r>
              <a:rPr lang="en-US" sz="2800" b="1" dirty="0">
                <a:latin typeface="Agency FB" panose="020B0503020202020204" pitchFamily="34" charset="0"/>
              </a:rPr>
              <a:t> </a:t>
            </a:r>
            <a:r>
              <a:rPr lang="en-US" sz="2800" b="1" dirty="0" err="1">
                <a:latin typeface="Agency FB" panose="020B0503020202020204" pitchFamily="34" charset="0"/>
              </a:rPr>
              <a:t>өңдеу</a:t>
            </a:r>
            <a:r>
              <a:rPr lang="en-US" sz="2800" b="1" dirty="0">
                <a:latin typeface="Agency FB" panose="020B0503020202020204" pitchFamily="34" charset="0"/>
              </a:rPr>
              <a:t> </a:t>
            </a:r>
            <a:r>
              <a:rPr lang="en-US" sz="2800" b="1" dirty="0" err="1">
                <a:latin typeface="Agency FB" panose="020B0503020202020204" pitchFamily="34" charset="0"/>
              </a:rPr>
              <a:t>жүйесі</a:t>
            </a:r>
            <a:r>
              <a:rPr lang="en-US" sz="2800" b="1" dirty="0">
                <a:latin typeface="Agency FB" panose="020B0503020202020204" pitchFamily="34" charset="0"/>
              </a:rPr>
              <a:t> </a:t>
            </a:r>
            <a:r>
              <a:rPr lang="en-US" sz="2800" b="1" dirty="0" err="1">
                <a:latin typeface="Agency FB" panose="020B0503020202020204" pitchFamily="34" charset="0"/>
              </a:rPr>
              <a:t>және</a:t>
            </a:r>
            <a:r>
              <a:rPr lang="en-US" sz="2800" b="1" dirty="0">
                <a:latin typeface="Agency FB" panose="020B0503020202020204" pitchFamily="34" charset="0"/>
              </a:rPr>
              <a:t> </a:t>
            </a:r>
            <a:r>
              <a:rPr lang="en-US" sz="2800" b="1" dirty="0" err="1">
                <a:latin typeface="Agency FB" panose="020B0503020202020204" pitchFamily="34" charset="0"/>
              </a:rPr>
              <a:t>көз</a:t>
            </a:r>
            <a:r>
              <a:rPr lang="en-US" sz="2800" b="1" dirty="0">
                <a:latin typeface="Agency FB" panose="020B0503020202020204" pitchFamily="34" charset="0"/>
              </a:rPr>
              <a:t> </a:t>
            </a:r>
            <a:r>
              <a:rPr lang="en-US" sz="2800" b="1" dirty="0" err="1">
                <a:latin typeface="Agency FB" panose="020B0503020202020204" pitchFamily="34" charset="0"/>
              </a:rPr>
              <a:t>түбі</a:t>
            </a:r>
            <a:r>
              <a:rPr lang="en-US" sz="2800" b="1" dirty="0">
                <a:latin typeface="Agency FB" panose="020B0503020202020204" pitchFamily="34" charset="0"/>
              </a:rPr>
              <a:t> </a:t>
            </a:r>
            <a:r>
              <a:rPr lang="en-US" sz="2800" b="1" dirty="0" err="1">
                <a:latin typeface="Agency FB" panose="020B0503020202020204" pitchFamily="34" charset="0"/>
              </a:rPr>
              <a:t>dataін</a:t>
            </a:r>
            <a:r>
              <a:rPr lang="en-US" sz="2800" b="1" dirty="0">
                <a:latin typeface="Agency FB" panose="020B0503020202020204" pitchFamily="34" charset="0"/>
              </a:rPr>
              <a:t> </a:t>
            </a:r>
            <a:r>
              <a:rPr lang="en-US" sz="2800" b="1" dirty="0" err="1">
                <a:latin typeface="Agency FB" panose="020B0503020202020204" pitchFamily="34" charset="0"/>
              </a:rPr>
              <a:t>талдаумен</a:t>
            </a:r>
            <a:r>
              <a:rPr lang="en-US" sz="2800" b="1" dirty="0">
                <a:latin typeface="Agency FB" panose="020B0503020202020204" pitchFamily="34" charset="0"/>
              </a:rPr>
              <a:t> </a:t>
            </a:r>
            <a:r>
              <a:rPr lang="en-US" sz="2800" b="1" dirty="0" err="1">
                <a:latin typeface="Agency FB" panose="020B0503020202020204" pitchFamily="34" charset="0"/>
              </a:rPr>
              <a:t>diabetic</a:t>
            </a:r>
            <a:r>
              <a:rPr lang="en-US" sz="2800" b="1" dirty="0">
                <a:latin typeface="Agency FB" panose="020B0503020202020204" pitchFamily="34" charset="0"/>
              </a:rPr>
              <a:t> </a:t>
            </a:r>
            <a:r>
              <a:rPr lang="en-US" sz="2800" b="1" dirty="0" err="1">
                <a:latin typeface="Agency FB" panose="020B0503020202020204" pitchFamily="34" charset="0"/>
              </a:rPr>
              <a:t>retinopathy</a:t>
            </a:r>
            <a:r>
              <a:rPr lang="en-US" sz="2800" b="1" dirty="0">
                <a:latin typeface="Agency FB" panose="020B0503020202020204" pitchFamily="34" charset="0"/>
              </a:rPr>
              <a:t> </a:t>
            </a:r>
            <a:r>
              <a:rPr lang="en-US" sz="2800" b="1" dirty="0" err="1">
                <a:latin typeface="Agency FB" panose="020B0503020202020204" pitchFamily="34" charset="0"/>
              </a:rPr>
              <a:t>емдеу</a:t>
            </a:r>
            <a:r>
              <a:rPr lang="en-US" sz="2800" b="1" dirty="0">
                <a:latin typeface="Agency FB" panose="020B0503020202020204" pitchFamily="34" charset="0"/>
              </a:rPr>
              <a:t> </a:t>
            </a:r>
            <a:r>
              <a:rPr lang="en-US" sz="2800" b="1" dirty="0" err="1">
                <a:latin typeface="Agency FB" panose="020B0503020202020204" pitchFamily="34" charset="0"/>
              </a:rPr>
              <a:t>кезіндегі</a:t>
            </a:r>
            <a:r>
              <a:rPr lang="en-US" sz="2800" b="1" dirty="0">
                <a:latin typeface="Agency FB" panose="020B0503020202020204" pitchFamily="34" charset="0"/>
              </a:rPr>
              <a:t> </a:t>
            </a:r>
            <a:r>
              <a:rPr lang="en-US" sz="2800" b="1" dirty="0" err="1">
                <a:latin typeface="Agency FB" panose="020B0503020202020204" pitchFamily="34" charset="0"/>
              </a:rPr>
              <a:t>лазерлік</a:t>
            </a:r>
            <a:r>
              <a:rPr lang="en-US" sz="2800" b="1" dirty="0">
                <a:latin typeface="Agency FB" panose="020B0503020202020204" pitchFamily="34" charset="0"/>
              </a:rPr>
              <a:t> </a:t>
            </a:r>
            <a:r>
              <a:rPr lang="en-US" sz="2800" b="1" dirty="0" err="1">
                <a:latin typeface="Agency FB" panose="020B0503020202020204" pitchFamily="34" charset="0"/>
              </a:rPr>
              <a:t>коагуляцияны</a:t>
            </a:r>
            <a:r>
              <a:rPr lang="en-US" sz="2800" b="1" dirty="0">
                <a:latin typeface="Agency FB" panose="020B0503020202020204" pitchFamily="34" charset="0"/>
              </a:rPr>
              <a:t> </a:t>
            </a:r>
            <a:r>
              <a:rPr lang="en-US" sz="2800" b="1" dirty="0" err="1">
                <a:latin typeface="Agency FB" panose="020B0503020202020204" pitchFamily="34" charset="0"/>
              </a:rPr>
              <a:t>қолдау</a:t>
            </a:r>
            <a:endParaRPr lang="en-US" sz="1000" b="1" i="1" dirty="0"/>
          </a:p>
        </p:txBody>
      </p:sp>
    </p:spTree>
    <p:extLst>
      <p:ext uri="{BB962C8B-B14F-4D97-AF65-F5344CB8AC3E}">
        <p14:creationId xmlns:p14="http://schemas.microsoft.com/office/powerpoint/2010/main" val="2148613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0FE7C7-6F98-3EEC-84E9-C260D7812E20}"/>
              </a:ext>
            </a:extLst>
          </p:cNvPr>
          <p:cNvSpPr>
            <a:spLocks noGrp="1"/>
          </p:cNvSpPr>
          <p:nvPr>
            <p:ph type="title"/>
          </p:nvPr>
        </p:nvSpPr>
        <p:spPr/>
        <p:txBody>
          <a:bodyPr/>
          <a:lstStyle/>
          <a:p>
            <a:pPr algn="l">
              <a:buNone/>
            </a:pPr>
            <a:r>
              <a:rPr lang="kk-KZ" sz="3200" b="1" dirty="0">
                <a:solidFill>
                  <a:srgbClr val="1E2761"/>
                </a:solidFill>
                <a:latin typeface="Cambria"/>
              </a:rPr>
              <a:t>Зерттеу мотивациясы және өзектілігі</a:t>
            </a:r>
          </a:p>
        </p:txBody>
      </p:sp>
      <p:sp>
        <p:nvSpPr>
          <p:cNvPr id="3" name="Прямоугольник: скругленные углы 2">
            <a:extLst>
              <a:ext uri="{FF2B5EF4-FFF2-40B4-BE49-F238E27FC236}">
                <a16:creationId xmlns:a16="http://schemas.microsoft.com/office/drawing/2014/main" id="{1F9DD622-A89C-40F4-8821-30499BA94F53}"/>
              </a:ext>
            </a:extLst>
          </p:cNvPr>
          <p:cNvSpPr/>
          <p:nvPr/>
        </p:nvSpPr>
        <p:spPr>
          <a:xfrm>
            <a:off x="635000" y="1841500"/>
            <a:ext cx="3302000" cy="2032000"/>
          </a:xfrm>
          <a:prstGeom prst="roundRect">
            <a:avLst/>
          </a:prstGeom>
          <a:solidFill>
            <a:srgbClr val="1E276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4" name="TextBox 3">
            <a:extLst>
              <a:ext uri="{FF2B5EF4-FFF2-40B4-BE49-F238E27FC236}">
                <a16:creationId xmlns:a16="http://schemas.microsoft.com/office/drawing/2014/main" id="{EEAF5BB3-5289-4737-AD74-E3BFB7AE75CC}"/>
              </a:ext>
            </a:extLst>
          </p:cNvPr>
          <p:cNvSpPr txBox="1"/>
          <p:nvPr/>
        </p:nvSpPr>
        <p:spPr>
          <a:xfrm>
            <a:off x="762000" y="1905000"/>
            <a:ext cx="3048000" cy="889000"/>
          </a:xfrm>
          <a:prstGeom prst="rect">
            <a:avLst/>
          </a:prstGeom>
          <a:noFill/>
          <a:ln>
            <a:noFill/>
          </a:ln>
        </p:spPr>
        <p:txBody>
          <a:bodyPr vertOverflow="overflow" vert="horz" wrap="square" rtlCol="0" anchor="t">
            <a:spAutoFit/>
          </a:bodyPr>
          <a:lstStyle/>
          <a:p>
            <a:pPr algn="l"/>
            <a:r>
              <a:rPr lang="ru-RU" sz="4000" b="1">
                <a:solidFill>
                  <a:srgbClr val="FFFFFF"/>
                </a:solidFill>
                <a:latin typeface="Cambria"/>
                <a:ea typeface="Cambria"/>
              </a:rPr>
              <a:t>34.6%</a:t>
            </a:r>
          </a:p>
        </p:txBody>
      </p:sp>
      <p:sp>
        <p:nvSpPr>
          <p:cNvPr id="5" name="TextBox 4">
            <a:extLst>
              <a:ext uri="{FF2B5EF4-FFF2-40B4-BE49-F238E27FC236}">
                <a16:creationId xmlns:a16="http://schemas.microsoft.com/office/drawing/2014/main" id="{E0B414B2-47A2-492E-BAE9-6FCF17B98CFE}"/>
              </a:ext>
            </a:extLst>
          </p:cNvPr>
          <p:cNvSpPr txBox="1"/>
          <p:nvPr/>
        </p:nvSpPr>
        <p:spPr>
          <a:xfrm>
            <a:off x="762000" y="2794000"/>
            <a:ext cx="3048000" cy="889000"/>
          </a:xfrm>
          <a:prstGeom prst="rect">
            <a:avLst/>
          </a:prstGeom>
          <a:noFill/>
          <a:ln>
            <a:noFill/>
          </a:ln>
        </p:spPr>
        <p:txBody>
          <a:bodyPr vertOverflow="overflow" vert="horz" wrap="square" rtlCol="0" anchor="t">
            <a:spAutoFit/>
          </a:bodyPr>
          <a:lstStyle/>
          <a:p>
            <a:pPr algn="l"/>
            <a:r>
              <a:rPr lang="kk-KZ" sz="1400">
                <a:solidFill>
                  <a:srgbClr val="FFFFFF"/>
                </a:solidFill>
                <a:latin typeface="Calibri"/>
              </a:rPr>
              <a:t>Диабеттік ретинопатия таралуы
диабет науқастары арасында</a:t>
            </a:r>
          </a:p>
        </p:txBody>
      </p:sp>
      <p:sp>
        <p:nvSpPr>
          <p:cNvPr id="6" name="Прямоугольник: скругленные углы 5">
            <a:extLst>
              <a:ext uri="{FF2B5EF4-FFF2-40B4-BE49-F238E27FC236}">
                <a16:creationId xmlns:a16="http://schemas.microsoft.com/office/drawing/2014/main" id="{8365B2E8-C4C0-4BDC-B94A-EEC868157FC1}"/>
              </a:ext>
            </a:extLst>
          </p:cNvPr>
          <p:cNvSpPr/>
          <p:nvPr/>
        </p:nvSpPr>
        <p:spPr>
          <a:xfrm>
            <a:off x="4445000" y="1841500"/>
            <a:ext cx="3302000" cy="2032000"/>
          </a:xfrm>
          <a:prstGeom prst="roundRect">
            <a:avLst/>
          </a:prstGeom>
          <a:solidFill>
            <a:srgbClr val="3A7BD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7" name="TextBox 6">
            <a:extLst>
              <a:ext uri="{FF2B5EF4-FFF2-40B4-BE49-F238E27FC236}">
                <a16:creationId xmlns:a16="http://schemas.microsoft.com/office/drawing/2014/main" id="{3BA8D5FE-B933-494C-8D85-4E5D814BC43B}"/>
              </a:ext>
            </a:extLst>
          </p:cNvPr>
          <p:cNvSpPr txBox="1"/>
          <p:nvPr/>
        </p:nvSpPr>
        <p:spPr>
          <a:xfrm>
            <a:off x="4572000" y="1905000"/>
            <a:ext cx="3048000" cy="889000"/>
          </a:xfrm>
          <a:prstGeom prst="rect">
            <a:avLst/>
          </a:prstGeom>
          <a:noFill/>
          <a:ln>
            <a:noFill/>
          </a:ln>
        </p:spPr>
        <p:txBody>
          <a:bodyPr vertOverflow="overflow" vert="horz" wrap="square" rtlCol="0" anchor="t">
            <a:spAutoFit/>
          </a:bodyPr>
          <a:lstStyle/>
          <a:p>
            <a:pPr algn="l"/>
            <a:r>
              <a:rPr lang="ru-RU" sz="4000" b="1">
                <a:solidFill>
                  <a:srgbClr val="FFFFFF"/>
                </a:solidFill>
                <a:latin typeface="Cambria"/>
                <a:ea typeface="Cambria"/>
              </a:rPr>
              <a:t>~1,200</a:t>
            </a:r>
          </a:p>
        </p:txBody>
      </p:sp>
      <p:sp>
        <p:nvSpPr>
          <p:cNvPr id="8" name="TextBox 7">
            <a:extLst>
              <a:ext uri="{FF2B5EF4-FFF2-40B4-BE49-F238E27FC236}">
                <a16:creationId xmlns:a16="http://schemas.microsoft.com/office/drawing/2014/main" id="{8DB36761-DE97-47BB-B6E0-3A94094DF14D}"/>
              </a:ext>
            </a:extLst>
          </p:cNvPr>
          <p:cNvSpPr txBox="1"/>
          <p:nvPr/>
        </p:nvSpPr>
        <p:spPr>
          <a:xfrm>
            <a:off x="4572000" y="2794000"/>
            <a:ext cx="3048000" cy="889000"/>
          </a:xfrm>
          <a:prstGeom prst="rect">
            <a:avLst/>
          </a:prstGeom>
          <a:noFill/>
          <a:ln>
            <a:noFill/>
          </a:ln>
        </p:spPr>
        <p:txBody>
          <a:bodyPr vertOverflow="overflow" vert="horz" wrap="square" rtlCol="0" anchor="t">
            <a:spAutoFit/>
          </a:bodyPr>
          <a:lstStyle/>
          <a:p>
            <a:pPr algn="l"/>
            <a:r>
              <a:rPr lang="kk-KZ" sz="1400">
                <a:solidFill>
                  <a:srgbClr val="FFFFFF"/>
                </a:solidFill>
                <a:latin typeface="Calibri"/>
              </a:rPr>
              <a:t>Қазақстанның 20 млн халқына
қызмет ететін офтальмологтар</a:t>
            </a:r>
          </a:p>
        </p:txBody>
      </p:sp>
      <p:sp>
        <p:nvSpPr>
          <p:cNvPr id="9" name="Прямоугольник: скругленные углы 8">
            <a:extLst>
              <a:ext uri="{FF2B5EF4-FFF2-40B4-BE49-F238E27FC236}">
                <a16:creationId xmlns:a16="http://schemas.microsoft.com/office/drawing/2014/main" id="{9F5CADFA-FE15-4914-B5CF-772B9D632B05}"/>
              </a:ext>
            </a:extLst>
          </p:cNvPr>
          <p:cNvSpPr/>
          <p:nvPr/>
        </p:nvSpPr>
        <p:spPr>
          <a:xfrm>
            <a:off x="8255000" y="1841500"/>
            <a:ext cx="3302000" cy="2032000"/>
          </a:xfrm>
          <a:prstGeom prst="roundRect">
            <a:avLst/>
          </a:prstGeom>
          <a:solidFill>
            <a:srgbClr val="E8B84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10" name="TextBox 9">
            <a:extLst>
              <a:ext uri="{FF2B5EF4-FFF2-40B4-BE49-F238E27FC236}">
                <a16:creationId xmlns:a16="http://schemas.microsoft.com/office/drawing/2014/main" id="{6D21BA7B-8D0A-41F8-9232-A445B834F5BE}"/>
              </a:ext>
            </a:extLst>
          </p:cNvPr>
          <p:cNvSpPr txBox="1"/>
          <p:nvPr/>
        </p:nvSpPr>
        <p:spPr>
          <a:xfrm>
            <a:off x="8382000" y="1905000"/>
            <a:ext cx="3048000" cy="889000"/>
          </a:xfrm>
          <a:prstGeom prst="rect">
            <a:avLst/>
          </a:prstGeom>
          <a:noFill/>
          <a:ln>
            <a:noFill/>
          </a:ln>
        </p:spPr>
        <p:txBody>
          <a:bodyPr vertOverflow="overflow" vert="horz" wrap="square" rtlCol="0" anchor="t">
            <a:spAutoFit/>
          </a:bodyPr>
          <a:lstStyle/>
          <a:p>
            <a:pPr algn="l"/>
            <a:r>
              <a:rPr lang="ru-RU" sz="4000" b="1">
                <a:solidFill>
                  <a:srgbClr val="FFFFFF"/>
                </a:solidFill>
                <a:latin typeface="Cambria"/>
                <a:ea typeface="Cambria"/>
              </a:rPr>
              <a:t>40%</a:t>
            </a:r>
          </a:p>
        </p:txBody>
      </p:sp>
      <p:sp>
        <p:nvSpPr>
          <p:cNvPr id="11" name="TextBox 10">
            <a:extLst>
              <a:ext uri="{FF2B5EF4-FFF2-40B4-BE49-F238E27FC236}">
                <a16:creationId xmlns:a16="http://schemas.microsoft.com/office/drawing/2014/main" id="{1F8DC01A-0854-4964-A58C-398D3E836D85}"/>
              </a:ext>
            </a:extLst>
          </p:cNvPr>
          <p:cNvSpPr txBox="1"/>
          <p:nvPr/>
        </p:nvSpPr>
        <p:spPr>
          <a:xfrm>
            <a:off x="8382000" y="2794000"/>
            <a:ext cx="3048000" cy="889000"/>
          </a:xfrm>
          <a:prstGeom prst="rect">
            <a:avLst/>
          </a:prstGeom>
          <a:noFill/>
          <a:ln>
            <a:noFill/>
          </a:ln>
        </p:spPr>
        <p:txBody>
          <a:bodyPr vertOverflow="overflow" vert="horz" wrap="square" rtlCol="0" anchor="t">
            <a:spAutoFit/>
          </a:bodyPr>
          <a:lstStyle/>
          <a:p>
            <a:pPr algn="l"/>
            <a:r>
              <a:rPr lang="kk-KZ" sz="1400">
                <a:solidFill>
                  <a:srgbClr val="FFFFFF"/>
                </a:solidFill>
                <a:latin typeface="Calibri"/>
              </a:rPr>
              <a:t>Скринингке қол жетімділігі
шектеулі ауыл тұрғындары</a:t>
            </a:r>
          </a:p>
        </p:txBody>
      </p:sp>
      <p:sp>
        <p:nvSpPr>
          <p:cNvPr id="12" name="TextBox 11">
            <a:extLst>
              <a:ext uri="{FF2B5EF4-FFF2-40B4-BE49-F238E27FC236}">
                <a16:creationId xmlns:a16="http://schemas.microsoft.com/office/drawing/2014/main" id="{0D319AA9-FE19-49B5-8F92-28D06DFF7CB4}"/>
              </a:ext>
            </a:extLst>
          </p:cNvPr>
          <p:cNvSpPr txBox="1"/>
          <p:nvPr/>
        </p:nvSpPr>
        <p:spPr>
          <a:xfrm>
            <a:off x="635000" y="4191000"/>
            <a:ext cx="10922000" cy="2032000"/>
          </a:xfrm>
          <a:prstGeom prst="rect">
            <a:avLst/>
          </a:prstGeom>
          <a:noFill/>
          <a:ln>
            <a:noFill/>
          </a:ln>
        </p:spPr>
        <p:txBody>
          <a:bodyPr vertOverflow="overflow" vert="horz" wrap="square" rtlCol="0" anchor="t">
            <a:spAutoFit/>
          </a:bodyPr>
          <a:lstStyle/>
          <a:p>
            <a:pPr marL="228600" indent="-228600">
              <a:buFont typeface="Arial"/>
              <a:buChar char="●"/>
            </a:pPr>
            <a:r>
              <a:rPr lang="kk-KZ" sz="1400" dirty="0">
                <a:solidFill>
                  <a:srgbClr val="1E2761"/>
                </a:solidFill>
                <a:latin typeface="Calibri"/>
              </a:rPr>
              <a:t>Ерте скрининг ауыр көру жоғалуының 95%-ын болдырмауы мүмкін, алайда ресурсы шектеулі ортада қамту деңгейі сыни деңгейде төмен</a:t>
            </a:r>
          </a:p>
          <a:p>
            <a:pPr marL="228600" indent="-228600">
              <a:buFont typeface="Arial"/>
              <a:buChar char="●"/>
            </a:pPr>
            <a:r>
              <a:rPr lang="kk-KZ" sz="1400" dirty="0">
                <a:solidFill>
                  <a:srgbClr val="1E2761"/>
                </a:solidFill>
                <a:latin typeface="Calibri"/>
              </a:rPr>
              <a:t>Қолданыстағы AI жүйелері (Gulshan et al., 2016: AUC 0.991) Орталық Азияда қолжетімсіз меншікті инфрақұрылымға тәуелді</a:t>
            </a:r>
          </a:p>
          <a:p>
            <a:pPr marL="228600" indent="-228600">
              <a:buFont typeface="Arial"/>
              <a:buChar char="●"/>
            </a:pPr>
            <a:r>
              <a:rPr lang="kk-KZ" sz="1400" dirty="0">
                <a:solidFill>
                  <a:srgbClr val="1E2761"/>
                </a:solidFill>
                <a:latin typeface="Calibri"/>
              </a:rPr>
              <a:t>Бұл диссертация скрининг қажеттілігі мен клиникалық мүмкіндік арасындағы алшақтықты шешеді — жобалау спецификациясы, далалық орналастыру емес</a:t>
            </a:r>
          </a:p>
        </p:txBody>
      </p:sp>
      <p:pic>
        <p:nvPicPr>
          <p:cNvPr id="13" name="Graphic 1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66500" y="508000"/>
            <a:ext cx="609600" cy="609600"/>
          </a:xfrm>
          <a:prstGeom prst="rect">
            <a:avLst/>
          </a:prstGeom>
        </p:spPr>
      </p:pic>
    </p:spTree>
    <p:extLst>
      <p:ext uri="{BB962C8B-B14F-4D97-AF65-F5344CB8AC3E}">
        <p14:creationId xmlns:p14="http://schemas.microsoft.com/office/powerpoint/2010/main" val="1615801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59E984-0249-1C77-DD4D-6B69FE284232}"/>
              </a:ext>
            </a:extLst>
          </p:cNvPr>
          <p:cNvSpPr>
            <a:spLocks noGrp="1"/>
          </p:cNvSpPr>
          <p:nvPr>
            <p:ph type="title"/>
          </p:nvPr>
        </p:nvSpPr>
        <p:spPr/>
        <p:txBody>
          <a:bodyPr/>
          <a:lstStyle/>
          <a:p>
            <a:pPr algn="l">
              <a:buNone/>
            </a:pPr>
            <a:r>
              <a:rPr lang="kk-KZ" sz="3200" b="1" dirty="0">
                <a:solidFill>
                  <a:srgbClr val="1E2761"/>
                </a:solidFill>
                <a:latin typeface="Cambria"/>
              </a:rPr>
              <a:t>Мәселенің қойылымы</a:t>
            </a:r>
          </a:p>
        </p:txBody>
      </p:sp>
      <p:sp>
        <p:nvSpPr>
          <p:cNvPr id="3" name="Прямоугольник: скругленные углы 2">
            <a:extLst>
              <a:ext uri="{FF2B5EF4-FFF2-40B4-BE49-F238E27FC236}">
                <a16:creationId xmlns:a16="http://schemas.microsoft.com/office/drawing/2014/main" id="{338CB845-97CB-42E5-90A0-0B01079A4258}"/>
              </a:ext>
            </a:extLst>
          </p:cNvPr>
          <p:cNvSpPr/>
          <p:nvPr/>
        </p:nvSpPr>
        <p:spPr>
          <a:xfrm>
            <a:off x="1016000" y="1905000"/>
            <a:ext cx="2667000" cy="1143000"/>
          </a:xfrm>
          <a:prstGeom prst="roundRect">
            <a:avLst/>
          </a:prstGeom>
          <a:solidFill>
            <a:srgbClr val="3A7BD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kk-KZ" b="1">
                <a:solidFill>
                  <a:srgbClr val="FFFFFF"/>
                </a:solidFill>
                <a:latin typeface="Calibri"/>
              </a:rPr>
              <a:t>Домен
вариабельділігі</a:t>
            </a:r>
          </a:p>
        </p:txBody>
      </p:sp>
      <p:sp>
        <p:nvSpPr>
          <p:cNvPr id="4" name="Прямоугольник: скругленные углы 3">
            <a:extLst>
              <a:ext uri="{FF2B5EF4-FFF2-40B4-BE49-F238E27FC236}">
                <a16:creationId xmlns:a16="http://schemas.microsoft.com/office/drawing/2014/main" id="{957AD955-222C-4D46-A5B1-F0C3D49960CE}"/>
              </a:ext>
            </a:extLst>
          </p:cNvPr>
          <p:cNvSpPr/>
          <p:nvPr/>
        </p:nvSpPr>
        <p:spPr>
          <a:xfrm>
            <a:off x="4699000" y="1905000"/>
            <a:ext cx="2667000" cy="1143000"/>
          </a:xfrm>
          <a:prstGeom prst="roundRect">
            <a:avLst/>
          </a:prstGeom>
          <a:solidFill>
            <a:srgbClr val="E8B84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kk-KZ" b="1">
                <a:solidFill>
                  <a:srgbClr val="FFFFFF"/>
                </a:solidFill>
                <a:latin typeface="Calibri"/>
              </a:rPr>
              <a:t>Таралу
ығысуы</a:t>
            </a:r>
          </a:p>
        </p:txBody>
      </p:sp>
      <p:sp>
        <p:nvSpPr>
          <p:cNvPr id="5" name="Прямоугольник: скругленные углы 4">
            <a:extLst>
              <a:ext uri="{FF2B5EF4-FFF2-40B4-BE49-F238E27FC236}">
                <a16:creationId xmlns:a16="http://schemas.microsoft.com/office/drawing/2014/main" id="{1EA7F1D6-8164-4F8F-A3A4-CF934DF20CF2}"/>
              </a:ext>
            </a:extLst>
          </p:cNvPr>
          <p:cNvSpPr/>
          <p:nvPr/>
        </p:nvSpPr>
        <p:spPr>
          <a:xfrm>
            <a:off x="8382000" y="1905000"/>
            <a:ext cx="2667000" cy="1143000"/>
          </a:xfrm>
          <a:prstGeom prst="roundRect">
            <a:avLst/>
          </a:prstGeom>
          <a:solidFill>
            <a:srgbClr val="C039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kk-KZ" b="1">
                <a:solidFill>
                  <a:srgbClr val="FFFFFF"/>
                </a:solidFill>
                <a:latin typeface="Calibri"/>
              </a:rPr>
              <a:t>CNN өнімділігінің
нашарлауы</a:t>
            </a:r>
          </a:p>
        </p:txBody>
      </p:sp>
      <p:sp>
        <p:nvSpPr>
          <p:cNvPr id="6" name="Стрелка: вправо 5">
            <a:extLst>
              <a:ext uri="{FF2B5EF4-FFF2-40B4-BE49-F238E27FC236}">
                <a16:creationId xmlns:a16="http://schemas.microsoft.com/office/drawing/2014/main" id="{60B5ABB2-4262-4028-B6C9-B1641BB8E576}"/>
              </a:ext>
            </a:extLst>
          </p:cNvPr>
          <p:cNvSpPr/>
          <p:nvPr/>
        </p:nvSpPr>
        <p:spPr>
          <a:xfrm>
            <a:off x="3810000" y="2222500"/>
            <a:ext cx="762000" cy="508000"/>
          </a:xfrm>
          <a:prstGeom prst="rightArrow">
            <a:avLst/>
          </a:prstGeom>
          <a:solidFill>
            <a:srgbClr val="1E276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7" name="Стрелка: вправо 6">
            <a:extLst>
              <a:ext uri="{FF2B5EF4-FFF2-40B4-BE49-F238E27FC236}">
                <a16:creationId xmlns:a16="http://schemas.microsoft.com/office/drawing/2014/main" id="{B5698C95-3EBE-446F-A74B-00842BE69651}"/>
              </a:ext>
            </a:extLst>
          </p:cNvPr>
          <p:cNvSpPr/>
          <p:nvPr/>
        </p:nvSpPr>
        <p:spPr>
          <a:xfrm>
            <a:off x="7493000" y="2222500"/>
            <a:ext cx="762000" cy="508000"/>
          </a:xfrm>
          <a:prstGeom prst="rightArrow">
            <a:avLst/>
          </a:prstGeom>
          <a:solidFill>
            <a:srgbClr val="1E276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8" name="TextBox 7">
            <a:extLst>
              <a:ext uri="{FF2B5EF4-FFF2-40B4-BE49-F238E27FC236}">
                <a16:creationId xmlns:a16="http://schemas.microsoft.com/office/drawing/2014/main" id="{9F34E0A5-83C2-47D4-973E-96EE0F2E8E4A}"/>
              </a:ext>
            </a:extLst>
          </p:cNvPr>
          <p:cNvSpPr txBox="1"/>
          <p:nvPr/>
        </p:nvSpPr>
        <p:spPr>
          <a:xfrm>
            <a:off x="1016000" y="3365500"/>
            <a:ext cx="10160000" cy="1651000"/>
          </a:xfrm>
          <a:prstGeom prst="rect">
            <a:avLst/>
          </a:prstGeom>
          <a:noFill/>
          <a:ln>
            <a:noFill/>
          </a:ln>
        </p:spPr>
        <p:txBody>
          <a:bodyPr vertOverflow="overflow" vert="horz" wrap="square" rtlCol="0" anchor="t">
            <a:spAutoFit/>
          </a:bodyPr>
          <a:lstStyle/>
          <a:p>
            <a:pPr marL="228600" indent="-228600">
              <a:buFont typeface="Arial"/>
              <a:buChar char="●"/>
            </a:pPr>
            <a:r>
              <a:rPr lang="kk-KZ" sz="1400" dirty="0">
                <a:solidFill>
                  <a:srgbClr val="1E2761"/>
                </a:solidFill>
                <a:latin typeface="Calibri"/>
              </a:rPr>
              <a:t>Voets et al. (2019): көрілмеген көз түбі деректерінде елеулі өнімділік деградациясы</a:t>
            </a:r>
          </a:p>
          <a:p>
            <a:pPr marL="228600" indent="-228600">
              <a:buFont typeface="Arial"/>
              <a:buChar char="●"/>
            </a:pPr>
            <a:r>
              <a:rPr lang="kk-KZ" sz="1400" dirty="0">
                <a:solidFill>
                  <a:srgbClr val="1E2761"/>
                </a:solidFill>
                <a:latin typeface="Calibri"/>
              </a:rPr>
              <a:t>Liu et al. (2022, DeepDRiD): құрылғыға тән вариабельділік — жіктеу қатесінің негізгі көзі</a:t>
            </a:r>
          </a:p>
          <a:p>
            <a:pPr marL="228600" indent="-228600">
              <a:buFont typeface="Arial"/>
              <a:buChar char="●"/>
            </a:pPr>
            <a:r>
              <a:rPr lang="kk-KZ" sz="1400" dirty="0">
                <a:solidFill>
                  <a:srgbClr val="1E2761"/>
                </a:solidFill>
                <a:latin typeface="Calibri"/>
              </a:rPr>
              <a:t>DR жүйелерінің көпшілігі алдын ала өңдеуді модельдің ажырамас компоненті емес, қосалқы дайындық ретінде қарастырады</a:t>
            </a:r>
          </a:p>
          <a:p>
            <a:pPr marL="228600" indent="-228600">
              <a:buFont typeface="Arial"/>
              <a:buChar char="●"/>
            </a:pPr>
            <a:r>
              <a:rPr lang="kk-KZ" sz="1400" dirty="0">
                <a:solidFill>
                  <a:srgbClr val="1E2761"/>
                </a:solidFill>
                <a:latin typeface="Calibri"/>
              </a:rPr>
              <a:t>Ұсынылған pipeline торқабық кескін көрінісін стандарттайды, домен аралық таралу ығысуын азайтады</a:t>
            </a:r>
          </a:p>
        </p:txBody>
      </p:sp>
      <p:sp>
        <p:nvSpPr>
          <p:cNvPr id="9" name="Прямоугольник: скругленные углы 8">
            <a:extLst>
              <a:ext uri="{FF2B5EF4-FFF2-40B4-BE49-F238E27FC236}">
                <a16:creationId xmlns:a16="http://schemas.microsoft.com/office/drawing/2014/main" id="{5DA3BE4C-920D-4D5C-9506-D06522E46BC5}"/>
              </a:ext>
            </a:extLst>
          </p:cNvPr>
          <p:cNvSpPr/>
          <p:nvPr/>
        </p:nvSpPr>
        <p:spPr>
          <a:xfrm>
            <a:off x="3048000" y="5270500"/>
            <a:ext cx="6096000" cy="698500"/>
          </a:xfrm>
          <a:prstGeom prst="roundRect">
            <a:avLst/>
          </a:prstGeom>
          <a:solidFill>
            <a:srgbClr val="1E276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2000" b="1">
                <a:solidFill>
                  <a:srgbClr val="FFFFFF"/>
                </a:solidFill>
                <a:latin typeface="Cambria"/>
                <a:ea typeface="Cambria"/>
              </a:rPr>
              <a:t>model  =  preprocessing  +  CNN</a:t>
            </a:r>
            <a:endParaRPr lang="ru-RU" sz="2000" b="1">
              <a:solidFill>
                <a:srgbClr val="FFFFFF"/>
              </a:solidFill>
              <a:latin typeface="Cambria"/>
              <a:ea typeface="Cambria"/>
            </a:endParaRPr>
          </a:p>
        </p:txBody>
      </p:sp>
      <p:pic>
        <p:nvPicPr>
          <p:cNvPr id="10" name="Graphic 1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66500" y="508000"/>
            <a:ext cx="609600" cy="609600"/>
          </a:xfrm>
          <a:prstGeom prst="rect">
            <a:avLst/>
          </a:prstGeom>
        </p:spPr>
      </p:pic>
    </p:spTree>
    <p:extLst>
      <p:ext uri="{BB962C8B-B14F-4D97-AF65-F5344CB8AC3E}">
        <p14:creationId xmlns:p14="http://schemas.microsoft.com/office/powerpoint/2010/main" val="1927609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1F4E3A-174E-3A00-034D-CF0BD3B7FE4A}"/>
              </a:ext>
            </a:extLst>
          </p:cNvPr>
          <p:cNvSpPr>
            <a:spLocks noGrp="1"/>
          </p:cNvSpPr>
          <p:nvPr>
            <p:ph type="title"/>
          </p:nvPr>
        </p:nvSpPr>
        <p:spPr/>
        <p:txBody>
          <a:bodyPr/>
          <a:lstStyle/>
          <a:p>
            <a:pPr algn="l">
              <a:buNone/>
            </a:pPr>
            <a:r>
              <a:rPr lang="kk-KZ" sz="3200" b="1" dirty="0">
                <a:solidFill>
                  <a:srgbClr val="1E2761"/>
                </a:solidFill>
                <a:latin typeface="Cambria"/>
              </a:rPr>
              <a:t>Зерттеу мақсаттары</a:t>
            </a:r>
          </a:p>
        </p:txBody>
      </p:sp>
      <p:sp>
        <p:nvSpPr>
          <p:cNvPr id="3" name="Прямоугольник: скругленные углы 2">
            <a:extLst>
              <a:ext uri="{FF2B5EF4-FFF2-40B4-BE49-F238E27FC236}">
                <a16:creationId xmlns:a16="http://schemas.microsoft.com/office/drawing/2014/main" id="{D2E5B4A0-9994-4838-8820-D7E15B66BB18}"/>
              </a:ext>
            </a:extLst>
          </p:cNvPr>
          <p:cNvSpPr/>
          <p:nvPr/>
        </p:nvSpPr>
        <p:spPr>
          <a:xfrm>
            <a:off x="635000" y="1714500"/>
            <a:ext cx="10922000" cy="698500"/>
          </a:xfrm>
          <a:prstGeom prst="roundRect">
            <a:avLst/>
          </a:prstGeom>
          <a:solidFill>
            <a:srgbClr val="1E276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kk-KZ" sz="1400" b="1">
                <a:solidFill>
                  <a:srgbClr val="FFFFFF"/>
                </a:solidFill>
                <a:latin typeface="Calibri"/>
              </a:rPr>
              <a:t>Мақсат: DR автоматты көп кезеңді диагностикасы үшін интеграцияланған көз түбі кескінін жақсарту + CNN жіктеу жүйесін әзірлеу және валидациялау</a:t>
            </a:r>
          </a:p>
        </p:txBody>
      </p:sp>
      <p:sp>
        <p:nvSpPr>
          <p:cNvPr id="4" name="Овал 3">
            <a:extLst>
              <a:ext uri="{FF2B5EF4-FFF2-40B4-BE49-F238E27FC236}">
                <a16:creationId xmlns:a16="http://schemas.microsoft.com/office/drawing/2014/main" id="{343D4003-F82C-4CDA-8CE3-0E2F6CAE9C5F}"/>
              </a:ext>
            </a:extLst>
          </p:cNvPr>
          <p:cNvSpPr/>
          <p:nvPr/>
        </p:nvSpPr>
        <p:spPr>
          <a:xfrm>
            <a:off x="762000" y="2590800"/>
            <a:ext cx="457200" cy="457200"/>
          </a:xfrm>
          <a:prstGeom prst="ellipse">
            <a:avLst/>
          </a:prstGeom>
          <a:solidFill>
            <a:srgbClr val="3A7BD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Calibri"/>
                <a:ea typeface="Calibri"/>
                <a:cs typeface="Calibri"/>
              </a:rPr>
              <a:t>T1</a:t>
            </a:r>
            <a:endParaRPr lang="ru-RU" sz="1400" b="1">
              <a:solidFill>
                <a:srgbClr val="FFFFFF"/>
              </a:solidFill>
              <a:latin typeface="Calibri"/>
              <a:ea typeface="Calibri"/>
              <a:cs typeface="Calibri"/>
            </a:endParaRPr>
          </a:p>
        </p:txBody>
      </p:sp>
      <p:sp>
        <p:nvSpPr>
          <p:cNvPr id="5" name="TextBox 4">
            <a:extLst>
              <a:ext uri="{FF2B5EF4-FFF2-40B4-BE49-F238E27FC236}">
                <a16:creationId xmlns:a16="http://schemas.microsoft.com/office/drawing/2014/main" id="{353BC88F-7923-4202-942D-D3CBE824BAF1}"/>
              </a:ext>
            </a:extLst>
          </p:cNvPr>
          <p:cNvSpPr txBox="1"/>
          <p:nvPr/>
        </p:nvSpPr>
        <p:spPr>
          <a:xfrm>
            <a:off x="1371600" y="2565400"/>
            <a:ext cx="9144000" cy="508000"/>
          </a:xfrm>
          <a:prstGeom prst="rect">
            <a:avLst/>
          </a:prstGeom>
          <a:noFill/>
          <a:ln>
            <a:noFill/>
          </a:ln>
        </p:spPr>
        <p:txBody>
          <a:bodyPr vertOverflow="overflow" vert="horz" wrap="square" rtlCol="0" anchor="ctr" anchorCtr="0">
            <a:spAutoFit/>
          </a:bodyPr>
          <a:lstStyle/>
          <a:p>
            <a:pPr algn="l"/>
            <a:r>
              <a:rPr lang="kk-KZ" sz="1400">
                <a:solidFill>
                  <a:srgbClr val="1E2761"/>
                </a:solidFill>
                <a:latin typeface="Calibri"/>
              </a:rPr>
              <a:t>6 кезеңді V4 preprocessing pipeline жобалау (канондық бағдарлама, FOV, жарық өрісін түзету, CLAHE, нормализация)</a:t>
            </a:r>
          </a:p>
        </p:txBody>
      </p:sp>
      <p:sp>
        <p:nvSpPr>
          <p:cNvPr id="6" name="Прямоугольник: скругленные углы 5">
            <a:extLst>
              <a:ext uri="{FF2B5EF4-FFF2-40B4-BE49-F238E27FC236}">
                <a16:creationId xmlns:a16="http://schemas.microsoft.com/office/drawing/2014/main" id="{21C88061-9459-4251-9371-2A544BC8ABF5}"/>
              </a:ext>
            </a:extLst>
          </p:cNvPr>
          <p:cNvSpPr/>
          <p:nvPr/>
        </p:nvSpPr>
        <p:spPr>
          <a:xfrm>
            <a:off x="10731500" y="2641600"/>
            <a:ext cx="762000" cy="355600"/>
          </a:xfrm>
          <a:prstGeom prst="roundRect">
            <a:avLst/>
          </a:prstGeom>
          <a:solidFill>
            <a:srgbClr val="CADC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kk-KZ" sz="1000" b="1">
                <a:solidFill>
                  <a:srgbClr val="FFFFFF"/>
                </a:solidFill>
                <a:latin typeface="Calibri"/>
              </a:rPr>
              <a:t>Эксп 1,2</a:t>
            </a:r>
          </a:p>
        </p:txBody>
      </p:sp>
      <p:sp>
        <p:nvSpPr>
          <p:cNvPr id="7" name="Овал 6">
            <a:extLst>
              <a:ext uri="{FF2B5EF4-FFF2-40B4-BE49-F238E27FC236}">
                <a16:creationId xmlns:a16="http://schemas.microsoft.com/office/drawing/2014/main" id="{CECA2D98-146F-4083-A8D6-6A5FB9AB3141}"/>
              </a:ext>
            </a:extLst>
          </p:cNvPr>
          <p:cNvSpPr/>
          <p:nvPr/>
        </p:nvSpPr>
        <p:spPr>
          <a:xfrm>
            <a:off x="762000" y="3200400"/>
            <a:ext cx="457200" cy="457200"/>
          </a:xfrm>
          <a:prstGeom prst="ellipse">
            <a:avLst/>
          </a:prstGeom>
          <a:solidFill>
            <a:srgbClr val="3A7BD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Calibri"/>
                <a:ea typeface="Calibri"/>
                <a:cs typeface="Calibri"/>
              </a:rPr>
              <a:t>T2</a:t>
            </a:r>
            <a:endParaRPr lang="ru-RU" sz="1400" b="1">
              <a:solidFill>
                <a:srgbClr val="FFFFFF"/>
              </a:solidFill>
              <a:latin typeface="Calibri"/>
              <a:ea typeface="Calibri"/>
              <a:cs typeface="Calibri"/>
            </a:endParaRPr>
          </a:p>
        </p:txBody>
      </p:sp>
      <p:sp>
        <p:nvSpPr>
          <p:cNvPr id="8" name="TextBox 7">
            <a:extLst>
              <a:ext uri="{FF2B5EF4-FFF2-40B4-BE49-F238E27FC236}">
                <a16:creationId xmlns:a16="http://schemas.microsoft.com/office/drawing/2014/main" id="{95A99E81-EB9E-46C7-AA0A-615F7EDB6673}"/>
              </a:ext>
            </a:extLst>
          </p:cNvPr>
          <p:cNvSpPr txBox="1"/>
          <p:nvPr/>
        </p:nvSpPr>
        <p:spPr>
          <a:xfrm>
            <a:off x="1371600" y="3175000"/>
            <a:ext cx="9144000" cy="508000"/>
          </a:xfrm>
          <a:prstGeom prst="rect">
            <a:avLst/>
          </a:prstGeom>
          <a:noFill/>
          <a:ln>
            <a:noFill/>
          </a:ln>
        </p:spPr>
        <p:txBody>
          <a:bodyPr vertOverflow="overflow" vert="horz" wrap="square" rtlCol="0" anchor="ctr" anchorCtr="0">
            <a:spAutoFit/>
          </a:bodyPr>
          <a:lstStyle/>
          <a:p>
            <a:pPr algn="l"/>
            <a:r>
              <a:rPr lang="kk-KZ" sz="1400">
                <a:solidFill>
                  <a:srgbClr val="1E2761"/>
                </a:solidFill>
                <a:latin typeface="Calibri"/>
              </a:rPr>
              <a:t>CNN архитектурасын таңдау және бейімдеу (ResNet-50, EfficientNet-B3) Transfer Learning арқылы</a:t>
            </a:r>
          </a:p>
        </p:txBody>
      </p:sp>
      <p:sp>
        <p:nvSpPr>
          <p:cNvPr id="9" name="Прямоугольник: скругленные углы 8">
            <a:extLst>
              <a:ext uri="{FF2B5EF4-FFF2-40B4-BE49-F238E27FC236}">
                <a16:creationId xmlns:a16="http://schemas.microsoft.com/office/drawing/2014/main" id="{3D3D0D08-9409-43D3-916E-3F3994EAC518}"/>
              </a:ext>
            </a:extLst>
          </p:cNvPr>
          <p:cNvSpPr/>
          <p:nvPr/>
        </p:nvSpPr>
        <p:spPr>
          <a:xfrm>
            <a:off x="10731500" y="3251200"/>
            <a:ext cx="762000" cy="355600"/>
          </a:xfrm>
          <a:prstGeom prst="roundRect">
            <a:avLst/>
          </a:prstGeom>
          <a:solidFill>
            <a:srgbClr val="CADC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kk-KZ" sz="1000" b="1">
                <a:solidFill>
                  <a:srgbClr val="FFFFFF"/>
                </a:solidFill>
                <a:latin typeface="Calibri"/>
              </a:rPr>
              <a:t>Эксп 1</a:t>
            </a:r>
          </a:p>
        </p:txBody>
      </p:sp>
      <p:sp>
        <p:nvSpPr>
          <p:cNvPr id="10" name="Овал 9">
            <a:extLst>
              <a:ext uri="{FF2B5EF4-FFF2-40B4-BE49-F238E27FC236}">
                <a16:creationId xmlns:a16="http://schemas.microsoft.com/office/drawing/2014/main" id="{F1489625-542B-4C76-9FC5-C4A2E7AF9BB3}"/>
              </a:ext>
            </a:extLst>
          </p:cNvPr>
          <p:cNvSpPr/>
          <p:nvPr/>
        </p:nvSpPr>
        <p:spPr>
          <a:xfrm>
            <a:off x="762000" y="3810000"/>
            <a:ext cx="457200" cy="457200"/>
          </a:xfrm>
          <a:prstGeom prst="ellipse">
            <a:avLst/>
          </a:prstGeom>
          <a:solidFill>
            <a:srgbClr val="3A7BD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Calibri"/>
                <a:ea typeface="Calibri"/>
                <a:cs typeface="Calibri"/>
              </a:rPr>
              <a:t>T3</a:t>
            </a:r>
            <a:endParaRPr lang="ru-RU" sz="1400" b="1">
              <a:solidFill>
                <a:srgbClr val="FFFFFF"/>
              </a:solidFill>
              <a:latin typeface="Calibri"/>
              <a:ea typeface="Calibri"/>
              <a:cs typeface="Calibri"/>
            </a:endParaRPr>
          </a:p>
        </p:txBody>
      </p:sp>
      <p:sp>
        <p:nvSpPr>
          <p:cNvPr id="11" name="TextBox 10">
            <a:extLst>
              <a:ext uri="{FF2B5EF4-FFF2-40B4-BE49-F238E27FC236}">
                <a16:creationId xmlns:a16="http://schemas.microsoft.com/office/drawing/2014/main" id="{0C2D9FCB-E174-4F62-8023-A56D1B0D1818}"/>
              </a:ext>
            </a:extLst>
          </p:cNvPr>
          <p:cNvSpPr txBox="1"/>
          <p:nvPr/>
        </p:nvSpPr>
        <p:spPr>
          <a:xfrm>
            <a:off x="1371600" y="3784600"/>
            <a:ext cx="9144000" cy="508000"/>
          </a:xfrm>
          <a:prstGeom prst="rect">
            <a:avLst/>
          </a:prstGeom>
          <a:noFill/>
          <a:ln>
            <a:noFill/>
          </a:ln>
        </p:spPr>
        <p:txBody>
          <a:bodyPr vertOverflow="overflow" vert="horz" wrap="square" rtlCol="0" anchor="ctr" anchorCtr="0">
            <a:spAutoFit/>
          </a:bodyPr>
          <a:lstStyle/>
          <a:p>
            <a:pPr algn="l"/>
            <a:r>
              <a:rPr lang="kk-KZ" sz="1400">
                <a:solidFill>
                  <a:srgbClr val="1E2761"/>
                </a:solidFill>
                <a:latin typeface="Calibri"/>
              </a:rPr>
              <a:t>Preprocessing басымдығын факторлық Ablation Study арқылы валидациялау (H-1)</a:t>
            </a:r>
          </a:p>
        </p:txBody>
      </p:sp>
      <p:sp>
        <p:nvSpPr>
          <p:cNvPr id="12" name="Прямоугольник: скругленные углы 11">
            <a:extLst>
              <a:ext uri="{FF2B5EF4-FFF2-40B4-BE49-F238E27FC236}">
                <a16:creationId xmlns:a16="http://schemas.microsoft.com/office/drawing/2014/main" id="{48B5B257-21C3-4EB0-9EA4-DB3847B65B5D}"/>
              </a:ext>
            </a:extLst>
          </p:cNvPr>
          <p:cNvSpPr/>
          <p:nvPr/>
        </p:nvSpPr>
        <p:spPr>
          <a:xfrm>
            <a:off x="10731500" y="3860800"/>
            <a:ext cx="762000" cy="355600"/>
          </a:xfrm>
          <a:prstGeom prst="roundRect">
            <a:avLst/>
          </a:prstGeom>
          <a:solidFill>
            <a:srgbClr val="CADC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kk-KZ" sz="1000" b="1">
                <a:solidFill>
                  <a:srgbClr val="FFFFFF"/>
                </a:solidFill>
                <a:latin typeface="Calibri"/>
              </a:rPr>
              <a:t>Эксп 1,2</a:t>
            </a:r>
          </a:p>
        </p:txBody>
      </p:sp>
      <p:sp>
        <p:nvSpPr>
          <p:cNvPr id="13" name="Овал 12">
            <a:extLst>
              <a:ext uri="{FF2B5EF4-FFF2-40B4-BE49-F238E27FC236}">
                <a16:creationId xmlns:a16="http://schemas.microsoft.com/office/drawing/2014/main" id="{CEDA65C2-B814-4B51-8C00-B56455BB15A5}"/>
              </a:ext>
            </a:extLst>
          </p:cNvPr>
          <p:cNvSpPr/>
          <p:nvPr/>
        </p:nvSpPr>
        <p:spPr>
          <a:xfrm>
            <a:off x="762000" y="4419600"/>
            <a:ext cx="457200" cy="457200"/>
          </a:xfrm>
          <a:prstGeom prst="ellipse">
            <a:avLst/>
          </a:prstGeom>
          <a:solidFill>
            <a:srgbClr val="3A7BD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Calibri"/>
                <a:ea typeface="Calibri"/>
                <a:cs typeface="Calibri"/>
              </a:rPr>
              <a:t>T4</a:t>
            </a:r>
            <a:endParaRPr lang="ru-RU" sz="1400" b="1">
              <a:solidFill>
                <a:srgbClr val="FFFFFF"/>
              </a:solidFill>
              <a:latin typeface="Calibri"/>
              <a:ea typeface="Calibri"/>
              <a:cs typeface="Calibri"/>
            </a:endParaRPr>
          </a:p>
        </p:txBody>
      </p:sp>
      <p:sp>
        <p:nvSpPr>
          <p:cNvPr id="14" name="TextBox 13">
            <a:extLst>
              <a:ext uri="{FF2B5EF4-FFF2-40B4-BE49-F238E27FC236}">
                <a16:creationId xmlns:a16="http://schemas.microsoft.com/office/drawing/2014/main" id="{384BDBE7-CC90-4A1D-8527-BC38D5279D16}"/>
              </a:ext>
            </a:extLst>
          </p:cNvPr>
          <p:cNvSpPr txBox="1"/>
          <p:nvPr/>
        </p:nvSpPr>
        <p:spPr>
          <a:xfrm>
            <a:off x="1371600" y="4394200"/>
            <a:ext cx="9144000" cy="508000"/>
          </a:xfrm>
          <a:prstGeom prst="rect">
            <a:avLst/>
          </a:prstGeom>
          <a:noFill/>
          <a:ln>
            <a:noFill/>
          </a:ln>
        </p:spPr>
        <p:txBody>
          <a:bodyPr vertOverflow="overflow" vert="horz" wrap="square" rtlCol="0" anchor="ctr" anchorCtr="0">
            <a:spAutoFit/>
          </a:bodyPr>
          <a:lstStyle/>
          <a:p>
            <a:pPr algn="l"/>
            <a:r>
              <a:rPr lang="kk-KZ" sz="1400">
                <a:solidFill>
                  <a:srgbClr val="1E2761"/>
                </a:solidFill>
                <a:latin typeface="Calibri"/>
              </a:rPr>
              <a:t>CLAHE параметрлерінің сезімталдық профилін сипаттау (H-2)</a:t>
            </a:r>
          </a:p>
        </p:txBody>
      </p:sp>
      <p:sp>
        <p:nvSpPr>
          <p:cNvPr id="15" name="Прямоугольник: скругленные углы 14">
            <a:extLst>
              <a:ext uri="{FF2B5EF4-FFF2-40B4-BE49-F238E27FC236}">
                <a16:creationId xmlns:a16="http://schemas.microsoft.com/office/drawing/2014/main" id="{14345402-BF7D-4E63-9BE8-AE092705E566}"/>
              </a:ext>
            </a:extLst>
          </p:cNvPr>
          <p:cNvSpPr/>
          <p:nvPr/>
        </p:nvSpPr>
        <p:spPr>
          <a:xfrm>
            <a:off x="10731500" y="4470400"/>
            <a:ext cx="762000" cy="355600"/>
          </a:xfrm>
          <a:prstGeom prst="roundRect">
            <a:avLst/>
          </a:prstGeom>
          <a:solidFill>
            <a:srgbClr val="CADC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kk-KZ" sz="1000" b="1">
                <a:solidFill>
                  <a:srgbClr val="FFFFFF"/>
                </a:solidFill>
                <a:latin typeface="Calibri"/>
              </a:rPr>
              <a:t>Эксп 2</a:t>
            </a:r>
          </a:p>
        </p:txBody>
      </p:sp>
      <p:sp>
        <p:nvSpPr>
          <p:cNvPr id="16" name="Овал 15">
            <a:extLst>
              <a:ext uri="{FF2B5EF4-FFF2-40B4-BE49-F238E27FC236}">
                <a16:creationId xmlns:a16="http://schemas.microsoft.com/office/drawing/2014/main" id="{C7251B74-CFA0-47C1-AE6E-838D5A6E169A}"/>
              </a:ext>
            </a:extLst>
          </p:cNvPr>
          <p:cNvSpPr/>
          <p:nvPr/>
        </p:nvSpPr>
        <p:spPr>
          <a:xfrm>
            <a:off x="762000" y="5029200"/>
            <a:ext cx="457200" cy="457200"/>
          </a:xfrm>
          <a:prstGeom prst="ellipse">
            <a:avLst/>
          </a:prstGeom>
          <a:solidFill>
            <a:srgbClr val="3A7BD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Calibri"/>
                <a:ea typeface="Calibri"/>
                <a:cs typeface="Calibri"/>
              </a:rPr>
              <a:t>T5</a:t>
            </a:r>
            <a:endParaRPr lang="ru-RU" sz="1400" b="1">
              <a:solidFill>
                <a:srgbClr val="FFFFFF"/>
              </a:solidFill>
              <a:latin typeface="Calibri"/>
              <a:ea typeface="Calibri"/>
              <a:cs typeface="Calibri"/>
            </a:endParaRPr>
          </a:p>
        </p:txBody>
      </p:sp>
      <p:sp>
        <p:nvSpPr>
          <p:cNvPr id="17" name="TextBox 16">
            <a:extLst>
              <a:ext uri="{FF2B5EF4-FFF2-40B4-BE49-F238E27FC236}">
                <a16:creationId xmlns:a16="http://schemas.microsoft.com/office/drawing/2014/main" id="{F1900281-00D5-453E-BA29-F1127F163AA0}"/>
              </a:ext>
            </a:extLst>
          </p:cNvPr>
          <p:cNvSpPr txBox="1"/>
          <p:nvPr/>
        </p:nvSpPr>
        <p:spPr>
          <a:xfrm>
            <a:off x="1371600" y="5003800"/>
            <a:ext cx="9144000" cy="508000"/>
          </a:xfrm>
          <a:prstGeom prst="rect">
            <a:avLst/>
          </a:prstGeom>
          <a:noFill/>
          <a:ln>
            <a:noFill/>
          </a:ln>
        </p:spPr>
        <p:txBody>
          <a:bodyPr vertOverflow="overflow" vert="horz" wrap="square" rtlCol="0" anchor="ctr" anchorCtr="0">
            <a:spAutoFit/>
          </a:bodyPr>
          <a:lstStyle/>
          <a:p>
            <a:pPr algn="l"/>
            <a:r>
              <a:rPr lang="kk-KZ" sz="1400">
                <a:solidFill>
                  <a:srgbClr val="1E2761"/>
                </a:solidFill>
                <a:latin typeface="Calibri"/>
              </a:rPr>
              <a:t>Деректер жиынтықтары және құрылғылар арасындағы жалпылау қабілетін бағалау (H-4, H-6)</a:t>
            </a:r>
          </a:p>
        </p:txBody>
      </p:sp>
      <p:sp>
        <p:nvSpPr>
          <p:cNvPr id="18" name="Прямоугольник: скругленные углы 17">
            <a:extLst>
              <a:ext uri="{FF2B5EF4-FFF2-40B4-BE49-F238E27FC236}">
                <a16:creationId xmlns:a16="http://schemas.microsoft.com/office/drawing/2014/main" id="{2609B5D0-3DE0-407C-8F34-ABB02D05F5C0}"/>
              </a:ext>
            </a:extLst>
          </p:cNvPr>
          <p:cNvSpPr/>
          <p:nvPr/>
        </p:nvSpPr>
        <p:spPr>
          <a:xfrm>
            <a:off x="10731500" y="5080000"/>
            <a:ext cx="762000" cy="355600"/>
          </a:xfrm>
          <a:prstGeom prst="roundRect">
            <a:avLst/>
          </a:prstGeom>
          <a:solidFill>
            <a:srgbClr val="CADC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kk-KZ" sz="1000" b="1">
                <a:solidFill>
                  <a:srgbClr val="FFFFFF"/>
                </a:solidFill>
                <a:latin typeface="Calibri"/>
              </a:rPr>
              <a:t>Эксп 5,6</a:t>
            </a:r>
          </a:p>
        </p:txBody>
      </p:sp>
      <p:sp>
        <p:nvSpPr>
          <p:cNvPr id="19" name="Овал 18">
            <a:extLst>
              <a:ext uri="{FF2B5EF4-FFF2-40B4-BE49-F238E27FC236}">
                <a16:creationId xmlns:a16="http://schemas.microsoft.com/office/drawing/2014/main" id="{20B5868A-AA72-42B7-94FD-F77BE9A6AD56}"/>
              </a:ext>
            </a:extLst>
          </p:cNvPr>
          <p:cNvSpPr/>
          <p:nvPr/>
        </p:nvSpPr>
        <p:spPr>
          <a:xfrm>
            <a:off x="762000" y="5638800"/>
            <a:ext cx="457200" cy="457200"/>
          </a:xfrm>
          <a:prstGeom prst="ellipse">
            <a:avLst/>
          </a:prstGeom>
          <a:solidFill>
            <a:srgbClr val="3A7BD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Calibri"/>
                <a:ea typeface="Calibri"/>
                <a:cs typeface="Calibri"/>
              </a:rPr>
              <a:t>T6</a:t>
            </a:r>
            <a:endParaRPr lang="ru-RU" sz="1400" b="1">
              <a:solidFill>
                <a:srgbClr val="FFFFFF"/>
              </a:solidFill>
              <a:latin typeface="Calibri"/>
              <a:ea typeface="Calibri"/>
              <a:cs typeface="Calibri"/>
            </a:endParaRPr>
          </a:p>
        </p:txBody>
      </p:sp>
      <p:sp>
        <p:nvSpPr>
          <p:cNvPr id="20" name="TextBox 19">
            <a:extLst>
              <a:ext uri="{FF2B5EF4-FFF2-40B4-BE49-F238E27FC236}">
                <a16:creationId xmlns:a16="http://schemas.microsoft.com/office/drawing/2014/main" id="{220DCE01-6788-49EE-AC77-3B82E63A37E5}"/>
              </a:ext>
            </a:extLst>
          </p:cNvPr>
          <p:cNvSpPr txBox="1"/>
          <p:nvPr/>
        </p:nvSpPr>
        <p:spPr>
          <a:xfrm>
            <a:off x="1371600" y="5613400"/>
            <a:ext cx="9144000" cy="508000"/>
          </a:xfrm>
          <a:prstGeom prst="rect">
            <a:avLst/>
          </a:prstGeom>
          <a:noFill/>
          <a:ln>
            <a:noFill/>
          </a:ln>
        </p:spPr>
        <p:txBody>
          <a:bodyPr vertOverflow="overflow" vert="horz" wrap="square" rtlCol="0" anchor="ctr" anchorCtr="0">
            <a:spAutoFit/>
          </a:bodyPr>
          <a:lstStyle/>
          <a:p>
            <a:pPr algn="l"/>
            <a:r>
              <a:rPr lang="kk-KZ" sz="1400">
                <a:solidFill>
                  <a:srgbClr val="1E2761"/>
                </a:solidFill>
                <a:latin typeface="Calibri"/>
              </a:rPr>
              <a:t>Grad-CAM арқылы ALO түсіндірме метрикасын енгізу (H-5)</a:t>
            </a:r>
          </a:p>
        </p:txBody>
      </p:sp>
      <p:sp>
        <p:nvSpPr>
          <p:cNvPr id="21" name="Прямоугольник: скругленные углы 20">
            <a:extLst>
              <a:ext uri="{FF2B5EF4-FFF2-40B4-BE49-F238E27FC236}">
                <a16:creationId xmlns:a16="http://schemas.microsoft.com/office/drawing/2014/main" id="{E4CA7913-90DF-4C21-B988-78EDB8AE7736}"/>
              </a:ext>
            </a:extLst>
          </p:cNvPr>
          <p:cNvSpPr/>
          <p:nvPr/>
        </p:nvSpPr>
        <p:spPr>
          <a:xfrm>
            <a:off x="10731500" y="5689600"/>
            <a:ext cx="762000" cy="355600"/>
          </a:xfrm>
          <a:prstGeom prst="roundRect">
            <a:avLst/>
          </a:prstGeom>
          <a:solidFill>
            <a:srgbClr val="CADC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kk-KZ" sz="1000" b="1">
                <a:solidFill>
                  <a:srgbClr val="FFFFFF"/>
                </a:solidFill>
                <a:latin typeface="Calibri"/>
              </a:rPr>
              <a:t>Эксп 4</a:t>
            </a:r>
          </a:p>
        </p:txBody>
      </p:sp>
      <p:pic>
        <p:nvPicPr>
          <p:cNvPr id="22" name="Graphic 2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66500" y="508000"/>
            <a:ext cx="609600" cy="609600"/>
          </a:xfrm>
          <a:prstGeom prst="rect">
            <a:avLst/>
          </a:prstGeom>
        </p:spPr>
      </p:pic>
    </p:spTree>
    <p:extLst>
      <p:ext uri="{BB962C8B-B14F-4D97-AF65-F5344CB8AC3E}">
        <p14:creationId xmlns:p14="http://schemas.microsoft.com/office/powerpoint/2010/main" val="772766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2BC974-29E3-E1F9-BB17-4322866E01D1}"/>
              </a:ext>
            </a:extLst>
          </p:cNvPr>
          <p:cNvSpPr>
            <a:spLocks noGrp="1"/>
          </p:cNvSpPr>
          <p:nvPr>
            <p:ph type="title"/>
          </p:nvPr>
        </p:nvSpPr>
        <p:spPr/>
        <p:txBody>
          <a:bodyPr/>
          <a:lstStyle/>
          <a:p>
            <a:pPr algn="l">
              <a:buNone/>
            </a:pPr>
            <a:r>
              <a:rPr lang="kk-KZ" sz="3200" b="1" dirty="0">
                <a:solidFill>
                  <a:srgbClr val="1E2761"/>
                </a:solidFill>
                <a:latin typeface="Cambria"/>
              </a:rPr>
              <a:t>Зерттеу объектісі және пәні</a:t>
            </a:r>
          </a:p>
        </p:txBody>
      </p:sp>
      <p:sp>
        <p:nvSpPr>
          <p:cNvPr id="3" name="Объект 2">
            <a:extLst>
              <a:ext uri="{FF2B5EF4-FFF2-40B4-BE49-F238E27FC236}">
                <a16:creationId xmlns:a16="http://schemas.microsoft.com/office/drawing/2014/main" id="{D6D37C73-A1D0-8079-DB6C-BA39EF826F47}"/>
              </a:ext>
            </a:extLst>
          </p:cNvPr>
          <p:cNvSpPr>
            <a:spLocks noGrp="1"/>
          </p:cNvSpPr>
          <p:nvPr>
            <p:ph sz="half" idx="1"/>
          </p:nvPr>
        </p:nvSpPr>
        <p:spPr/>
        <p:txBody>
          <a:bodyPr/>
          <a:lstStyle/>
          <a:p>
            <a:pPr algn="ctr">
              <a:buNone/>
            </a:pPr>
            <a:r>
              <a:rPr lang="kk-KZ" sz="2000" b="1" dirty="0">
                <a:solidFill>
                  <a:srgbClr val="3A7BD5"/>
                </a:solidFill>
                <a:latin typeface="Cambria"/>
              </a:rPr>
              <a:t>Зерттеу объектісі</a:t>
            </a:r>
          </a:p>
          <a:p>
            <a:pPr marL="228600" indent="-228600" algn="l">
              <a:buFont typeface="Arial"/>
              <a:buChar char="●"/>
            </a:pPr>
            <a:r>
              <a:rPr lang="kk-KZ" sz="1400" dirty="0">
                <a:solidFill>
                  <a:srgbClr val="1E2761"/>
                </a:solidFill>
                <a:latin typeface="Calibri"/>
              </a:rPr>
              <a:t>Түсті көз түбі фотосуреттерінен диабеттік ретинопатияны автоматты диагностикалау үдерісі</a:t>
            </a:r>
          </a:p>
          <a:p>
            <a:pPr marL="228600" indent="-228600" algn="l">
              <a:buFont typeface="Arial"/>
              <a:buChar char="●"/>
            </a:pPr>
            <a:r>
              <a:rPr lang="kk-KZ" sz="1400" dirty="0">
                <a:solidFill>
                  <a:srgbClr val="1E2761"/>
                </a:solidFill>
                <a:latin typeface="Calibri"/>
              </a:rPr>
              <a:t>Стандартты клиникалық хаттама бойынша бес класты DR градациялау (DR 0–DR 4)</a:t>
            </a:r>
          </a:p>
          <a:p>
            <a:pPr marL="228600" indent="-228600" algn="l">
              <a:buFont typeface="Arial"/>
              <a:buChar char="●"/>
            </a:pPr>
            <a:r>
              <a:rPr lang="kk-KZ" sz="1400" dirty="0">
                <a:solidFill>
                  <a:srgbClr val="1E2761"/>
                </a:solidFill>
                <a:latin typeface="Calibri"/>
              </a:rPr>
              <a:t>Деректер жиынтығы: EyePACS (негізгі), IDRiD, Messidor-2, RFMiD, DDR, ODIR-5K</a:t>
            </a:r>
          </a:p>
        </p:txBody>
      </p:sp>
      <p:sp>
        <p:nvSpPr>
          <p:cNvPr id="4" name="Объект 3">
            <a:extLst>
              <a:ext uri="{FF2B5EF4-FFF2-40B4-BE49-F238E27FC236}">
                <a16:creationId xmlns:a16="http://schemas.microsoft.com/office/drawing/2014/main" id="{3DF46955-67E9-40C8-09FB-0E6993E7BFCB}"/>
              </a:ext>
            </a:extLst>
          </p:cNvPr>
          <p:cNvSpPr>
            <a:spLocks noGrp="1"/>
          </p:cNvSpPr>
          <p:nvPr>
            <p:ph sz="half" idx="2"/>
          </p:nvPr>
        </p:nvSpPr>
        <p:spPr/>
        <p:txBody>
          <a:bodyPr/>
          <a:lstStyle/>
          <a:p>
            <a:pPr algn="ctr">
              <a:buNone/>
            </a:pPr>
            <a:r>
              <a:rPr lang="kk-KZ" sz="2000" b="1" dirty="0">
                <a:solidFill>
                  <a:srgbClr val="E8B84B"/>
                </a:solidFill>
                <a:latin typeface="Cambria"/>
              </a:rPr>
              <a:t>Зерттеу пәні</a:t>
            </a:r>
          </a:p>
          <a:p>
            <a:pPr marL="228600" indent="-228600" algn="l">
              <a:buFont typeface="Arial"/>
              <a:buChar char="●"/>
            </a:pPr>
            <a:r>
              <a:rPr lang="kk-KZ" sz="1400" dirty="0">
                <a:solidFill>
                  <a:srgbClr val="1E2761"/>
                </a:solidFill>
                <a:latin typeface="Calibri"/>
              </a:rPr>
              <a:t>DR градациялау үшін көз түбі кескінін жақсарту және CNN жіктеу әдістері</a:t>
            </a:r>
          </a:p>
          <a:p>
            <a:pPr marL="228600" indent="-228600" algn="l">
              <a:buFont typeface="Arial"/>
              <a:buChar char="●"/>
            </a:pPr>
            <a:r>
              <a:rPr lang="kk-KZ" sz="1400" dirty="0">
                <a:solidFill>
                  <a:srgbClr val="1E2761"/>
                </a:solidFill>
                <a:latin typeface="Calibri"/>
              </a:rPr>
              <a:t>Transfer Learning CNN жіктеуіштерімен интеграцияланған 6 кезеңді V4 preprocessing pipeline</a:t>
            </a:r>
          </a:p>
          <a:p>
            <a:pPr marL="228600" indent="-228600" algn="l">
              <a:buFont typeface="Arial"/>
              <a:buChar char="●"/>
            </a:pPr>
            <a:r>
              <a:rPr lang="kk-KZ" sz="1400" dirty="0">
                <a:solidFill>
                  <a:srgbClr val="1E2761"/>
                </a:solidFill>
                <a:latin typeface="Calibri"/>
              </a:rPr>
              <a:t>Жалпы торқабық ауруларына, басқа бейнелеу модальділіктеріне немесе көрсетілген деректер жиынтықтарынан тыс контексттерге қолданылмайды</a:t>
            </a:r>
          </a:p>
        </p:txBody>
      </p:sp>
      <p:sp>
        <p:nvSpPr>
          <p:cNvPr id="5" name="Прямоугольник 4">
            <a:extLst>
              <a:ext uri="{FF2B5EF4-FFF2-40B4-BE49-F238E27FC236}">
                <a16:creationId xmlns:a16="http://schemas.microsoft.com/office/drawing/2014/main" id="{AD145F44-9637-4580-A569-6B3BECB1F01F}"/>
              </a:ext>
            </a:extLst>
          </p:cNvPr>
          <p:cNvSpPr/>
          <p:nvPr/>
        </p:nvSpPr>
        <p:spPr>
          <a:xfrm>
            <a:off x="6070600" y="1968500"/>
            <a:ext cx="25400" cy="3810000"/>
          </a:xfrm>
          <a:prstGeom prst="rect">
            <a:avLst/>
          </a:prstGeom>
          <a:solidFill>
            <a:srgbClr val="CADC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6" name="Прямоугольник: скругленные углы 5">
            <a:extLst>
              <a:ext uri="{FF2B5EF4-FFF2-40B4-BE49-F238E27FC236}">
                <a16:creationId xmlns:a16="http://schemas.microsoft.com/office/drawing/2014/main" id="{FB678F5F-FD7A-4DA4-84C2-20D88820AF3D}"/>
              </a:ext>
            </a:extLst>
          </p:cNvPr>
          <p:cNvSpPr/>
          <p:nvPr/>
        </p:nvSpPr>
        <p:spPr>
          <a:xfrm>
            <a:off x="1651000" y="6197600"/>
            <a:ext cx="8890000" cy="444500"/>
          </a:xfrm>
          <a:prstGeom prst="roundRect">
            <a:avLst/>
          </a:prstGeom>
          <a:solidFill>
            <a:srgbClr val="F0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i="1">
                <a:solidFill>
                  <a:srgbClr val="1E2761"/>
                </a:solidFill>
                <a:latin typeface="Calibri Light"/>
                <a:ea typeface="Calibri Light"/>
                <a:cs typeface="Calibri Light"/>
              </a:rPr>
              <a:t>Scope: Bounded to 5-class DR grading per IT-1</a:t>
            </a:r>
            <a:endParaRPr lang="ru-RU" sz="1400" i="1">
              <a:solidFill>
                <a:srgbClr val="1E2761"/>
              </a:solidFill>
              <a:latin typeface="Calibri Light"/>
              <a:ea typeface="Calibri Light"/>
              <a:cs typeface="Calibri Light"/>
            </a:endParaRPr>
          </a:p>
        </p:txBody>
      </p:sp>
      <p:pic>
        <p:nvPicPr>
          <p:cNvPr id="7" name="Graphic 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75000" y="5588000"/>
            <a:ext cx="508000" cy="508000"/>
          </a:xfrm>
          <a:prstGeom prst="rect">
            <a:avLst/>
          </a:prstGeom>
        </p:spPr>
      </p:pic>
      <p:pic>
        <p:nvPicPr>
          <p:cNvPr id="8" name="Graphic 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09000" y="5588000"/>
            <a:ext cx="508000" cy="508000"/>
          </a:xfrm>
          <a:prstGeom prst="rect">
            <a:avLst/>
          </a:prstGeom>
        </p:spPr>
      </p:pic>
    </p:spTree>
    <p:extLst>
      <p:ext uri="{BB962C8B-B14F-4D97-AF65-F5344CB8AC3E}">
        <p14:creationId xmlns:p14="http://schemas.microsoft.com/office/powerpoint/2010/main" val="1264904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A0F0241-70DC-3224-0B62-3585F3C74CA0}"/>
              </a:ext>
            </a:extLst>
          </p:cNvPr>
          <p:cNvSpPr>
            <a:spLocks noGrp="1"/>
          </p:cNvSpPr>
          <p:nvPr>
            <p:ph type="title"/>
          </p:nvPr>
        </p:nvSpPr>
        <p:spPr/>
        <p:txBody>
          <a:bodyPr/>
          <a:lstStyle/>
          <a:p>
            <a:pPr algn="l">
              <a:buNone/>
            </a:pPr>
            <a:r>
              <a:rPr lang="kk-KZ" sz="3200" b="1" dirty="0">
                <a:solidFill>
                  <a:srgbClr val="1E2761"/>
                </a:solidFill>
                <a:latin typeface="Cambria"/>
              </a:rPr>
              <a:t>Ғылыми жаңалық</a:t>
            </a:r>
          </a:p>
        </p:txBody>
      </p:sp>
      <p:sp>
        <p:nvSpPr>
          <p:cNvPr id="3" name="Прямоугольник: скругленные углы 2">
            <a:extLst>
              <a:ext uri="{FF2B5EF4-FFF2-40B4-BE49-F238E27FC236}">
                <a16:creationId xmlns:a16="http://schemas.microsoft.com/office/drawing/2014/main" id="{F9A2D8D1-2253-4B8E-8738-382EA4E80E80}"/>
              </a:ext>
            </a:extLst>
          </p:cNvPr>
          <p:cNvSpPr/>
          <p:nvPr/>
        </p:nvSpPr>
        <p:spPr>
          <a:xfrm>
            <a:off x="698500" y="1651000"/>
            <a:ext cx="5334000" cy="1422400"/>
          </a:xfrm>
          <a:prstGeom prst="roundRect">
            <a:avLst/>
          </a:prstGeom>
          <a:solidFill>
            <a:srgbClr val="1E276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4" name="Овал 3">
            <a:extLst>
              <a:ext uri="{FF2B5EF4-FFF2-40B4-BE49-F238E27FC236}">
                <a16:creationId xmlns:a16="http://schemas.microsoft.com/office/drawing/2014/main" id="{8C639C86-9461-4DA3-B118-8EEC71461AEA}"/>
              </a:ext>
            </a:extLst>
          </p:cNvPr>
          <p:cNvSpPr/>
          <p:nvPr/>
        </p:nvSpPr>
        <p:spPr>
          <a:xfrm>
            <a:off x="850900" y="1778000"/>
            <a:ext cx="533400" cy="533400"/>
          </a:xfrm>
          <a:prstGeom prst="ellipse">
            <a:avLst/>
          </a:prstGeom>
          <a:solidFill>
            <a:srgbClr val="E8B84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Calibri"/>
                <a:ea typeface="Calibri"/>
                <a:cs typeface="Calibri"/>
              </a:rPr>
              <a:t>N-1</a:t>
            </a:r>
            <a:endParaRPr lang="ru-RU" sz="1400" b="1">
              <a:solidFill>
                <a:srgbClr val="FFFFFF"/>
              </a:solidFill>
              <a:latin typeface="Calibri"/>
              <a:ea typeface="Calibri"/>
              <a:cs typeface="Calibri"/>
            </a:endParaRPr>
          </a:p>
        </p:txBody>
      </p:sp>
      <p:sp>
        <p:nvSpPr>
          <p:cNvPr id="5" name="TextBox 4">
            <a:extLst>
              <a:ext uri="{FF2B5EF4-FFF2-40B4-BE49-F238E27FC236}">
                <a16:creationId xmlns:a16="http://schemas.microsoft.com/office/drawing/2014/main" id="{F087165A-6D1D-423F-95E8-31A9231D4D3E}"/>
              </a:ext>
            </a:extLst>
          </p:cNvPr>
          <p:cNvSpPr txBox="1"/>
          <p:nvPr/>
        </p:nvSpPr>
        <p:spPr>
          <a:xfrm>
            <a:off x="1485900" y="1752600"/>
            <a:ext cx="4343400" cy="1219200"/>
          </a:xfrm>
          <a:prstGeom prst="rect">
            <a:avLst/>
          </a:prstGeom>
          <a:noFill/>
          <a:ln>
            <a:noFill/>
          </a:ln>
        </p:spPr>
        <p:txBody>
          <a:bodyPr vertOverflow="overflow" vert="horz" wrap="square" rtlCol="0" anchor="ctr" anchorCtr="0">
            <a:spAutoFit/>
          </a:bodyPr>
          <a:lstStyle/>
          <a:p>
            <a:pPr algn="l"/>
            <a:r>
              <a:rPr lang="kk-KZ" sz="1400">
                <a:solidFill>
                  <a:srgbClr val="FFFFFF"/>
                </a:solidFill>
                <a:latin typeface="Calibri"/>
              </a:rPr>
              <a:t>Интеграцияланған 6 кезеңді V4 pipeline модель компоненті ретінде
(модель = preprocessing + CNN)</a:t>
            </a:r>
          </a:p>
        </p:txBody>
      </p:sp>
      <p:sp>
        <p:nvSpPr>
          <p:cNvPr id="6" name="Прямоугольник: скругленные углы 5">
            <a:extLst>
              <a:ext uri="{FF2B5EF4-FFF2-40B4-BE49-F238E27FC236}">
                <a16:creationId xmlns:a16="http://schemas.microsoft.com/office/drawing/2014/main" id="{39F1BD9F-BB86-4166-9176-8CC46A087403}"/>
              </a:ext>
            </a:extLst>
          </p:cNvPr>
          <p:cNvSpPr/>
          <p:nvPr/>
        </p:nvSpPr>
        <p:spPr>
          <a:xfrm>
            <a:off x="6413500" y="1651000"/>
            <a:ext cx="5334000" cy="1422400"/>
          </a:xfrm>
          <a:prstGeom prst="roundRect">
            <a:avLst/>
          </a:prstGeom>
          <a:solidFill>
            <a:srgbClr val="F0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7" name="Овал 6">
            <a:extLst>
              <a:ext uri="{FF2B5EF4-FFF2-40B4-BE49-F238E27FC236}">
                <a16:creationId xmlns:a16="http://schemas.microsoft.com/office/drawing/2014/main" id="{235CAF26-E277-44C8-AA98-B2E612ED8A63}"/>
              </a:ext>
            </a:extLst>
          </p:cNvPr>
          <p:cNvSpPr/>
          <p:nvPr/>
        </p:nvSpPr>
        <p:spPr>
          <a:xfrm>
            <a:off x="6565900" y="1778000"/>
            <a:ext cx="533400" cy="533400"/>
          </a:xfrm>
          <a:prstGeom prst="ellipse">
            <a:avLst/>
          </a:prstGeom>
          <a:solidFill>
            <a:srgbClr val="3A7BD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Calibri"/>
                <a:ea typeface="Calibri"/>
                <a:cs typeface="Calibri"/>
              </a:rPr>
              <a:t>N-2</a:t>
            </a:r>
            <a:endParaRPr lang="ru-RU" sz="1400" b="1">
              <a:solidFill>
                <a:srgbClr val="FFFFFF"/>
              </a:solidFill>
              <a:latin typeface="Calibri"/>
              <a:ea typeface="Calibri"/>
              <a:cs typeface="Calibri"/>
            </a:endParaRPr>
          </a:p>
        </p:txBody>
      </p:sp>
      <p:sp>
        <p:nvSpPr>
          <p:cNvPr id="8" name="TextBox 7">
            <a:extLst>
              <a:ext uri="{FF2B5EF4-FFF2-40B4-BE49-F238E27FC236}">
                <a16:creationId xmlns:a16="http://schemas.microsoft.com/office/drawing/2014/main" id="{4A42A06D-3818-44DF-ADF0-DCF900C9C341}"/>
              </a:ext>
            </a:extLst>
          </p:cNvPr>
          <p:cNvSpPr txBox="1"/>
          <p:nvPr/>
        </p:nvSpPr>
        <p:spPr>
          <a:xfrm>
            <a:off x="7200900" y="1752600"/>
            <a:ext cx="4343400" cy="1219200"/>
          </a:xfrm>
          <a:prstGeom prst="rect">
            <a:avLst/>
          </a:prstGeom>
          <a:noFill/>
          <a:ln>
            <a:noFill/>
          </a:ln>
        </p:spPr>
        <p:txBody>
          <a:bodyPr vertOverflow="overflow" vert="horz" wrap="square" rtlCol="0" anchor="ctr" anchorCtr="0">
            <a:spAutoFit/>
          </a:bodyPr>
          <a:lstStyle/>
          <a:p>
            <a:pPr algn="l"/>
            <a:r>
              <a:rPr lang="kk-KZ" sz="1400">
                <a:solidFill>
                  <a:srgbClr val="FFFFFF"/>
                </a:solidFill>
                <a:latin typeface="Calibri"/>
              </a:rPr>
              <a:t>Қос шектеулі клип лимитімен жетілдірілген CLAHE (Upgraded CLAHE)
LAB L-арнасында стохастикалық қолдану</a:t>
            </a:r>
          </a:p>
        </p:txBody>
      </p:sp>
      <p:sp>
        <p:nvSpPr>
          <p:cNvPr id="9" name="Прямоугольник: скругленные углы 8">
            <a:extLst>
              <a:ext uri="{FF2B5EF4-FFF2-40B4-BE49-F238E27FC236}">
                <a16:creationId xmlns:a16="http://schemas.microsoft.com/office/drawing/2014/main" id="{D1CE7A60-A032-4346-B2D5-238962BA5E59}"/>
              </a:ext>
            </a:extLst>
          </p:cNvPr>
          <p:cNvSpPr/>
          <p:nvPr/>
        </p:nvSpPr>
        <p:spPr>
          <a:xfrm>
            <a:off x="698500" y="3302000"/>
            <a:ext cx="5334000" cy="1422400"/>
          </a:xfrm>
          <a:prstGeom prst="roundRect">
            <a:avLst/>
          </a:prstGeom>
          <a:solidFill>
            <a:srgbClr val="F0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10" name="Овал 9">
            <a:extLst>
              <a:ext uri="{FF2B5EF4-FFF2-40B4-BE49-F238E27FC236}">
                <a16:creationId xmlns:a16="http://schemas.microsoft.com/office/drawing/2014/main" id="{455A585A-BC77-42FC-B9E6-D01C11224C2B}"/>
              </a:ext>
            </a:extLst>
          </p:cNvPr>
          <p:cNvSpPr/>
          <p:nvPr/>
        </p:nvSpPr>
        <p:spPr>
          <a:xfrm>
            <a:off x="850900" y="3429000"/>
            <a:ext cx="533400" cy="533400"/>
          </a:xfrm>
          <a:prstGeom prst="ellipse">
            <a:avLst/>
          </a:prstGeom>
          <a:solidFill>
            <a:srgbClr val="3A7BD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Calibri"/>
                <a:ea typeface="Calibri"/>
                <a:cs typeface="Calibri"/>
              </a:rPr>
              <a:t>N-3</a:t>
            </a:r>
            <a:endParaRPr lang="ru-RU" sz="1400" b="1">
              <a:solidFill>
                <a:srgbClr val="FFFFFF"/>
              </a:solidFill>
              <a:latin typeface="Calibri"/>
              <a:ea typeface="Calibri"/>
              <a:cs typeface="Calibri"/>
            </a:endParaRPr>
          </a:p>
        </p:txBody>
      </p:sp>
      <p:sp>
        <p:nvSpPr>
          <p:cNvPr id="11" name="TextBox 10">
            <a:extLst>
              <a:ext uri="{FF2B5EF4-FFF2-40B4-BE49-F238E27FC236}">
                <a16:creationId xmlns:a16="http://schemas.microsoft.com/office/drawing/2014/main" id="{5E3A7945-813F-438E-A3F7-987B0C4B8171}"/>
              </a:ext>
            </a:extLst>
          </p:cNvPr>
          <p:cNvSpPr txBox="1"/>
          <p:nvPr/>
        </p:nvSpPr>
        <p:spPr>
          <a:xfrm>
            <a:off x="1485900" y="3403600"/>
            <a:ext cx="4343400" cy="1219200"/>
          </a:xfrm>
          <a:prstGeom prst="rect">
            <a:avLst/>
          </a:prstGeom>
          <a:noFill/>
          <a:ln>
            <a:noFill/>
          </a:ln>
        </p:spPr>
        <p:txBody>
          <a:bodyPr vertOverflow="overflow" vert="horz" wrap="square" rtlCol="0" anchor="ctr" anchorCtr="0">
            <a:spAutoFit/>
          </a:bodyPr>
          <a:lstStyle/>
          <a:p>
            <a:pPr algn="l"/>
            <a:r>
              <a:rPr lang="kk-KZ" sz="1400">
                <a:solidFill>
                  <a:srgbClr val="FFFFFF"/>
                </a:solidFill>
                <a:latin typeface="Calibri"/>
              </a:rPr>
              <a:t>CLAHE сезімталдық сипаттамасы
IDRiD деректер жиынтығындағы per-class F1 профилі</a:t>
            </a:r>
          </a:p>
        </p:txBody>
      </p:sp>
      <p:sp>
        <p:nvSpPr>
          <p:cNvPr id="12" name="Прямоугольник: скругленные углы 11">
            <a:extLst>
              <a:ext uri="{FF2B5EF4-FFF2-40B4-BE49-F238E27FC236}">
                <a16:creationId xmlns:a16="http://schemas.microsoft.com/office/drawing/2014/main" id="{9B7D6F10-D6F2-4C7C-90F8-AB1112EB5071}"/>
              </a:ext>
            </a:extLst>
          </p:cNvPr>
          <p:cNvSpPr/>
          <p:nvPr/>
        </p:nvSpPr>
        <p:spPr>
          <a:xfrm>
            <a:off x="6413500" y="3302000"/>
            <a:ext cx="5334000" cy="1422400"/>
          </a:xfrm>
          <a:prstGeom prst="roundRect">
            <a:avLst/>
          </a:prstGeom>
          <a:solidFill>
            <a:srgbClr val="F0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13" name="Овал 12">
            <a:extLst>
              <a:ext uri="{FF2B5EF4-FFF2-40B4-BE49-F238E27FC236}">
                <a16:creationId xmlns:a16="http://schemas.microsoft.com/office/drawing/2014/main" id="{9799A4F6-AF10-4C77-9E04-6A6BDCB11CBD}"/>
              </a:ext>
            </a:extLst>
          </p:cNvPr>
          <p:cNvSpPr/>
          <p:nvPr/>
        </p:nvSpPr>
        <p:spPr>
          <a:xfrm>
            <a:off x="6565900" y="3429000"/>
            <a:ext cx="533400" cy="533400"/>
          </a:xfrm>
          <a:prstGeom prst="ellipse">
            <a:avLst/>
          </a:prstGeom>
          <a:solidFill>
            <a:srgbClr val="3A7BD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Calibri"/>
                <a:ea typeface="Calibri"/>
                <a:cs typeface="Calibri"/>
              </a:rPr>
              <a:t>N-4</a:t>
            </a:r>
            <a:endParaRPr lang="ru-RU" sz="1400" b="1">
              <a:solidFill>
                <a:srgbClr val="FFFFFF"/>
              </a:solidFill>
              <a:latin typeface="Calibri"/>
              <a:ea typeface="Calibri"/>
              <a:cs typeface="Calibri"/>
            </a:endParaRPr>
          </a:p>
        </p:txBody>
      </p:sp>
      <p:sp>
        <p:nvSpPr>
          <p:cNvPr id="14" name="TextBox 13">
            <a:extLst>
              <a:ext uri="{FF2B5EF4-FFF2-40B4-BE49-F238E27FC236}">
                <a16:creationId xmlns:a16="http://schemas.microsoft.com/office/drawing/2014/main" id="{93A5C169-7A76-45F1-9306-79526D3A40AD}"/>
              </a:ext>
            </a:extLst>
          </p:cNvPr>
          <p:cNvSpPr txBox="1"/>
          <p:nvPr/>
        </p:nvSpPr>
        <p:spPr>
          <a:xfrm>
            <a:off x="7200900" y="3403600"/>
            <a:ext cx="4343400" cy="1219200"/>
          </a:xfrm>
          <a:prstGeom prst="rect">
            <a:avLst/>
          </a:prstGeom>
          <a:noFill/>
          <a:ln>
            <a:noFill/>
          </a:ln>
        </p:spPr>
        <p:txBody>
          <a:bodyPr vertOverflow="overflow" vert="horz" wrap="square" rtlCol="0" anchor="ctr" anchorCtr="0">
            <a:spAutoFit/>
          </a:bodyPr>
          <a:lstStyle/>
          <a:p>
            <a:pPr algn="l"/>
            <a:r>
              <a:rPr lang="kk-KZ" sz="1400">
                <a:solidFill>
                  <a:srgbClr val="FFFFFF"/>
                </a:solidFill>
                <a:latin typeface="Calibri"/>
              </a:rPr>
              <a:t>Зақымдану назарының қабаттасуы (ALO)
жаңа асимметриялық түсіндірме метрикасы</a:t>
            </a:r>
          </a:p>
        </p:txBody>
      </p:sp>
      <p:sp>
        <p:nvSpPr>
          <p:cNvPr id="15" name="Прямоугольник: скругленные углы 14">
            <a:extLst>
              <a:ext uri="{FF2B5EF4-FFF2-40B4-BE49-F238E27FC236}">
                <a16:creationId xmlns:a16="http://schemas.microsoft.com/office/drawing/2014/main" id="{7194D1A7-0983-44C4-B84F-AF8E8F692D01}"/>
              </a:ext>
            </a:extLst>
          </p:cNvPr>
          <p:cNvSpPr/>
          <p:nvPr/>
        </p:nvSpPr>
        <p:spPr>
          <a:xfrm>
            <a:off x="698500" y="4953000"/>
            <a:ext cx="5334000" cy="1422400"/>
          </a:xfrm>
          <a:prstGeom prst="roundRect">
            <a:avLst/>
          </a:prstGeom>
          <a:solidFill>
            <a:srgbClr val="1E276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16" name="Овал 15">
            <a:extLst>
              <a:ext uri="{FF2B5EF4-FFF2-40B4-BE49-F238E27FC236}">
                <a16:creationId xmlns:a16="http://schemas.microsoft.com/office/drawing/2014/main" id="{7E5C2022-9707-4479-BF8B-4B38AB248276}"/>
              </a:ext>
            </a:extLst>
          </p:cNvPr>
          <p:cNvSpPr/>
          <p:nvPr/>
        </p:nvSpPr>
        <p:spPr>
          <a:xfrm>
            <a:off x="850900" y="5080000"/>
            <a:ext cx="533400" cy="533400"/>
          </a:xfrm>
          <a:prstGeom prst="ellipse">
            <a:avLst/>
          </a:prstGeom>
          <a:solidFill>
            <a:srgbClr val="E8B84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Calibri"/>
                <a:ea typeface="Calibri"/>
                <a:cs typeface="Calibri"/>
              </a:rPr>
              <a:t>N-5</a:t>
            </a:r>
            <a:endParaRPr lang="ru-RU" sz="1400" b="1">
              <a:solidFill>
                <a:srgbClr val="FFFFFF"/>
              </a:solidFill>
              <a:latin typeface="Calibri"/>
              <a:ea typeface="Calibri"/>
              <a:cs typeface="Calibri"/>
            </a:endParaRPr>
          </a:p>
        </p:txBody>
      </p:sp>
      <p:sp>
        <p:nvSpPr>
          <p:cNvPr id="17" name="TextBox 16">
            <a:extLst>
              <a:ext uri="{FF2B5EF4-FFF2-40B4-BE49-F238E27FC236}">
                <a16:creationId xmlns:a16="http://schemas.microsoft.com/office/drawing/2014/main" id="{9FD69A79-E19B-432E-8614-0B70AD8072CF}"/>
              </a:ext>
            </a:extLst>
          </p:cNvPr>
          <p:cNvSpPr txBox="1"/>
          <p:nvPr/>
        </p:nvSpPr>
        <p:spPr>
          <a:xfrm>
            <a:off x="1485900" y="5054600"/>
            <a:ext cx="4343400" cy="1219200"/>
          </a:xfrm>
          <a:prstGeom prst="rect">
            <a:avLst/>
          </a:prstGeom>
          <a:noFill/>
          <a:ln>
            <a:noFill/>
          </a:ln>
        </p:spPr>
        <p:txBody>
          <a:bodyPr vertOverflow="overflow" vert="horz" wrap="square" rtlCol="0" anchor="ctr" anchorCtr="0">
            <a:spAutoFit/>
          </a:bodyPr>
          <a:lstStyle/>
          <a:p>
            <a:pPr algn="l"/>
            <a:r>
              <a:rPr lang="kk-KZ" sz="1400">
                <a:solidFill>
                  <a:srgbClr val="FFFFFF"/>
                </a:solidFill>
                <a:latin typeface="Calibri"/>
              </a:rPr>
              <a:t>Жүйелі деректер жиынтықтары арасындағы жалпылау бағалауы
G ≥ 0.85 алдын ала тіркелген шекпен</a:t>
            </a:r>
          </a:p>
        </p:txBody>
      </p:sp>
      <p:sp>
        <p:nvSpPr>
          <p:cNvPr id="18" name="Прямоугольник: скругленные углы 17">
            <a:extLst>
              <a:ext uri="{FF2B5EF4-FFF2-40B4-BE49-F238E27FC236}">
                <a16:creationId xmlns:a16="http://schemas.microsoft.com/office/drawing/2014/main" id="{685DDE5C-E0BE-4AF6-9FD7-1B00A0E7561D}"/>
              </a:ext>
            </a:extLst>
          </p:cNvPr>
          <p:cNvSpPr/>
          <p:nvPr/>
        </p:nvSpPr>
        <p:spPr>
          <a:xfrm>
            <a:off x="6413500" y="4953000"/>
            <a:ext cx="5334000" cy="1422400"/>
          </a:xfrm>
          <a:prstGeom prst="roundRect">
            <a:avLst/>
          </a:prstGeom>
          <a:solidFill>
            <a:srgbClr val="F0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19" name="Овал 18">
            <a:extLst>
              <a:ext uri="{FF2B5EF4-FFF2-40B4-BE49-F238E27FC236}">
                <a16:creationId xmlns:a16="http://schemas.microsoft.com/office/drawing/2014/main" id="{0C3F6F15-0642-470F-8EDD-5CF973FDAEA1}"/>
              </a:ext>
            </a:extLst>
          </p:cNvPr>
          <p:cNvSpPr/>
          <p:nvPr/>
        </p:nvSpPr>
        <p:spPr>
          <a:xfrm>
            <a:off x="6565900" y="5080000"/>
            <a:ext cx="533400" cy="533400"/>
          </a:xfrm>
          <a:prstGeom prst="ellipse">
            <a:avLst/>
          </a:prstGeom>
          <a:solidFill>
            <a:srgbClr val="3A7BD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Calibri"/>
                <a:ea typeface="Calibri"/>
                <a:cs typeface="Calibri"/>
              </a:rPr>
              <a:t>N-6</a:t>
            </a:r>
            <a:endParaRPr lang="ru-RU" sz="1400" b="1">
              <a:solidFill>
                <a:srgbClr val="FFFFFF"/>
              </a:solidFill>
              <a:latin typeface="Calibri"/>
              <a:ea typeface="Calibri"/>
              <a:cs typeface="Calibri"/>
            </a:endParaRPr>
          </a:p>
        </p:txBody>
      </p:sp>
      <p:sp>
        <p:nvSpPr>
          <p:cNvPr id="20" name="TextBox 19">
            <a:extLst>
              <a:ext uri="{FF2B5EF4-FFF2-40B4-BE49-F238E27FC236}">
                <a16:creationId xmlns:a16="http://schemas.microsoft.com/office/drawing/2014/main" id="{858089C8-476E-4B11-B425-8EC9E2DB6E9B}"/>
              </a:ext>
            </a:extLst>
          </p:cNvPr>
          <p:cNvSpPr txBox="1"/>
          <p:nvPr/>
        </p:nvSpPr>
        <p:spPr>
          <a:xfrm>
            <a:off x="7200900" y="5054600"/>
            <a:ext cx="4343400" cy="1219200"/>
          </a:xfrm>
          <a:prstGeom prst="rect">
            <a:avLst/>
          </a:prstGeom>
          <a:noFill/>
          <a:ln>
            <a:noFill/>
          </a:ln>
        </p:spPr>
        <p:txBody>
          <a:bodyPr vertOverflow="overflow" vert="horz" wrap="square" rtlCol="0" anchor="ctr" anchorCtr="0">
            <a:spAutoFit/>
          </a:bodyPr>
          <a:lstStyle/>
          <a:p>
            <a:pPr algn="l"/>
            <a:r>
              <a:rPr lang="kk-KZ" sz="1400">
                <a:solidFill>
                  <a:srgbClr val="FFFFFF"/>
                </a:solidFill>
                <a:latin typeface="Calibri"/>
              </a:rPr>
              <a:t>Құрылғылар арасындағы тұрақтылық бағалау матрицасы
Canon, Topcon, Kowa, Zeiss аппараттары бойынша</a:t>
            </a:r>
          </a:p>
        </p:txBody>
      </p:sp>
      <p:sp>
        <p:nvSpPr>
          <p:cNvPr id="21" name="TextBox 20">
            <a:extLst>
              <a:ext uri="{FF2B5EF4-FFF2-40B4-BE49-F238E27FC236}">
                <a16:creationId xmlns:a16="http://schemas.microsoft.com/office/drawing/2014/main" id="{831C035E-6AE7-45D0-91DD-6BBE2D7CC656}"/>
              </a:ext>
            </a:extLst>
          </p:cNvPr>
          <p:cNvSpPr txBox="1"/>
          <p:nvPr/>
        </p:nvSpPr>
        <p:spPr>
          <a:xfrm>
            <a:off x="698500" y="6451600"/>
            <a:ext cx="2540000" cy="254000"/>
          </a:xfrm>
          <a:prstGeom prst="rect">
            <a:avLst/>
          </a:prstGeom>
          <a:noFill/>
          <a:ln>
            <a:noFill/>
          </a:ln>
        </p:spPr>
        <p:txBody>
          <a:bodyPr vertOverflow="overflow" vert="horz" wrap="square" rtlCol="0" anchor="t">
            <a:spAutoFit/>
          </a:bodyPr>
          <a:lstStyle/>
          <a:p>
            <a:pPr algn="l"/>
            <a:r>
              <a:rPr lang="kk-KZ" sz="1000" i="1">
                <a:solidFill>
                  <a:srgbClr val="888888"/>
                </a:solidFill>
                <a:latin typeface="Calibri Light"/>
              </a:rPr>
              <a:t>N-1 – N-6: ғылыми жаңалық элементтері</a:t>
            </a:r>
          </a:p>
        </p:txBody>
      </p:sp>
      <p:pic>
        <p:nvPicPr>
          <p:cNvPr id="22" name="Graphic 2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66500" y="508000"/>
            <a:ext cx="609600" cy="609600"/>
          </a:xfrm>
          <a:prstGeom prst="rect">
            <a:avLst/>
          </a:prstGeom>
        </p:spPr>
      </p:pic>
    </p:spTree>
    <p:extLst>
      <p:ext uri="{BB962C8B-B14F-4D97-AF65-F5344CB8AC3E}">
        <p14:creationId xmlns:p14="http://schemas.microsoft.com/office/powerpoint/2010/main" val="976859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761">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27A661-901C-44A3-9F34-B55E32D6FFBE}"/>
              </a:ext>
            </a:extLst>
          </p:cNvPr>
          <p:cNvSpPr txBox="1"/>
          <p:nvPr/>
        </p:nvSpPr>
        <p:spPr>
          <a:xfrm>
            <a:off x="304800" y="393700"/>
            <a:ext cx="11582400" cy="533400"/>
          </a:xfrm>
          <a:prstGeom prst="rect">
            <a:avLst/>
          </a:prstGeom>
          <a:noFill/>
          <a:ln>
            <a:noFill/>
          </a:ln>
        </p:spPr>
        <p:txBody>
          <a:bodyPr vertOverflow="overflow" vert="horz" wrap="square" rtlCol="0" anchor="t">
            <a:spAutoFit/>
          </a:bodyPr>
          <a:lstStyle/>
          <a:p>
            <a:pPr algn="l"/>
            <a:r>
              <a:rPr lang="kk-KZ" sz="3200" b="1">
                <a:solidFill>
                  <a:srgbClr val="FFFFFF"/>
                </a:solidFill>
                <a:latin typeface="Cambria"/>
                <a:ea typeface="Cambria"/>
              </a:rPr>
              <a:t>Негізгі гипотеза және декомпозициясы</a:t>
            </a:r>
          </a:p>
        </p:txBody>
      </p:sp>
      <p:sp>
        <p:nvSpPr>
          <p:cNvPr id="3" name="Прямоугольник: скругленные углы 2">
            <a:extLst>
              <a:ext uri="{FF2B5EF4-FFF2-40B4-BE49-F238E27FC236}">
                <a16:creationId xmlns:a16="http://schemas.microsoft.com/office/drawing/2014/main" id="{04AC22E3-94EE-4546-AFAC-30453CC6B4EC}"/>
              </a:ext>
            </a:extLst>
          </p:cNvPr>
          <p:cNvSpPr/>
          <p:nvPr/>
        </p:nvSpPr>
        <p:spPr>
          <a:xfrm>
            <a:off x="609600" y="1079500"/>
            <a:ext cx="10972800" cy="990600"/>
          </a:xfrm>
          <a:prstGeom prst="roundRect">
            <a:avLst/>
          </a:prstGeom>
          <a:solidFill>
            <a:srgbClr val="0F1438"/>
          </a:solidFill>
          <a:ln w="25400" cap="flat" cmpd="sng" algn="ctr">
            <a:solidFill>
              <a:srgbClr val="3A7BD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kk-KZ" sz="1800" b="1" dirty="0">
                <a:solidFill>
                  <a:srgbClr val="E8B84B"/>
                </a:solidFill>
                <a:latin typeface="Cambria"/>
              </a:rPr>
              <a:t>Негізгі гипотеза</a:t>
            </a:r>
          </a:p>
          <a:p>
            <a:pPr algn="ctr">
              <a:buNone/>
            </a:pPr>
            <a:r>
              <a:rPr lang="kk-KZ" sz="1400" dirty="0">
                <a:solidFill>
                  <a:srgbClr val="CADCFC"/>
                </a:solidFill>
                <a:latin typeface="Calibri"/>
              </a:rPr>
              <a:t>Ұсынылған preprocessing pipeline көз түбі бейнелеу құрылғылары бойынша домен вариабельділігін азайтады,</a:t>
            </a:r>
          </a:p>
          <a:p>
            <a:pPr algn="ctr">
              <a:buNone/>
            </a:pPr>
            <a:r>
              <a:rPr lang="kk-KZ" sz="1400" dirty="0">
                <a:solidFill>
                  <a:srgbClr val="CADCFC"/>
                </a:solidFill>
                <a:latin typeface="Calibri"/>
              </a:rPr>
              <a:t>CNN-негізді DR анықтауды жақсарту үшін диагностикалық белгілерді сақтайды</a:t>
            </a:r>
          </a:p>
        </p:txBody>
      </p:sp>
      <p:sp>
        <p:nvSpPr>
          <p:cNvPr id="4" name="Прямоугольник 3">
            <a:extLst>
              <a:ext uri="{FF2B5EF4-FFF2-40B4-BE49-F238E27FC236}">
                <a16:creationId xmlns:a16="http://schemas.microsoft.com/office/drawing/2014/main" id="{3E9C0EFE-8201-4E81-A090-E391D61E0E26}"/>
              </a:ext>
            </a:extLst>
          </p:cNvPr>
          <p:cNvSpPr/>
          <p:nvPr/>
        </p:nvSpPr>
        <p:spPr>
          <a:xfrm>
            <a:off x="2298700" y="2070100"/>
            <a:ext cx="25400" cy="317500"/>
          </a:xfrm>
          <a:prstGeom prst="rect">
            <a:avLst/>
          </a:prstGeom>
          <a:solidFill>
            <a:srgbClr val="CADC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5" name="Прямоугольник: скругленные углы 4">
            <a:extLst>
              <a:ext uri="{FF2B5EF4-FFF2-40B4-BE49-F238E27FC236}">
                <a16:creationId xmlns:a16="http://schemas.microsoft.com/office/drawing/2014/main" id="{CEC32463-B22B-405D-A4F2-ECA1224AF526}"/>
              </a:ext>
            </a:extLst>
          </p:cNvPr>
          <p:cNvSpPr/>
          <p:nvPr/>
        </p:nvSpPr>
        <p:spPr>
          <a:xfrm>
            <a:off x="533400" y="2387600"/>
            <a:ext cx="3556000" cy="1244600"/>
          </a:xfrm>
          <a:prstGeom prst="roundRect">
            <a:avLst/>
          </a:prstGeom>
          <a:solidFill>
            <a:srgbClr val="0F1438"/>
          </a:solidFill>
          <a:ln w="19050" cap="flat" cmpd="sng" algn="ctr">
            <a:solidFill>
              <a:srgbClr val="3A7BD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kk-KZ" sz="1400" dirty="0">
                <a:solidFill>
                  <a:srgbClr val="FFFFFF"/>
                </a:solidFill>
                <a:latin typeface="Calibri"/>
              </a:rPr>
              <a:t>H-1: Алдын ала өңдеу басымдығы
Preprocessing-пен vs. preprocessing-сіз weighted F1, ROC-AUC, Cohen’s Kappa жақсаруы</a:t>
            </a:r>
          </a:p>
        </p:txBody>
      </p:sp>
      <p:sp>
        <p:nvSpPr>
          <p:cNvPr id="6" name="Прямоугольник 5">
            <a:extLst>
              <a:ext uri="{FF2B5EF4-FFF2-40B4-BE49-F238E27FC236}">
                <a16:creationId xmlns:a16="http://schemas.microsoft.com/office/drawing/2014/main" id="{6D49D0AD-67F9-4BBA-9726-23885ED83C74}"/>
              </a:ext>
            </a:extLst>
          </p:cNvPr>
          <p:cNvSpPr/>
          <p:nvPr/>
        </p:nvSpPr>
        <p:spPr>
          <a:xfrm>
            <a:off x="6083300" y="2070100"/>
            <a:ext cx="25400" cy="317500"/>
          </a:xfrm>
          <a:prstGeom prst="rect">
            <a:avLst/>
          </a:prstGeom>
          <a:solidFill>
            <a:srgbClr val="CADC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7" name="Прямоугольник: скругленные углы 6">
            <a:extLst>
              <a:ext uri="{FF2B5EF4-FFF2-40B4-BE49-F238E27FC236}">
                <a16:creationId xmlns:a16="http://schemas.microsoft.com/office/drawing/2014/main" id="{19746B1A-3245-427B-A212-0844C67C4388}"/>
              </a:ext>
            </a:extLst>
          </p:cNvPr>
          <p:cNvSpPr/>
          <p:nvPr/>
        </p:nvSpPr>
        <p:spPr>
          <a:xfrm>
            <a:off x="4318000" y="2387600"/>
            <a:ext cx="3556000" cy="1244600"/>
          </a:xfrm>
          <a:prstGeom prst="roundRect">
            <a:avLst/>
          </a:prstGeom>
          <a:solidFill>
            <a:srgbClr val="0F1438"/>
          </a:solidFill>
          <a:ln w="19050" cap="flat" cmpd="sng" algn="ctr">
            <a:solidFill>
              <a:srgbClr val="3A7BD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kk-KZ" sz="1400" dirty="0">
                <a:solidFill>
                  <a:srgbClr val="FFFFFF"/>
                </a:solidFill>
                <a:latin typeface="Calibri"/>
              </a:rPr>
              <a:t>H-2: CLAHE сезімталдығы
CLAHE clip limit-тің per-class F1-ге тәуелді сезімталдық профилі</a:t>
            </a:r>
          </a:p>
        </p:txBody>
      </p:sp>
      <p:sp>
        <p:nvSpPr>
          <p:cNvPr id="8" name="Прямоугольник 7">
            <a:extLst>
              <a:ext uri="{FF2B5EF4-FFF2-40B4-BE49-F238E27FC236}">
                <a16:creationId xmlns:a16="http://schemas.microsoft.com/office/drawing/2014/main" id="{009449F0-E36C-4B57-BD1E-AE9AB963A77B}"/>
              </a:ext>
            </a:extLst>
          </p:cNvPr>
          <p:cNvSpPr/>
          <p:nvPr/>
        </p:nvSpPr>
        <p:spPr>
          <a:xfrm>
            <a:off x="9867900" y="2070100"/>
            <a:ext cx="25400" cy="317500"/>
          </a:xfrm>
          <a:prstGeom prst="rect">
            <a:avLst/>
          </a:prstGeom>
          <a:solidFill>
            <a:srgbClr val="55555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9" name="Прямоугольник: скругленные углы 8">
            <a:extLst>
              <a:ext uri="{FF2B5EF4-FFF2-40B4-BE49-F238E27FC236}">
                <a16:creationId xmlns:a16="http://schemas.microsoft.com/office/drawing/2014/main" id="{D7E95682-4DC1-4EDD-B6B3-FB33806E6E96}"/>
              </a:ext>
            </a:extLst>
          </p:cNvPr>
          <p:cNvSpPr/>
          <p:nvPr/>
        </p:nvSpPr>
        <p:spPr>
          <a:xfrm>
            <a:off x="8102600" y="2387600"/>
            <a:ext cx="3556000" cy="1244600"/>
          </a:xfrm>
          <a:prstGeom prst="roundRect">
            <a:avLst/>
          </a:prstGeom>
          <a:solidFill>
            <a:srgbClr val="222233"/>
          </a:solidFill>
          <a:ln w="19050" cap="flat" cmpd="sng" algn="ctr">
            <a:solidFill>
              <a:srgbClr val="55555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kk-KZ" sz="1400" dirty="0">
                <a:solidFill>
                  <a:srgbClr val="FFFFFF"/>
                </a:solidFill>
                <a:latin typeface="Calibri"/>
              </a:rPr>
              <a:t>H-4: Деректер жиынтықтары арасында жалпылау
G = F1_external / F1_EyePACS ≥ 0.85 шекті мәнмен</a:t>
            </a:r>
          </a:p>
        </p:txBody>
      </p:sp>
      <p:sp>
        <p:nvSpPr>
          <p:cNvPr id="10" name="Прямоугольник 9">
            <a:extLst>
              <a:ext uri="{FF2B5EF4-FFF2-40B4-BE49-F238E27FC236}">
                <a16:creationId xmlns:a16="http://schemas.microsoft.com/office/drawing/2014/main" id="{C1483E25-1366-476A-A490-D0CA2A8CE23C}"/>
              </a:ext>
            </a:extLst>
          </p:cNvPr>
          <p:cNvSpPr/>
          <p:nvPr/>
        </p:nvSpPr>
        <p:spPr>
          <a:xfrm>
            <a:off x="2298700" y="3632200"/>
            <a:ext cx="25400" cy="558800"/>
          </a:xfrm>
          <a:prstGeom prst="rect">
            <a:avLst/>
          </a:prstGeom>
          <a:solidFill>
            <a:srgbClr val="CADC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11" name="Прямоугольник: скругленные углы 10">
            <a:extLst>
              <a:ext uri="{FF2B5EF4-FFF2-40B4-BE49-F238E27FC236}">
                <a16:creationId xmlns:a16="http://schemas.microsoft.com/office/drawing/2014/main" id="{0E2791CB-0EC2-4D41-9C97-401885DB11D7}"/>
              </a:ext>
            </a:extLst>
          </p:cNvPr>
          <p:cNvSpPr/>
          <p:nvPr/>
        </p:nvSpPr>
        <p:spPr>
          <a:xfrm>
            <a:off x="533400" y="4191000"/>
            <a:ext cx="3556000" cy="1333500"/>
          </a:xfrm>
          <a:prstGeom prst="roundRect">
            <a:avLst/>
          </a:prstGeom>
          <a:solidFill>
            <a:srgbClr val="0F1438"/>
          </a:solidFill>
          <a:ln w="19050" cap="flat" cmpd="sng" algn="ctr">
            <a:solidFill>
              <a:srgbClr val="3A7BD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kk-KZ" sz="1400" dirty="0">
                <a:solidFill>
                  <a:srgbClr val="FFFFFF"/>
                </a:solidFill>
                <a:latin typeface="Calibri"/>
              </a:rPr>
              <a:t>H-5: Түсіндірме (ALO)
Град-CAM ALO жақсаруы preprocessing-пен vs. baseline</a:t>
            </a:r>
          </a:p>
        </p:txBody>
      </p:sp>
      <p:sp>
        <p:nvSpPr>
          <p:cNvPr id="12" name="Прямоугольник 11">
            <a:extLst>
              <a:ext uri="{FF2B5EF4-FFF2-40B4-BE49-F238E27FC236}">
                <a16:creationId xmlns:a16="http://schemas.microsoft.com/office/drawing/2014/main" id="{A2A464A1-4D9E-4C85-80C9-F574A4DB70BA}"/>
              </a:ext>
            </a:extLst>
          </p:cNvPr>
          <p:cNvSpPr/>
          <p:nvPr/>
        </p:nvSpPr>
        <p:spPr>
          <a:xfrm>
            <a:off x="6083300" y="3632200"/>
            <a:ext cx="25400" cy="558800"/>
          </a:xfrm>
          <a:prstGeom prst="rect">
            <a:avLst/>
          </a:prstGeom>
          <a:solidFill>
            <a:srgbClr val="CADC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13" name="Прямоугольник: скругленные углы 12">
            <a:extLst>
              <a:ext uri="{FF2B5EF4-FFF2-40B4-BE49-F238E27FC236}">
                <a16:creationId xmlns:a16="http://schemas.microsoft.com/office/drawing/2014/main" id="{349CA574-2893-4414-9A18-B4E00FF1ED63}"/>
              </a:ext>
            </a:extLst>
          </p:cNvPr>
          <p:cNvSpPr/>
          <p:nvPr/>
        </p:nvSpPr>
        <p:spPr>
          <a:xfrm>
            <a:off x="4318000" y="4191000"/>
            <a:ext cx="3556000" cy="1333500"/>
          </a:xfrm>
          <a:prstGeom prst="roundRect">
            <a:avLst/>
          </a:prstGeom>
          <a:solidFill>
            <a:srgbClr val="0F1438"/>
          </a:solidFill>
          <a:ln w="19050" cap="flat" cmpd="sng" algn="ctr">
            <a:solidFill>
              <a:srgbClr val="3A7BD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kk-KZ" sz="1400" dirty="0">
                <a:solidFill>
                  <a:srgbClr val="FFFFFF"/>
                </a:solidFill>
                <a:latin typeface="Calibri"/>
              </a:rPr>
              <a:t>H-6: Құрылғы тұрақтылығы
Canon, Topcon, Kowa, Zeiss бойынша өнімділік вариансы</a:t>
            </a:r>
          </a:p>
        </p:txBody>
      </p:sp>
      <p:sp>
        <p:nvSpPr>
          <p:cNvPr id="14" name="Прямоугольник 13">
            <a:extLst>
              <a:ext uri="{FF2B5EF4-FFF2-40B4-BE49-F238E27FC236}">
                <a16:creationId xmlns:a16="http://schemas.microsoft.com/office/drawing/2014/main" id="{1822E531-C22A-4D32-B232-79C6A959A502}"/>
              </a:ext>
            </a:extLst>
          </p:cNvPr>
          <p:cNvSpPr/>
          <p:nvPr/>
        </p:nvSpPr>
        <p:spPr>
          <a:xfrm>
            <a:off x="9867900" y="3632200"/>
            <a:ext cx="25400" cy="558800"/>
          </a:xfrm>
          <a:prstGeom prst="rect">
            <a:avLst/>
          </a:prstGeom>
          <a:solidFill>
            <a:srgbClr val="CADC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15" name="Прямоугольник: скругленные углы 14">
            <a:extLst>
              <a:ext uri="{FF2B5EF4-FFF2-40B4-BE49-F238E27FC236}">
                <a16:creationId xmlns:a16="http://schemas.microsoft.com/office/drawing/2014/main" id="{81D16B88-C4D9-4D9C-98F5-2A13ED2AD3A0}"/>
              </a:ext>
            </a:extLst>
          </p:cNvPr>
          <p:cNvSpPr/>
          <p:nvPr/>
        </p:nvSpPr>
        <p:spPr>
          <a:xfrm>
            <a:off x="8102600" y="4191000"/>
            <a:ext cx="3556000" cy="1333500"/>
          </a:xfrm>
          <a:prstGeom prst="roundRect">
            <a:avLst/>
          </a:prstGeom>
          <a:solidFill>
            <a:srgbClr val="0F1438"/>
          </a:solidFill>
          <a:ln w="19050" cap="flat" cmpd="sng" algn="ctr">
            <a:solidFill>
              <a:srgbClr val="3A7BD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kk-KZ" sz="1400" strike="sngStrike" dirty="0">
                <a:solidFill>
                  <a:srgbClr val="888888"/>
                </a:solidFill>
                <a:latin typeface="Calibri"/>
              </a:rPr>
              <a:t>H-3: Екі кезеңді Fine-Tuning
[DROPPED V3]</a:t>
            </a:r>
          </a:p>
        </p:txBody>
      </p:sp>
      <p:sp>
        <p:nvSpPr>
          <p:cNvPr id="16" name="Прямоугольник: скругленные углы 15">
            <a:extLst>
              <a:ext uri="{FF2B5EF4-FFF2-40B4-BE49-F238E27FC236}">
                <a16:creationId xmlns:a16="http://schemas.microsoft.com/office/drawing/2014/main" id="{99B8C038-E7F1-485B-B575-0977F9D46DC4}"/>
              </a:ext>
            </a:extLst>
          </p:cNvPr>
          <p:cNvSpPr/>
          <p:nvPr/>
        </p:nvSpPr>
        <p:spPr>
          <a:xfrm>
            <a:off x="8864600" y="3263900"/>
            <a:ext cx="1270000" cy="355600"/>
          </a:xfrm>
          <a:prstGeom prst="roundRect">
            <a:avLst/>
          </a:prstGeom>
          <a:solidFill>
            <a:srgbClr val="C039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kk-KZ" sz="1000" b="1">
                <a:solidFill>
                  <a:srgbClr val="FFFFFF"/>
                </a:solidFill>
                <a:latin typeface="Calibri"/>
              </a:rPr>
              <a:t>АЛЫНДЫ</a:t>
            </a:r>
          </a:p>
        </p:txBody>
      </p:sp>
    </p:spTree>
    <p:extLst>
      <p:ext uri="{BB962C8B-B14F-4D97-AF65-F5344CB8AC3E}">
        <p14:creationId xmlns:p14="http://schemas.microsoft.com/office/powerpoint/2010/main" val="3218406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0B36A2-133F-B4DC-7B16-DEF5446B8291}"/>
              </a:ext>
            </a:extLst>
          </p:cNvPr>
          <p:cNvSpPr>
            <a:spLocks noGrp="1"/>
          </p:cNvSpPr>
          <p:nvPr>
            <p:ph type="title"/>
          </p:nvPr>
        </p:nvSpPr>
        <p:spPr/>
        <p:txBody>
          <a:bodyPr/>
          <a:lstStyle/>
          <a:p>
            <a:pPr algn="l">
              <a:buNone/>
            </a:pPr>
            <a:r>
              <a:rPr lang="kk-KZ" sz="3200" b="1" dirty="0">
                <a:solidFill>
                  <a:srgbClr val="1E2761"/>
                </a:solidFill>
                <a:latin typeface="Cambria"/>
              </a:rPr>
              <a:t>Әдебиеттерге шолу</a:t>
            </a:r>
          </a:p>
        </p:txBody>
      </p:sp>
      <p:graphicFrame>
        <p:nvGraphicFramePr>
          <p:cNvPr id="4" name="Таблица 3">
            <a:extLst>
              <a:ext uri="{FF2B5EF4-FFF2-40B4-BE49-F238E27FC236}">
                <a16:creationId xmlns:a16="http://schemas.microsoft.com/office/drawing/2014/main" id="{1DA0E703-14F5-4BD1-A4C0-95F634B6C196}"/>
              </a:ext>
            </a:extLst>
          </p:cNvPr>
          <p:cNvGraphicFramePr>
            <a:graphicFrameLocks noGrp="1"/>
          </p:cNvGraphicFramePr>
          <p:nvPr/>
        </p:nvGraphicFramePr>
        <p:xfrm>
          <a:off x="508000" y="1587500"/>
          <a:ext cx="11176000" cy="2286000"/>
        </p:xfrm>
        <a:graphic>
          <a:graphicData uri="http://schemas.openxmlformats.org/drawingml/2006/table">
            <a:tbl>
              <a:tblPr firstRow="1" bandRow="1">
                <a:tableStyleId>{5C22544A-7EE6-4342-B048-85BDC9FD1C3A}</a:tableStyleId>
              </a:tblPr>
              <a:tblGrid>
                <a:gridCol w="1651000">
                  <a:extLst>
                    <a:ext uri="{9D8B030D-6E8A-4147-A177-3AD203B41FA5}">
                      <a16:colId xmlns:a16="http://schemas.microsoft.com/office/drawing/2014/main" val="2654487977"/>
                    </a:ext>
                  </a:extLst>
                </a:gridCol>
                <a:gridCol w="1968500">
                  <a:extLst>
                    <a:ext uri="{9D8B030D-6E8A-4147-A177-3AD203B41FA5}">
                      <a16:colId xmlns:a16="http://schemas.microsoft.com/office/drawing/2014/main" val="517296900"/>
                    </a:ext>
                  </a:extLst>
                </a:gridCol>
                <a:gridCol w="2032000">
                  <a:extLst>
                    <a:ext uri="{9D8B030D-6E8A-4147-A177-3AD203B41FA5}">
                      <a16:colId xmlns:a16="http://schemas.microsoft.com/office/drawing/2014/main" val="2441076593"/>
                    </a:ext>
                  </a:extLst>
                </a:gridCol>
                <a:gridCol w="1397000">
                  <a:extLst>
                    <a:ext uri="{9D8B030D-6E8A-4147-A177-3AD203B41FA5}">
                      <a16:colId xmlns:a16="http://schemas.microsoft.com/office/drawing/2014/main" val="110945238"/>
                    </a:ext>
                  </a:extLst>
                </a:gridCol>
                <a:gridCol w="4127500">
                  <a:extLst>
                    <a:ext uri="{9D8B030D-6E8A-4147-A177-3AD203B41FA5}">
                      <a16:colId xmlns:a16="http://schemas.microsoft.com/office/drawing/2014/main" val="1005836683"/>
                    </a:ext>
                  </a:extLst>
                </a:gridCol>
              </a:tblGrid>
              <a:tr h="381000">
                <a:tc>
                  <a:txBody>
                    <a:bodyPr/>
                    <a:lstStyle/>
                    <a:p>
                      <a:pPr algn="ctr"/>
                      <a:r>
                        <a:rPr lang="ru-RU" sz="1400" b="1">
                          <a:solidFill>
                            <a:srgbClr val="FFFFFF"/>
                          </a:solidFill>
                          <a:latin typeface="Calibri"/>
                          <a:ea typeface="Calibri"/>
                          <a:cs typeface="Calibri"/>
                        </a:rPr>
                        <a:t>Study</a:t>
                      </a:r>
                    </a:p>
                  </a:txBody>
                  <a:tcPr anchor="ctr">
                    <a:solidFill>
                      <a:srgbClr val="1E2761"/>
                    </a:solidFill>
                  </a:tcPr>
                </a:tc>
                <a:tc>
                  <a:txBody>
                    <a:bodyPr/>
                    <a:lstStyle/>
                    <a:p>
                      <a:pPr algn="ctr"/>
                      <a:r>
                        <a:rPr lang="ru-RU" sz="1400" b="1">
                          <a:solidFill>
                            <a:srgbClr val="FFFFFF"/>
                          </a:solidFill>
                          <a:latin typeface="Calibri"/>
                          <a:ea typeface="Calibri"/>
                          <a:cs typeface="Calibri"/>
                        </a:rPr>
                        <a:t>Model</a:t>
                      </a:r>
                    </a:p>
                  </a:txBody>
                  <a:tcPr anchor="ctr">
                    <a:solidFill>
                      <a:srgbClr val="1E2761"/>
                    </a:solidFill>
                  </a:tcPr>
                </a:tc>
                <a:tc>
                  <a:txBody>
                    <a:bodyPr/>
                    <a:lstStyle/>
                    <a:p>
                      <a:pPr algn="ctr"/>
                      <a:r>
                        <a:rPr lang="ru-RU" sz="1400" b="1">
                          <a:solidFill>
                            <a:srgbClr val="FFFFFF"/>
                          </a:solidFill>
                          <a:latin typeface="Calibri"/>
                          <a:ea typeface="Calibri"/>
                          <a:cs typeface="Calibri"/>
                        </a:rPr>
                        <a:t>Dataset</a:t>
                      </a:r>
                    </a:p>
                  </a:txBody>
                  <a:tcPr anchor="ctr">
                    <a:solidFill>
                      <a:srgbClr val="1E2761"/>
                    </a:solidFill>
                  </a:tcPr>
                </a:tc>
                <a:tc>
                  <a:txBody>
                    <a:bodyPr/>
                    <a:lstStyle/>
                    <a:p>
                      <a:pPr algn="ctr"/>
                      <a:r>
                        <a:rPr lang="ru-RU" sz="1400" b="1">
                          <a:solidFill>
                            <a:srgbClr val="FFFFFF"/>
                          </a:solidFill>
                          <a:latin typeface="Calibri"/>
                          <a:ea typeface="Calibri"/>
                          <a:cs typeface="Calibri"/>
                        </a:rPr>
                        <a:t>AUC</a:t>
                      </a:r>
                    </a:p>
                  </a:txBody>
                  <a:tcPr anchor="ctr">
                    <a:solidFill>
                      <a:srgbClr val="1E2761"/>
                    </a:solidFill>
                  </a:tcPr>
                </a:tc>
                <a:tc>
                  <a:txBody>
                    <a:bodyPr/>
                    <a:lstStyle/>
                    <a:p>
                      <a:pPr algn="ctr"/>
                      <a:r>
                        <a:rPr lang="ru-RU" sz="1400" b="1">
                          <a:solidFill>
                            <a:srgbClr val="FFFFFF"/>
                          </a:solidFill>
                          <a:latin typeface="Calibri"/>
                          <a:ea typeface="Calibri"/>
                          <a:cs typeface="Calibri"/>
                        </a:rPr>
                        <a:t>Key Limitation</a:t>
                      </a:r>
                    </a:p>
                  </a:txBody>
                  <a:tcPr anchor="ctr">
                    <a:solidFill>
                      <a:srgbClr val="1E2761"/>
                    </a:solidFill>
                  </a:tcPr>
                </a:tc>
                <a:extLst>
                  <a:ext uri="{0D108BD9-81ED-4DB2-BD59-A6C34878D82A}">
                    <a16:rowId xmlns:a16="http://schemas.microsoft.com/office/drawing/2014/main" val="4243349738"/>
                  </a:ext>
                </a:extLst>
              </a:tr>
              <a:tr h="381000">
                <a:tc>
                  <a:txBody>
                    <a:bodyPr/>
                    <a:lstStyle/>
                    <a:p>
                      <a:pPr algn="l"/>
                      <a:r>
                        <a:rPr lang="ru-RU" sz="1400" b="1">
                          <a:solidFill>
                            <a:srgbClr val="1E2761"/>
                          </a:solidFill>
                          <a:latin typeface="Calibri"/>
                          <a:ea typeface="Calibri"/>
                          <a:cs typeface="Calibri"/>
                        </a:rPr>
                        <a:t>Gulshan 2016</a:t>
                      </a:r>
                    </a:p>
                  </a:txBody>
                  <a:tcPr anchor="ctr">
                    <a:solidFill>
                      <a:srgbClr val="F0F4FA"/>
                    </a:solidFill>
                  </a:tcPr>
                </a:tc>
                <a:tc>
                  <a:txBody>
                    <a:bodyPr/>
                    <a:lstStyle/>
                    <a:p>
                      <a:pPr algn="l"/>
                      <a:r>
                        <a:rPr lang="ru-RU" sz="1400">
                          <a:solidFill>
                            <a:srgbClr val="1E2761"/>
                          </a:solidFill>
                          <a:latin typeface="Calibri"/>
                          <a:ea typeface="Calibri"/>
                          <a:cs typeface="Calibri"/>
                        </a:rPr>
                        <a:t>Inception-v3</a:t>
                      </a:r>
                    </a:p>
                  </a:txBody>
                  <a:tcPr anchor="ctr">
                    <a:solidFill>
                      <a:srgbClr val="F0F4FA"/>
                    </a:solidFill>
                  </a:tcPr>
                </a:tc>
                <a:tc>
                  <a:txBody>
                    <a:bodyPr/>
                    <a:lstStyle/>
                    <a:p>
                      <a:pPr algn="l"/>
                      <a:r>
                        <a:rPr lang="ru-RU" sz="1400">
                          <a:solidFill>
                            <a:srgbClr val="1E2761"/>
                          </a:solidFill>
                          <a:latin typeface="Calibri"/>
                          <a:ea typeface="Calibri"/>
                          <a:cs typeface="Calibri"/>
                        </a:rPr>
                        <a:t>128K images</a:t>
                      </a:r>
                    </a:p>
                  </a:txBody>
                  <a:tcPr anchor="ctr">
                    <a:solidFill>
                      <a:srgbClr val="F0F4FA"/>
                    </a:solidFill>
                  </a:tcPr>
                </a:tc>
                <a:tc>
                  <a:txBody>
                    <a:bodyPr/>
                    <a:lstStyle/>
                    <a:p>
                      <a:pPr algn="ctr"/>
                      <a:r>
                        <a:rPr lang="ru-RU" sz="1400">
                          <a:solidFill>
                            <a:srgbClr val="1E2761"/>
                          </a:solidFill>
                          <a:latin typeface="Calibri"/>
                          <a:ea typeface="Calibri"/>
                          <a:cs typeface="Calibri"/>
                        </a:rPr>
                        <a:t>0.991</a:t>
                      </a:r>
                    </a:p>
                  </a:txBody>
                  <a:tcPr anchor="ctr">
                    <a:solidFill>
                      <a:srgbClr val="F0F4FA"/>
                    </a:solidFill>
                  </a:tcPr>
                </a:tc>
                <a:tc>
                  <a:txBody>
                    <a:bodyPr/>
                    <a:lstStyle/>
                    <a:p>
                      <a:pPr algn="ctr"/>
                      <a:r>
                        <a:rPr lang="ru-RU" sz="1400">
                          <a:solidFill>
                            <a:srgbClr val="1E2761"/>
                          </a:solidFill>
                          <a:latin typeface="Calibri"/>
                          <a:ea typeface="Calibri"/>
                          <a:cs typeface="Calibri"/>
                        </a:rPr>
                        <a:t>Single-device; no preprocessing</a:t>
                      </a:r>
                    </a:p>
                  </a:txBody>
                  <a:tcPr anchor="ctr">
                    <a:solidFill>
                      <a:srgbClr val="F0F4FA"/>
                    </a:solidFill>
                  </a:tcPr>
                </a:tc>
                <a:extLst>
                  <a:ext uri="{0D108BD9-81ED-4DB2-BD59-A6C34878D82A}">
                    <a16:rowId xmlns:a16="http://schemas.microsoft.com/office/drawing/2014/main" val="681269172"/>
                  </a:ext>
                </a:extLst>
              </a:tr>
              <a:tr h="381000">
                <a:tc>
                  <a:txBody>
                    <a:bodyPr/>
                    <a:lstStyle/>
                    <a:p>
                      <a:pPr algn="l"/>
                      <a:r>
                        <a:rPr lang="ru-RU" sz="1400" b="1">
                          <a:solidFill>
                            <a:srgbClr val="1E2761"/>
                          </a:solidFill>
                          <a:latin typeface="Calibri"/>
                          <a:ea typeface="Calibri"/>
                          <a:cs typeface="Calibri"/>
                        </a:rPr>
                        <a:t>Ting 2017</a:t>
                      </a:r>
                    </a:p>
                  </a:txBody>
                  <a:tcPr anchor="ctr">
                    <a:solidFill>
                      <a:srgbClr val="FFFFFF"/>
                    </a:solidFill>
                  </a:tcPr>
                </a:tc>
                <a:tc>
                  <a:txBody>
                    <a:bodyPr/>
                    <a:lstStyle/>
                    <a:p>
                      <a:pPr algn="l"/>
                      <a:r>
                        <a:rPr lang="ru-RU" sz="1400">
                          <a:solidFill>
                            <a:srgbClr val="1E2761"/>
                          </a:solidFill>
                          <a:latin typeface="Calibri"/>
                          <a:ea typeface="Calibri"/>
                          <a:cs typeface="Calibri"/>
                        </a:rPr>
                        <a:t>CNN (proprietary)</a:t>
                      </a:r>
                    </a:p>
                  </a:txBody>
                  <a:tcPr anchor="ctr">
                    <a:solidFill>
                      <a:srgbClr val="FFFFFF"/>
                    </a:solidFill>
                  </a:tcPr>
                </a:tc>
                <a:tc>
                  <a:txBody>
                    <a:bodyPr/>
                    <a:lstStyle/>
                    <a:p>
                      <a:pPr algn="l"/>
                      <a:r>
                        <a:rPr lang="ru-RU" sz="1400">
                          <a:solidFill>
                            <a:srgbClr val="1E2761"/>
                          </a:solidFill>
                          <a:latin typeface="Calibri"/>
                          <a:ea typeface="Calibri"/>
                          <a:cs typeface="Calibri"/>
                        </a:rPr>
                        <a:t>494K; 10 ext. sets</a:t>
                      </a:r>
                    </a:p>
                  </a:txBody>
                  <a:tcPr anchor="ctr">
                    <a:solidFill>
                      <a:srgbClr val="FFFFFF"/>
                    </a:solidFill>
                  </a:tcPr>
                </a:tc>
                <a:tc>
                  <a:txBody>
                    <a:bodyPr/>
                    <a:lstStyle/>
                    <a:p>
                      <a:pPr algn="ctr"/>
                      <a:r>
                        <a:rPr lang="ru-RU" sz="1400">
                          <a:solidFill>
                            <a:srgbClr val="1E2761"/>
                          </a:solidFill>
                          <a:latin typeface="Calibri"/>
                          <a:ea typeface="Calibri"/>
                          <a:cs typeface="Calibri"/>
                        </a:rPr>
                        <a:t>0.936</a:t>
                      </a:r>
                    </a:p>
                  </a:txBody>
                  <a:tcPr anchor="ctr">
                    <a:solidFill>
                      <a:srgbClr val="FFFFFF"/>
                    </a:solidFill>
                  </a:tcPr>
                </a:tc>
                <a:tc>
                  <a:txBody>
                    <a:bodyPr/>
                    <a:lstStyle/>
                    <a:p>
                      <a:pPr algn="ctr"/>
                      <a:r>
                        <a:rPr lang="ru-RU" sz="1400">
                          <a:solidFill>
                            <a:srgbClr val="1E2761"/>
                          </a:solidFill>
                          <a:latin typeface="Calibri"/>
                          <a:ea typeface="Calibri"/>
                          <a:cs typeface="Calibri"/>
                        </a:rPr>
                        <a:t>AUC variance 0.094 across devices</a:t>
                      </a:r>
                    </a:p>
                  </a:txBody>
                  <a:tcPr anchor="ctr">
                    <a:solidFill>
                      <a:srgbClr val="FFFFFF"/>
                    </a:solidFill>
                  </a:tcPr>
                </a:tc>
                <a:extLst>
                  <a:ext uri="{0D108BD9-81ED-4DB2-BD59-A6C34878D82A}">
                    <a16:rowId xmlns:a16="http://schemas.microsoft.com/office/drawing/2014/main" val="1767175050"/>
                  </a:ext>
                </a:extLst>
              </a:tr>
              <a:tr h="381000">
                <a:tc>
                  <a:txBody>
                    <a:bodyPr/>
                    <a:lstStyle/>
                    <a:p>
                      <a:pPr algn="l"/>
                      <a:r>
                        <a:rPr lang="ru-RU" sz="1400" b="1">
                          <a:solidFill>
                            <a:srgbClr val="1E2761"/>
                          </a:solidFill>
                          <a:latin typeface="Calibri"/>
                          <a:ea typeface="Calibri"/>
                          <a:cs typeface="Calibri"/>
                        </a:rPr>
                        <a:t>Rakhlin 2017</a:t>
                      </a:r>
                    </a:p>
                  </a:txBody>
                  <a:tcPr anchor="ctr">
                    <a:solidFill>
                      <a:srgbClr val="F0F4FA"/>
                    </a:solidFill>
                  </a:tcPr>
                </a:tc>
                <a:tc>
                  <a:txBody>
                    <a:bodyPr/>
                    <a:lstStyle/>
                    <a:p>
                      <a:pPr algn="l"/>
                      <a:r>
                        <a:rPr lang="ru-RU" sz="1400">
                          <a:solidFill>
                            <a:srgbClr val="1E2761"/>
                          </a:solidFill>
                          <a:latin typeface="Calibri"/>
                          <a:ea typeface="Calibri"/>
                          <a:cs typeface="Calibri"/>
                        </a:rPr>
                        <a:t>Modified VGGNet</a:t>
                      </a:r>
                    </a:p>
                  </a:txBody>
                  <a:tcPr anchor="ctr">
                    <a:solidFill>
                      <a:srgbClr val="F0F4FA"/>
                    </a:solidFill>
                  </a:tcPr>
                </a:tc>
                <a:tc>
                  <a:txBody>
                    <a:bodyPr/>
                    <a:lstStyle/>
                    <a:p>
                      <a:pPr algn="l"/>
                      <a:r>
                        <a:rPr lang="ru-RU" sz="1400">
                          <a:solidFill>
                            <a:srgbClr val="1E2761"/>
                          </a:solidFill>
                          <a:latin typeface="Calibri"/>
                          <a:ea typeface="Calibri"/>
                          <a:cs typeface="Calibri"/>
                        </a:rPr>
                        <a:t>89K (Kaggle)</a:t>
                      </a:r>
                    </a:p>
                  </a:txBody>
                  <a:tcPr anchor="ctr">
                    <a:solidFill>
                      <a:srgbClr val="F0F4FA"/>
                    </a:solidFill>
                  </a:tcPr>
                </a:tc>
                <a:tc>
                  <a:txBody>
                    <a:bodyPr/>
                    <a:lstStyle/>
                    <a:p>
                      <a:pPr algn="ctr"/>
                      <a:r>
                        <a:rPr lang="ru-RU" sz="1400">
                          <a:solidFill>
                            <a:srgbClr val="1E2761"/>
                          </a:solidFill>
                          <a:latin typeface="Calibri"/>
                          <a:ea typeface="Calibri"/>
                          <a:cs typeface="Calibri"/>
                        </a:rPr>
                        <a:t>0.967</a:t>
                      </a:r>
                    </a:p>
                  </a:txBody>
                  <a:tcPr anchor="ctr">
                    <a:solidFill>
                      <a:srgbClr val="F0F4FA"/>
                    </a:solidFill>
                  </a:tcPr>
                </a:tc>
                <a:tc>
                  <a:txBody>
                    <a:bodyPr/>
                    <a:lstStyle/>
                    <a:p>
                      <a:pPr algn="ctr"/>
                      <a:r>
                        <a:rPr lang="ru-RU" sz="1400">
                          <a:solidFill>
                            <a:srgbClr val="1E2761"/>
                          </a:solidFill>
                          <a:latin typeface="Calibri"/>
                          <a:ea typeface="Calibri"/>
                          <a:cs typeface="Calibri"/>
                        </a:rPr>
                        <a:t>Single-camera ext. set</a:t>
                      </a:r>
                    </a:p>
                  </a:txBody>
                  <a:tcPr anchor="ctr">
                    <a:solidFill>
                      <a:srgbClr val="F0F4FA"/>
                    </a:solidFill>
                  </a:tcPr>
                </a:tc>
                <a:extLst>
                  <a:ext uri="{0D108BD9-81ED-4DB2-BD59-A6C34878D82A}">
                    <a16:rowId xmlns:a16="http://schemas.microsoft.com/office/drawing/2014/main" val="2877013163"/>
                  </a:ext>
                </a:extLst>
              </a:tr>
              <a:tr h="381000">
                <a:tc>
                  <a:txBody>
                    <a:bodyPr/>
                    <a:lstStyle/>
                    <a:p>
                      <a:pPr algn="l"/>
                      <a:r>
                        <a:rPr lang="ru-RU" sz="1400" b="1">
                          <a:solidFill>
                            <a:srgbClr val="1E2761"/>
                          </a:solidFill>
                          <a:latin typeface="Calibri"/>
                          <a:ea typeface="Calibri"/>
                          <a:cs typeface="Calibri"/>
                        </a:rPr>
                        <a:t>Saxena 2020</a:t>
                      </a:r>
                    </a:p>
                  </a:txBody>
                  <a:tcPr anchor="ctr">
                    <a:solidFill>
                      <a:srgbClr val="FFFFFF"/>
                    </a:solidFill>
                  </a:tcPr>
                </a:tc>
                <a:tc>
                  <a:txBody>
                    <a:bodyPr/>
                    <a:lstStyle/>
                    <a:p>
                      <a:pPr algn="l"/>
                      <a:r>
                        <a:rPr lang="ru-RU" sz="1400">
                          <a:solidFill>
                            <a:srgbClr val="1E2761"/>
                          </a:solidFill>
                          <a:latin typeface="Calibri"/>
                          <a:ea typeface="Calibri"/>
                          <a:cs typeface="Calibri"/>
                        </a:rPr>
                        <a:t>InceptionResNetV2</a:t>
                      </a:r>
                    </a:p>
                  </a:txBody>
                  <a:tcPr anchor="ctr">
                    <a:solidFill>
                      <a:srgbClr val="FFFFFF"/>
                    </a:solidFill>
                  </a:tcPr>
                </a:tc>
                <a:tc>
                  <a:txBody>
                    <a:bodyPr/>
                    <a:lstStyle/>
                    <a:p>
                      <a:pPr algn="l"/>
                      <a:r>
                        <a:rPr lang="ru-RU" sz="1400">
                          <a:solidFill>
                            <a:srgbClr val="1E2761"/>
                          </a:solidFill>
                          <a:latin typeface="Calibri"/>
                          <a:ea typeface="Calibri"/>
                          <a:cs typeface="Calibri"/>
                        </a:rPr>
                        <a:t>71K (EyePACS)</a:t>
                      </a:r>
                    </a:p>
                  </a:txBody>
                  <a:tcPr anchor="ctr">
                    <a:solidFill>
                      <a:srgbClr val="FFFFFF"/>
                    </a:solidFill>
                  </a:tcPr>
                </a:tc>
                <a:tc>
                  <a:txBody>
                    <a:bodyPr/>
                    <a:lstStyle/>
                    <a:p>
                      <a:pPr algn="ctr"/>
                      <a:r>
                        <a:rPr lang="ru-RU" sz="1400">
                          <a:solidFill>
                            <a:srgbClr val="1E2761"/>
                          </a:solidFill>
                          <a:latin typeface="Calibri"/>
                          <a:ea typeface="Calibri"/>
                          <a:cs typeface="Calibri"/>
                        </a:rPr>
                        <a:t>0.958</a:t>
                      </a:r>
                    </a:p>
                  </a:txBody>
                  <a:tcPr anchor="ctr">
                    <a:solidFill>
                      <a:srgbClr val="FFFFFF"/>
                    </a:solidFill>
                  </a:tcPr>
                </a:tc>
                <a:tc>
                  <a:txBody>
                    <a:bodyPr/>
                    <a:lstStyle/>
                    <a:p>
                      <a:pPr algn="ctr"/>
                      <a:r>
                        <a:rPr lang="ru-RU" sz="1400">
                          <a:solidFill>
                            <a:srgbClr val="1E2761"/>
                          </a:solidFill>
                          <a:latin typeface="Calibri"/>
                          <a:ea typeface="Calibri"/>
                          <a:cs typeface="Calibri"/>
                        </a:rPr>
                        <a:t>Non-adjudicated labels</a:t>
                      </a:r>
                    </a:p>
                  </a:txBody>
                  <a:tcPr anchor="ctr">
                    <a:solidFill>
                      <a:srgbClr val="FFFFFF"/>
                    </a:solidFill>
                  </a:tcPr>
                </a:tc>
                <a:extLst>
                  <a:ext uri="{0D108BD9-81ED-4DB2-BD59-A6C34878D82A}">
                    <a16:rowId xmlns:a16="http://schemas.microsoft.com/office/drawing/2014/main" val="2164912750"/>
                  </a:ext>
                </a:extLst>
              </a:tr>
              <a:tr h="381000">
                <a:tc>
                  <a:txBody>
                    <a:bodyPr/>
                    <a:lstStyle/>
                    <a:p>
                      <a:pPr algn="l"/>
                      <a:r>
                        <a:rPr lang="ru-RU" sz="1400" b="1">
                          <a:solidFill>
                            <a:srgbClr val="1E2761"/>
                          </a:solidFill>
                          <a:latin typeface="Calibri"/>
                          <a:ea typeface="Calibri"/>
                          <a:cs typeface="Calibri"/>
                        </a:rPr>
                        <a:t>Senapati 2024</a:t>
                      </a:r>
                    </a:p>
                  </a:txBody>
                  <a:tcPr anchor="ctr">
                    <a:solidFill>
                      <a:srgbClr val="F0F4FA"/>
                    </a:solidFill>
                  </a:tcPr>
                </a:tc>
                <a:tc>
                  <a:txBody>
                    <a:bodyPr/>
                    <a:lstStyle/>
                    <a:p>
                      <a:pPr algn="l"/>
                      <a:r>
                        <a:rPr lang="ru-RU" sz="1400">
                          <a:solidFill>
                            <a:srgbClr val="1E2761"/>
                          </a:solidFill>
                          <a:latin typeface="Calibri"/>
                          <a:ea typeface="Calibri"/>
                          <a:cs typeface="Calibri"/>
                        </a:rPr>
                        <a:t>Review (170+ studies)</a:t>
                      </a:r>
                    </a:p>
                  </a:txBody>
                  <a:tcPr anchor="ctr">
                    <a:solidFill>
                      <a:srgbClr val="F0F4FA"/>
                    </a:solidFill>
                  </a:tcPr>
                </a:tc>
                <a:tc>
                  <a:txBody>
                    <a:bodyPr/>
                    <a:lstStyle/>
                    <a:p>
                      <a:pPr algn="l"/>
                      <a:r>
                        <a:rPr lang="ru-RU" sz="1400">
                          <a:solidFill>
                            <a:srgbClr val="1E2761"/>
                          </a:solidFill>
                          <a:latin typeface="Calibri"/>
                          <a:ea typeface="Calibri"/>
                          <a:cs typeface="Calibri"/>
                        </a:rPr>
                        <a:t>PRISMA</a:t>
                      </a:r>
                    </a:p>
                  </a:txBody>
                  <a:tcPr anchor="ctr">
                    <a:solidFill>
                      <a:srgbClr val="F0F4FA"/>
                    </a:solidFill>
                  </a:tcPr>
                </a:tc>
                <a:tc>
                  <a:txBody>
                    <a:bodyPr/>
                    <a:lstStyle/>
                    <a:p>
                      <a:pPr algn="ctr"/>
                      <a:r>
                        <a:rPr lang="ru-RU" sz="1400">
                          <a:solidFill>
                            <a:srgbClr val="1E2761"/>
                          </a:solidFill>
                          <a:latin typeface="Calibri"/>
                          <a:ea typeface="Calibri"/>
                          <a:cs typeface="Calibri"/>
                        </a:rPr>
                        <a:t>N/A</a:t>
                      </a:r>
                    </a:p>
                  </a:txBody>
                  <a:tcPr anchor="ctr">
                    <a:solidFill>
                      <a:srgbClr val="F0F4FA"/>
                    </a:solidFill>
                  </a:tcPr>
                </a:tc>
                <a:tc>
                  <a:txBody>
                    <a:bodyPr/>
                    <a:lstStyle/>
                    <a:p>
                      <a:pPr algn="ctr"/>
                      <a:r>
                        <a:rPr lang="ru-RU" sz="1400">
                          <a:solidFill>
                            <a:srgbClr val="1E2761"/>
                          </a:solidFill>
                          <a:latin typeface="Calibri"/>
                          <a:ea typeface="Calibri"/>
                          <a:cs typeface="Calibri"/>
                        </a:rPr>
                        <a:t>Identifies preprocessing gap</a:t>
                      </a:r>
                    </a:p>
                  </a:txBody>
                  <a:tcPr anchor="ctr">
                    <a:solidFill>
                      <a:srgbClr val="F0F4FA"/>
                    </a:solidFill>
                  </a:tcPr>
                </a:tc>
                <a:extLst>
                  <a:ext uri="{0D108BD9-81ED-4DB2-BD59-A6C34878D82A}">
                    <a16:rowId xmlns:a16="http://schemas.microsoft.com/office/drawing/2014/main" val="3387210942"/>
                  </a:ext>
                </a:extLst>
              </a:tr>
            </a:tbl>
          </a:graphicData>
        </a:graphic>
      </p:graphicFrame>
      <p:sp>
        <p:nvSpPr>
          <p:cNvPr id="5" name="TextBox 4">
            <a:extLst>
              <a:ext uri="{FF2B5EF4-FFF2-40B4-BE49-F238E27FC236}">
                <a16:creationId xmlns:a16="http://schemas.microsoft.com/office/drawing/2014/main" id="{3709A236-8CE6-45E0-9627-C68AFEC12265}"/>
              </a:ext>
            </a:extLst>
          </p:cNvPr>
          <p:cNvSpPr txBox="1"/>
          <p:nvPr/>
        </p:nvSpPr>
        <p:spPr>
          <a:xfrm>
            <a:off x="508000" y="4064000"/>
            <a:ext cx="3810000" cy="381000"/>
          </a:xfrm>
          <a:prstGeom prst="rect">
            <a:avLst/>
          </a:prstGeom>
          <a:noFill/>
          <a:ln>
            <a:noFill/>
          </a:ln>
        </p:spPr>
        <p:txBody>
          <a:bodyPr vertOverflow="overflow" vert="horz" wrap="square" rtlCol="0" anchor="t">
            <a:spAutoFit/>
          </a:bodyPr>
          <a:lstStyle/>
          <a:p>
            <a:pPr algn="l"/>
            <a:r>
              <a:rPr lang="en-US" sz="1600" b="1">
                <a:solidFill>
                  <a:srgbClr val="1E2761"/>
                </a:solidFill>
                <a:latin typeface="Cambria"/>
                <a:ea typeface="Cambria"/>
              </a:rPr>
              <a:t>Identified Research Gaps</a:t>
            </a:r>
            <a:endParaRPr lang="ru-RU" sz="1600" b="1">
              <a:solidFill>
                <a:srgbClr val="1E2761"/>
              </a:solidFill>
              <a:latin typeface="Cambria"/>
              <a:ea typeface="Cambria"/>
            </a:endParaRPr>
          </a:p>
        </p:txBody>
      </p:sp>
      <p:sp>
        <p:nvSpPr>
          <p:cNvPr id="6" name="TextBox 5">
            <a:extLst>
              <a:ext uri="{FF2B5EF4-FFF2-40B4-BE49-F238E27FC236}">
                <a16:creationId xmlns:a16="http://schemas.microsoft.com/office/drawing/2014/main" id="{0F320CC5-F63E-4C54-B370-BA06DF46CBAC}"/>
              </a:ext>
            </a:extLst>
          </p:cNvPr>
          <p:cNvSpPr txBox="1"/>
          <p:nvPr/>
        </p:nvSpPr>
        <p:spPr>
          <a:xfrm>
            <a:off x="508000" y="4419600"/>
            <a:ext cx="11176000" cy="1778000"/>
          </a:xfrm>
          <a:prstGeom prst="rect">
            <a:avLst/>
          </a:prstGeom>
          <a:noFill/>
          <a:ln>
            <a:noFill/>
          </a:ln>
        </p:spPr>
        <p:txBody>
          <a:bodyPr vertOverflow="overflow" vert="horz" wrap="square" rtlCol="0" anchor="t">
            <a:spAutoFit/>
          </a:bodyPr>
          <a:lstStyle/>
          <a:p>
            <a:pPr marL="228600" indent="-228600">
              <a:buFont typeface="Arial"/>
              <a:buChar char="●"/>
            </a:pPr>
            <a:r>
              <a:rPr lang="en-US" sz="1400" b="1" dirty="0">
                <a:solidFill>
                  <a:srgbClr val="C0392B"/>
                </a:solidFill>
                <a:latin typeface="Calibri"/>
              </a:rPr>
              <a:t>No existing work formalizes preprocessing as an integral model component</a:t>
            </a:r>
            <a:r>
              <a:rPr lang="en-US" sz="1400" dirty="0">
                <a:solidFill>
                  <a:srgbClr val="1E2761"/>
                </a:solidFill>
                <a:latin typeface="Calibri"/>
              </a:rPr>
              <a:t> — treated as ad-hoc ancillary step across all surveyed studies</a:t>
            </a:r>
          </a:p>
          <a:p>
            <a:pPr marL="228600" indent="-228600">
              <a:buFont typeface="Arial"/>
              <a:buChar char="●"/>
            </a:pPr>
            <a:r>
              <a:rPr lang="en-US" sz="1400" dirty="0">
                <a:solidFill>
                  <a:srgbClr val="1E2761"/>
                </a:solidFill>
                <a:latin typeface="Calibri"/>
              </a:rPr>
              <a:t>Cross-device robustness unresolved: Ting (2017) reports AUC variance of 0.094 across 10 external datasets</a:t>
            </a:r>
          </a:p>
          <a:p>
            <a:pPr marL="228600" indent="-228600">
              <a:buFont typeface="Arial"/>
              <a:buChar char="●"/>
            </a:pPr>
            <a:r>
              <a:rPr lang="en-US" sz="1400" dirty="0">
                <a:solidFill>
                  <a:srgbClr val="1E2761"/>
                </a:solidFill>
                <a:latin typeface="Calibri"/>
              </a:rPr>
              <a:t>No deterministic, toggleable pipeline with ablation capability to isolate per-stage contributions</a:t>
            </a:r>
          </a:p>
        </p:txBody>
      </p:sp>
      <p:pic>
        <p:nvPicPr>
          <p:cNvPr id="7" name="Graphic 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66500" y="508000"/>
            <a:ext cx="609600" cy="609600"/>
          </a:xfrm>
          <a:prstGeom prst="rect">
            <a:avLst/>
          </a:prstGeom>
        </p:spPr>
      </p:pic>
    </p:spTree>
    <p:extLst>
      <p:ext uri="{BB962C8B-B14F-4D97-AF65-F5344CB8AC3E}">
        <p14:creationId xmlns:p14="http://schemas.microsoft.com/office/powerpoint/2010/main" val="3615379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922CB87-C87F-39A8-4B9F-C9E9AB3EDADB}"/>
              </a:ext>
            </a:extLst>
          </p:cNvPr>
          <p:cNvSpPr>
            <a:spLocks noGrp="1"/>
          </p:cNvSpPr>
          <p:nvPr>
            <p:ph type="title"/>
          </p:nvPr>
        </p:nvSpPr>
        <p:spPr/>
        <p:txBody>
          <a:bodyPr/>
          <a:lstStyle/>
          <a:p>
            <a:pPr algn="l">
              <a:buNone/>
            </a:pPr>
            <a:r>
              <a:rPr lang="kk-KZ" sz="3200" b="1" dirty="0">
                <a:solidFill>
                  <a:srgbClr val="1E2761"/>
                </a:solidFill>
                <a:latin typeface="Cambria"/>
              </a:rPr>
              <a:t>Жүйе архитектурасы</a:t>
            </a:r>
          </a:p>
        </p:txBody>
      </p:sp>
      <p:pic>
        <p:nvPicPr>
          <p:cNvPr id="3" name="Рисунок 2">
            <a:extLst>
              <a:ext uri="{FF2B5EF4-FFF2-40B4-BE49-F238E27FC236}">
                <a16:creationId xmlns:a16="http://schemas.microsoft.com/office/drawing/2014/main" id="{99A6D06C-C208-2C72-4655-A3CCA61E3772}"/>
              </a:ext>
            </a:extLst>
          </p:cNvPr>
          <p:cNvPicPr>
            <a:picLocks noChangeAspect="1"/>
          </p:cNvPicPr>
          <p:nvPr/>
        </p:nvPicPr>
        <p:blipFill>
          <a:blip r:embed="rId3"/>
          <a:stretch>
            <a:fillRect/>
          </a:stretch>
        </p:blipFill>
        <p:spPr>
          <a:xfrm>
            <a:off x="457200" y="1460500"/>
            <a:ext cx="4596580" cy="4191000"/>
          </a:xfrm>
          <a:prstGeom prst="rect">
            <a:avLst/>
          </a:prstGeom>
        </p:spPr>
      </p:pic>
      <p:sp>
        <p:nvSpPr>
          <p:cNvPr id="4" name="Прямоугольник: скругленные углы 3">
            <a:extLst>
              <a:ext uri="{FF2B5EF4-FFF2-40B4-BE49-F238E27FC236}">
                <a16:creationId xmlns:a16="http://schemas.microsoft.com/office/drawing/2014/main" id="{55426FC8-CD36-4D87-96AC-1160B02CAA46}"/>
              </a:ext>
            </a:extLst>
          </p:cNvPr>
          <p:cNvSpPr/>
          <p:nvPr/>
        </p:nvSpPr>
        <p:spPr>
          <a:xfrm>
            <a:off x="5334000" y="1460500"/>
            <a:ext cx="6604000" cy="1079500"/>
          </a:xfrm>
          <a:prstGeom prst="roundRect">
            <a:avLst/>
          </a:prstGeom>
          <a:solidFill>
            <a:srgbClr val="1E276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cy-GB" sz="1600" b="1">
                <a:solidFill>
                  <a:srgbClr val="FFFFFF"/>
                </a:solidFill>
                <a:latin typeface="Cambria"/>
                <a:ea typeface="Cambria"/>
              </a:rPr>
              <a:t>model = preprocessing + CNN
P(I) → CNN → ŷ</a:t>
            </a:r>
            <a:endParaRPr lang="ru-RU" sz="1600" b="1">
              <a:solidFill>
                <a:srgbClr val="FFFFFF"/>
              </a:solidFill>
              <a:latin typeface="Cambria"/>
              <a:ea typeface="Cambria"/>
            </a:endParaRPr>
          </a:p>
        </p:txBody>
      </p:sp>
      <p:sp>
        <p:nvSpPr>
          <p:cNvPr id="5" name="Прямоугольник: скругленные углы 4">
            <a:extLst>
              <a:ext uri="{FF2B5EF4-FFF2-40B4-BE49-F238E27FC236}">
                <a16:creationId xmlns:a16="http://schemas.microsoft.com/office/drawing/2014/main" id="{65F7102F-609D-454E-8D41-BB92071CE2EF}"/>
              </a:ext>
            </a:extLst>
          </p:cNvPr>
          <p:cNvSpPr/>
          <p:nvPr/>
        </p:nvSpPr>
        <p:spPr>
          <a:xfrm>
            <a:off x="5334000" y="2667000"/>
            <a:ext cx="6604000" cy="698500"/>
          </a:xfrm>
          <a:prstGeom prst="roundRect">
            <a:avLst/>
          </a:prstGeom>
          <a:solidFill>
            <a:srgbClr val="3A7BD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buNone/>
            </a:pPr>
            <a:r>
              <a:rPr lang="kk-KZ" sz="1400" dirty="0">
                <a:solidFill>
                  <a:srgbClr val="1E2761"/>
                </a:solidFill>
                <a:latin typeface="Calibri"/>
              </a:rPr>
              <a:t>Кіріс модулі: FOV қию, Flat-Field, CLAHE, ImageNet нормализация</a:t>
            </a:r>
          </a:p>
        </p:txBody>
      </p:sp>
      <p:sp>
        <p:nvSpPr>
          <p:cNvPr id="6" name="Прямоугольник: скругленные углы 5">
            <a:extLst>
              <a:ext uri="{FF2B5EF4-FFF2-40B4-BE49-F238E27FC236}">
                <a16:creationId xmlns:a16="http://schemas.microsoft.com/office/drawing/2014/main" id="{0FB19B96-79CE-4F3B-927C-B531B19414D5}"/>
              </a:ext>
            </a:extLst>
          </p:cNvPr>
          <p:cNvSpPr/>
          <p:nvPr/>
        </p:nvSpPr>
        <p:spPr>
          <a:xfrm>
            <a:off x="5334000" y="3492500"/>
            <a:ext cx="6604000" cy="698500"/>
          </a:xfrm>
          <a:prstGeom prst="roundRect">
            <a:avLst/>
          </a:prstGeom>
          <a:solidFill>
            <a:srgbClr val="E8B84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buNone/>
            </a:pPr>
            <a:r>
              <a:rPr lang="kk-KZ" sz="1400" dirty="0">
                <a:solidFill>
                  <a:srgbClr val="1E2761"/>
                </a:solidFill>
                <a:latin typeface="Calibri"/>
              </a:rPr>
              <a:t>Жіктеу модулі: Transfer Learning + Two-Stage Fine-Tuning</a:t>
            </a:r>
          </a:p>
        </p:txBody>
      </p:sp>
      <p:sp>
        <p:nvSpPr>
          <p:cNvPr id="7" name="Прямоугольник: скругленные углы 6">
            <a:extLst>
              <a:ext uri="{FF2B5EF4-FFF2-40B4-BE49-F238E27FC236}">
                <a16:creationId xmlns:a16="http://schemas.microsoft.com/office/drawing/2014/main" id="{3328C64D-D99B-4184-864F-8E5DC4705D20}"/>
              </a:ext>
            </a:extLst>
          </p:cNvPr>
          <p:cNvSpPr/>
          <p:nvPr/>
        </p:nvSpPr>
        <p:spPr>
          <a:xfrm>
            <a:off x="457200" y="5905500"/>
            <a:ext cx="11480800" cy="571500"/>
          </a:xfrm>
          <a:prstGeom prst="roundRect">
            <a:avLst/>
          </a:prstGeom>
          <a:solidFill>
            <a:srgbClr val="F0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kk-KZ" sz="1400" b="1" dirty="0">
                <a:solidFill>
                  <a:srgbClr val="FFFFFF"/>
                </a:solidFill>
                <a:latin typeface="Calibri"/>
              </a:rPr>
              <a:t>Жобалау спецификациясы — далалық сынақтан өткізілмеген (DGL-4). Physician-in-the-Loop парадигмасы.</a:t>
            </a:r>
          </a:p>
        </p:txBody>
      </p:sp>
      <p:sp>
        <p:nvSpPr>
          <p:cNvPr id="8" name="TextBox 7">
            <a:extLst>
              <a:ext uri="{FF2B5EF4-FFF2-40B4-BE49-F238E27FC236}">
                <a16:creationId xmlns:a16="http://schemas.microsoft.com/office/drawing/2014/main" id="{430E4C6E-1EA3-44BE-8755-3A655BFB9532}"/>
              </a:ext>
            </a:extLst>
          </p:cNvPr>
          <p:cNvSpPr txBox="1"/>
          <p:nvPr/>
        </p:nvSpPr>
        <p:spPr>
          <a:xfrm>
            <a:off x="5334000" y="4381500"/>
            <a:ext cx="6604000" cy="635000"/>
          </a:xfrm>
          <a:prstGeom prst="rect">
            <a:avLst/>
          </a:prstGeom>
          <a:noFill/>
          <a:ln>
            <a:noFill/>
          </a:ln>
        </p:spPr>
        <p:txBody>
          <a:bodyPr vertOverflow="overflow" vert="horz" wrap="square" rtlCol="0" anchor="t">
            <a:spAutoFit/>
          </a:bodyPr>
          <a:lstStyle/>
          <a:p>
            <a:pPr algn="l">
              <a:buNone/>
            </a:pPr>
            <a:r>
              <a:rPr lang="kk-KZ" sz="1400" dirty="0">
                <a:solidFill>
                  <a:srgbClr val="1E2761"/>
                </a:solidFill>
                <a:latin typeface="Calibri"/>
              </a:rPr>
              <a:t>Шығыс: DR 0–4 жіктеуі + Grad-CAM визуализация + Physician-in-the-Loop кері байланыс</a:t>
            </a:r>
          </a:p>
        </p:txBody>
      </p:sp>
    </p:spTree>
    <p:extLst>
      <p:ext uri="{BB962C8B-B14F-4D97-AF65-F5344CB8AC3E}">
        <p14:creationId xmlns:p14="http://schemas.microsoft.com/office/powerpoint/2010/main" val="764551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765E88-E841-F484-29B9-1EF619C460F4}"/>
              </a:ext>
            </a:extLst>
          </p:cNvPr>
          <p:cNvSpPr>
            <a:spLocks noGrp="1"/>
          </p:cNvSpPr>
          <p:nvPr>
            <p:ph type="title"/>
          </p:nvPr>
        </p:nvSpPr>
        <p:spPr/>
        <p:txBody>
          <a:bodyPr/>
          <a:lstStyle/>
          <a:p>
            <a:pPr algn="l">
              <a:buNone/>
            </a:pPr>
            <a:r>
              <a:rPr lang="kk-KZ" sz="3200" b="1" dirty="0">
                <a:solidFill>
                  <a:srgbClr val="1E2761"/>
                </a:solidFill>
                <a:latin typeface="Cambria"/>
              </a:rPr>
              <a:t>Алдын ала өңдеу pipeline</a:t>
            </a:r>
          </a:p>
        </p:txBody>
      </p:sp>
      <p:pic>
        <p:nvPicPr>
          <p:cNvPr id="3" name="Рисунок 2">
            <a:extLst>
              <a:ext uri="{FF2B5EF4-FFF2-40B4-BE49-F238E27FC236}">
                <a16:creationId xmlns:a16="http://schemas.microsoft.com/office/drawing/2014/main" id="{B9084FE6-9545-DA3C-901E-2669DFBE3990}"/>
              </a:ext>
            </a:extLst>
          </p:cNvPr>
          <p:cNvPicPr>
            <a:picLocks noChangeAspect="1"/>
          </p:cNvPicPr>
          <p:nvPr/>
        </p:nvPicPr>
        <p:blipFill>
          <a:blip r:embed="rId2"/>
          <a:stretch>
            <a:fillRect/>
          </a:stretch>
        </p:blipFill>
        <p:spPr>
          <a:xfrm>
            <a:off x="457200" y="1371600"/>
            <a:ext cx="3191566" cy="4318000"/>
          </a:xfrm>
          <a:prstGeom prst="rect">
            <a:avLst/>
          </a:prstGeom>
        </p:spPr>
      </p:pic>
      <p:sp>
        <p:nvSpPr>
          <p:cNvPr id="4" name="TextBox 3">
            <a:extLst>
              <a:ext uri="{FF2B5EF4-FFF2-40B4-BE49-F238E27FC236}">
                <a16:creationId xmlns:a16="http://schemas.microsoft.com/office/drawing/2014/main" id="{D2C7B1C9-92E8-4513-99A6-29789020414B}"/>
              </a:ext>
            </a:extLst>
          </p:cNvPr>
          <p:cNvSpPr txBox="1"/>
          <p:nvPr/>
        </p:nvSpPr>
        <p:spPr>
          <a:xfrm>
            <a:off x="3937000" y="1498600"/>
            <a:ext cx="8001000" cy="2540000"/>
          </a:xfrm>
          <a:prstGeom prst="rect">
            <a:avLst/>
          </a:prstGeom>
          <a:noFill/>
          <a:ln>
            <a:noFill/>
          </a:ln>
        </p:spPr>
        <p:txBody>
          <a:bodyPr vertOverflow="overflow" vert="horz" wrap="square" rtlCol="0" anchor="t">
            <a:spAutoFit/>
          </a:bodyPr>
          <a:lstStyle/>
          <a:p>
            <a:pPr algn="l">
              <a:buNone/>
            </a:pPr>
            <a:r>
              <a:rPr lang="kk-KZ" sz="1800" b="1" dirty="0">
                <a:solidFill>
                  <a:srgbClr val="1E2761"/>
                </a:solidFill>
                <a:latin typeface="Cambria"/>
              </a:rPr>
              <a:t>Pipeline конфигурациялары</a:t>
            </a:r>
          </a:p>
          <a:p>
            <a:pPr marL="228600" indent="-228600">
              <a:buFont typeface="Arial"/>
              <a:buChar char="●"/>
            </a:pPr>
            <a:r>
              <a:rPr lang="kk-KZ" sz="1400" b="1" dirty="0">
                <a:solidFill>
                  <a:srgbClr val="3A7BD5"/>
                </a:solidFill>
                <a:latin typeface="Calibri"/>
              </a:rPr>
              <a:t>Baseline (ЖОҚ): </a:t>
            </a:r>
            <a:r>
              <a:rPr lang="kk-KZ" sz="1400" dirty="0">
                <a:solidFill>
                  <a:srgbClr val="1E2761"/>
                </a:solidFill>
                <a:latin typeface="Calibri"/>
              </a:rPr>
              <a:t>Тек 1 + 4 кезеңдер — қию, өлшемін өзгерту, ImageNet нормализация</a:t>
            </a:r>
          </a:p>
          <a:p>
            <a:pPr marL="228600" indent="-228600">
              <a:buFont typeface="Arial"/>
              <a:buChar char="●"/>
            </a:pPr>
            <a:r>
              <a:rPr lang="kk-KZ" sz="1400" b="1" dirty="0">
                <a:solidFill>
                  <a:srgbClr val="E8B84B"/>
                </a:solidFill>
                <a:latin typeface="Calibri"/>
              </a:rPr>
              <a:t>Толық V4 (БЕЛСЕНДІ): </a:t>
            </a:r>
            <a:r>
              <a:rPr lang="kk-KZ" sz="1400" dirty="0">
                <a:solidFill>
                  <a:srgbClr val="1E2761"/>
                </a:solidFill>
                <a:latin typeface="Calibri"/>
              </a:rPr>
              <a:t>0a → 0b → 1 → 2 → 3 → 5 → 4</a:t>
            </a:r>
          </a:p>
          <a:p>
            <a:pPr algn="l">
              <a:buNone/>
            </a:pPr>
            <a:r>
              <a:rPr lang="kk-KZ" sz="1600" b="1" dirty="0">
                <a:solidFill>
                  <a:srgbClr val="1E2761"/>
                </a:solidFill>
                <a:latin typeface="Cambria"/>
              </a:rPr>
              <a:t>Негізгі жобалау қасиеттері</a:t>
            </a:r>
          </a:p>
          <a:p>
            <a:pPr marL="228600" indent="-228600">
              <a:buFont typeface="Arial"/>
              <a:buChar char="●"/>
            </a:pPr>
            <a:r>
              <a:rPr lang="kk-KZ" sz="1400" dirty="0">
                <a:solidFill>
                  <a:srgbClr val="1E2761"/>
                </a:solidFill>
                <a:latin typeface="Calibri"/>
              </a:rPr>
              <a:t>Inference кезінде толық детерминистік; стохастикалық элементтер тек оқыту уақытында белсенді</a:t>
            </a:r>
          </a:p>
          <a:p>
            <a:pPr marL="228600" indent="-228600">
              <a:buFont typeface="Arial"/>
              <a:buChar char="●"/>
            </a:pPr>
            <a:r>
              <a:rPr lang="kk-KZ" sz="1400" dirty="0">
                <a:solidFill>
                  <a:srgbClr val="1E2761"/>
                </a:solidFill>
                <a:latin typeface="Calibri"/>
              </a:rPr>
              <a:t>Әр кезең жүйелі Ablation Study үшін тәуелсіз қосылады/өшіріледі</a:t>
            </a:r>
          </a:p>
        </p:txBody>
      </p:sp>
      <p:sp>
        <p:nvSpPr>
          <p:cNvPr id="5" name="TextBox 4">
            <a:extLst>
              <a:ext uri="{FF2B5EF4-FFF2-40B4-BE49-F238E27FC236}">
                <a16:creationId xmlns:a16="http://schemas.microsoft.com/office/drawing/2014/main" id="{8D7C125F-0AE2-4F0A-A325-7494C9D87EBA}"/>
              </a:ext>
            </a:extLst>
          </p:cNvPr>
          <p:cNvSpPr txBox="1"/>
          <p:nvPr/>
        </p:nvSpPr>
        <p:spPr>
          <a:xfrm>
            <a:off x="457200" y="5842000"/>
            <a:ext cx="11277600" cy="698500"/>
          </a:xfrm>
          <a:prstGeom prst="rect">
            <a:avLst/>
          </a:prstGeom>
          <a:noFill/>
          <a:ln>
            <a:noFill/>
          </a:ln>
        </p:spPr>
        <p:txBody>
          <a:bodyPr vertOverflow="overflow" vert="horz" wrap="square" rtlCol="0" anchor="t">
            <a:spAutoFit/>
          </a:bodyPr>
          <a:lstStyle/>
          <a:p>
            <a:pPr algn="l">
              <a:buNone/>
            </a:pPr>
            <a:r>
              <a:rPr lang="kk-KZ" sz="1200" i="1" dirty="0">
                <a:solidFill>
                  <a:srgbClr val="666666"/>
                </a:solidFill>
                <a:latin typeface="Calibri Light"/>
              </a:rPr>
              <a:t>Ескерту: 5-кезең (augmentation) 4-кезеңнен (нормализация) бұрын орындалады — augmentation uint8 пиксел мәндерінде жұмыс істейді. 4-кезең әрқашан соңғы трансформация.</a:t>
            </a:r>
          </a:p>
        </p:txBody>
      </p:sp>
    </p:spTree>
    <p:extLst>
      <p:ext uri="{BB962C8B-B14F-4D97-AF65-F5344CB8AC3E}">
        <p14:creationId xmlns:p14="http://schemas.microsoft.com/office/powerpoint/2010/main" val="3347151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CAECAF6-5765-A9B1-5479-EDEB0917E3C7}"/>
              </a:ext>
            </a:extLst>
          </p:cNvPr>
          <p:cNvSpPr>
            <a:spLocks noGrp="1"/>
          </p:cNvSpPr>
          <p:nvPr>
            <p:ph type="title"/>
          </p:nvPr>
        </p:nvSpPr>
        <p:spPr/>
        <p:txBody>
          <a:bodyPr/>
          <a:lstStyle/>
          <a:p>
            <a:pPr algn="l">
              <a:buNone/>
            </a:pPr>
            <a:r>
              <a:rPr lang="kk-KZ" sz="3200" b="1" dirty="0">
                <a:solidFill>
                  <a:srgbClr val="1E2761"/>
                </a:solidFill>
                <a:latin typeface="Cambria"/>
              </a:rPr>
              <a:t>CLAHE формуляциясы және V4 жетілдірулер</a:t>
            </a:r>
          </a:p>
        </p:txBody>
      </p:sp>
      <p:sp>
        <p:nvSpPr>
          <p:cNvPr id="3" name="Прямоугольник: скругленные углы 2">
            <a:extLst>
              <a:ext uri="{FF2B5EF4-FFF2-40B4-BE49-F238E27FC236}">
                <a16:creationId xmlns:a16="http://schemas.microsoft.com/office/drawing/2014/main" id="{4A89C9CB-8E38-4748-8E46-D21BD7768E56}"/>
              </a:ext>
            </a:extLst>
          </p:cNvPr>
          <p:cNvSpPr/>
          <p:nvPr/>
        </p:nvSpPr>
        <p:spPr>
          <a:xfrm>
            <a:off x="762000" y="1524000"/>
            <a:ext cx="10668000" cy="952500"/>
          </a:xfrm>
          <a:prstGeom prst="roundRect">
            <a:avLst/>
          </a:prstGeom>
          <a:solidFill>
            <a:srgbClr val="1E276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2200" b="1">
                <a:solidFill>
                  <a:srgbClr val="FFFFFF"/>
                </a:solidFill>
                <a:latin typeface="Cambria"/>
                <a:ea typeface="Cambria"/>
              </a:rPr>
              <a:t>CL = min(α × A/256, β × A)   where α = 2.0, β = 0.01, A = 4096</a:t>
            </a:r>
            <a:endParaRPr lang="ru-RU" sz="2200" b="1">
              <a:solidFill>
                <a:srgbClr val="FFFFFF"/>
              </a:solidFill>
              <a:latin typeface="Cambria"/>
              <a:ea typeface="Cambria"/>
            </a:endParaRPr>
          </a:p>
        </p:txBody>
      </p:sp>
      <p:sp>
        <p:nvSpPr>
          <p:cNvPr id="4" name="TextBox 3">
            <a:extLst>
              <a:ext uri="{FF2B5EF4-FFF2-40B4-BE49-F238E27FC236}">
                <a16:creationId xmlns:a16="http://schemas.microsoft.com/office/drawing/2014/main" id="{5C81ACC7-338D-4C54-9ECE-E61ED844084C}"/>
              </a:ext>
            </a:extLst>
          </p:cNvPr>
          <p:cNvSpPr txBox="1"/>
          <p:nvPr/>
        </p:nvSpPr>
        <p:spPr>
          <a:xfrm>
            <a:off x="3810000" y="2514600"/>
            <a:ext cx="4572000" cy="279400"/>
          </a:xfrm>
          <a:prstGeom prst="rect">
            <a:avLst/>
          </a:prstGeom>
          <a:noFill/>
          <a:ln>
            <a:noFill/>
          </a:ln>
        </p:spPr>
        <p:txBody>
          <a:bodyPr vertOverflow="overflow" vert="horz" wrap="square" rtlCol="0" anchor="t">
            <a:spAutoFit/>
          </a:bodyPr>
          <a:lstStyle/>
          <a:p>
            <a:pPr algn="ctr">
              <a:buNone/>
            </a:pPr>
            <a:r>
              <a:rPr lang="kk-KZ" sz="1200" b="1" dirty="0">
                <a:solidFill>
                  <a:srgbClr val="1E2761"/>
                </a:solidFill>
                <a:latin typeface="Calibri"/>
              </a:rPr>
              <a:t>V4 Қос шектеулі CLAHE формуласы</a:t>
            </a:r>
          </a:p>
        </p:txBody>
      </p:sp>
      <p:sp>
        <p:nvSpPr>
          <p:cNvPr id="5" name="TextBox 4">
            <a:extLst>
              <a:ext uri="{FF2B5EF4-FFF2-40B4-BE49-F238E27FC236}">
                <a16:creationId xmlns:a16="http://schemas.microsoft.com/office/drawing/2014/main" id="{8F57133C-DAC6-4AFC-A518-C0880B708F38}"/>
              </a:ext>
            </a:extLst>
          </p:cNvPr>
          <p:cNvSpPr txBox="1"/>
          <p:nvPr/>
        </p:nvSpPr>
        <p:spPr>
          <a:xfrm>
            <a:off x="762000" y="2895600"/>
            <a:ext cx="5080000" cy="304800"/>
          </a:xfrm>
          <a:prstGeom prst="rect">
            <a:avLst/>
          </a:prstGeom>
          <a:noFill/>
          <a:ln>
            <a:noFill/>
          </a:ln>
        </p:spPr>
        <p:txBody>
          <a:bodyPr vertOverflow="overflow" vert="horz" wrap="square" rtlCol="0" anchor="t">
            <a:spAutoFit/>
          </a:bodyPr>
          <a:lstStyle/>
          <a:p>
            <a:pPr algn="l"/>
            <a:r>
              <a:rPr lang="kk-KZ" sz="1600" b="1">
                <a:solidFill>
                  <a:srgbClr val="1E2761"/>
                </a:solidFill>
                <a:latin typeface="Cambria"/>
              </a:rPr>
              <a:t>Өңдеу кезеңдері</a:t>
            </a:r>
          </a:p>
        </p:txBody>
      </p:sp>
      <p:sp>
        <p:nvSpPr>
          <p:cNvPr id="6" name="TextBox 5">
            <a:extLst>
              <a:ext uri="{FF2B5EF4-FFF2-40B4-BE49-F238E27FC236}">
                <a16:creationId xmlns:a16="http://schemas.microsoft.com/office/drawing/2014/main" id="{DCC3892B-6BE2-4223-95E1-AA38CD33FFE7}"/>
              </a:ext>
            </a:extLst>
          </p:cNvPr>
          <p:cNvSpPr txBox="1"/>
          <p:nvPr/>
        </p:nvSpPr>
        <p:spPr>
          <a:xfrm>
            <a:off x="762000" y="3225800"/>
            <a:ext cx="5334000" cy="2032000"/>
          </a:xfrm>
          <a:prstGeom prst="rect">
            <a:avLst/>
          </a:prstGeom>
          <a:noFill/>
          <a:ln>
            <a:noFill/>
          </a:ln>
        </p:spPr>
        <p:txBody>
          <a:bodyPr vertOverflow="overflow" vert="horz" wrap="square" rtlCol="0" anchor="t">
            <a:spAutoFit/>
          </a:bodyPr>
          <a:lstStyle/>
          <a:p>
            <a:pPr marL="228600" indent="-228600">
              <a:buFont typeface="Arial"/>
              <a:buAutoNum type="arabicPeriod"/>
            </a:pPr>
            <a:r>
              <a:rPr lang="en-US" sz="1400" dirty="0">
                <a:solidFill>
                  <a:srgbClr val="1E2761"/>
                </a:solidFill>
                <a:latin typeface="Calibri"/>
              </a:rPr>
              <a:t>Convert RGB → LAB; extract L-channel (luminance isolation)</a:t>
            </a:r>
          </a:p>
          <a:p>
            <a:pPr marL="228600" indent="-228600">
              <a:buFont typeface="Arial"/>
              <a:buAutoNum type="arabicPeriod"/>
            </a:pPr>
            <a:r>
              <a:rPr lang="en-US" sz="1400" dirty="0">
                <a:solidFill>
                  <a:srgbClr val="1E2761"/>
                </a:solidFill>
                <a:latin typeface="Calibri"/>
              </a:rPr>
              <a:t>Partition L-channel into 8×8 tile grid (64×64 px, A = 4096)</a:t>
            </a:r>
          </a:p>
          <a:p>
            <a:pPr marL="228600" indent="-228600">
              <a:buFont typeface="Arial"/>
              <a:buAutoNum type="arabicPeriod"/>
            </a:pPr>
            <a:r>
              <a:rPr lang="en-US" sz="1400" dirty="0">
                <a:solidFill>
                  <a:srgbClr val="1E2761"/>
                </a:solidFill>
                <a:latin typeface="Calibri"/>
              </a:rPr>
              <a:t>Compute per-tile histogram; clip at CL, redistribute uniformly</a:t>
            </a:r>
          </a:p>
          <a:p>
            <a:pPr marL="228600" indent="-228600">
              <a:buFont typeface="Arial"/>
              <a:buAutoNum type="arabicPeriod"/>
            </a:pPr>
            <a:r>
              <a:rPr lang="en-US" sz="1400" dirty="0">
                <a:solidFill>
                  <a:srgbClr val="1E2761"/>
                </a:solidFill>
                <a:latin typeface="Calibri"/>
              </a:rPr>
              <a:t>CDF equalization via LUT; merge L with a,b; LAB → RGB</a:t>
            </a:r>
          </a:p>
        </p:txBody>
      </p:sp>
      <p:sp>
        <p:nvSpPr>
          <p:cNvPr id="7" name="TextBox 6">
            <a:extLst>
              <a:ext uri="{FF2B5EF4-FFF2-40B4-BE49-F238E27FC236}">
                <a16:creationId xmlns:a16="http://schemas.microsoft.com/office/drawing/2014/main" id="{5B80213D-FDD8-4027-B8CE-B61AA6FDFD76}"/>
              </a:ext>
            </a:extLst>
          </p:cNvPr>
          <p:cNvSpPr txBox="1"/>
          <p:nvPr/>
        </p:nvSpPr>
        <p:spPr>
          <a:xfrm>
            <a:off x="6350000" y="2895600"/>
            <a:ext cx="5080000" cy="304800"/>
          </a:xfrm>
          <a:prstGeom prst="rect">
            <a:avLst/>
          </a:prstGeom>
          <a:noFill/>
          <a:ln>
            <a:noFill/>
          </a:ln>
        </p:spPr>
        <p:txBody>
          <a:bodyPr vertOverflow="overflow" vert="horz" wrap="square" rtlCol="0" anchor="t">
            <a:spAutoFit/>
          </a:bodyPr>
          <a:lstStyle/>
          <a:p>
            <a:pPr algn="l"/>
            <a:r>
              <a:rPr lang="kk-KZ" sz="1600" b="1">
                <a:solidFill>
                  <a:srgbClr val="1E2761"/>
                </a:solidFill>
                <a:latin typeface="Cambria"/>
              </a:rPr>
              <a:t>V3 → V4 жетілдірулер</a:t>
            </a:r>
          </a:p>
        </p:txBody>
      </p:sp>
      <p:sp>
        <p:nvSpPr>
          <p:cNvPr id="8" name="TextBox 7">
            <a:extLst>
              <a:ext uri="{FF2B5EF4-FFF2-40B4-BE49-F238E27FC236}">
                <a16:creationId xmlns:a16="http://schemas.microsoft.com/office/drawing/2014/main" id="{EA1941C1-E3F5-47DF-94FC-722829409965}"/>
              </a:ext>
            </a:extLst>
          </p:cNvPr>
          <p:cNvSpPr txBox="1"/>
          <p:nvPr/>
        </p:nvSpPr>
        <p:spPr>
          <a:xfrm>
            <a:off x="6350000" y="3225800"/>
            <a:ext cx="5334000" cy="2540000"/>
          </a:xfrm>
          <a:prstGeom prst="rect">
            <a:avLst/>
          </a:prstGeom>
          <a:noFill/>
          <a:ln>
            <a:noFill/>
          </a:ln>
        </p:spPr>
        <p:txBody>
          <a:bodyPr vertOverflow="overflow" vert="horz" wrap="square" rtlCol="0" anchor="t">
            <a:spAutoFit/>
          </a:bodyPr>
          <a:lstStyle/>
          <a:p>
            <a:pPr marL="228600" indent="-228600">
              <a:buFont typeface="Arial"/>
              <a:buAutoNum type="arabicPeriod"/>
            </a:pPr>
            <a:r>
              <a:rPr lang="en-US" sz="1400" b="1" dirty="0">
                <a:solidFill>
                  <a:srgbClr val="3A7BD5"/>
                </a:solidFill>
                <a:latin typeface="Calibri"/>
              </a:rPr>
              <a:t>Dual-constraint: </a:t>
            </a:r>
            <a:r>
              <a:rPr lang="en-US" sz="1400" dirty="0">
                <a:solidFill>
                  <a:srgbClr val="1E2761"/>
                </a:solidFill>
                <a:latin typeface="Calibri"/>
              </a:rPr>
              <a:t>CL bounded by per-tile α and global β</a:t>
            </a:r>
          </a:p>
          <a:p>
            <a:pPr marL="228600" indent="-228600">
              <a:buFont typeface="Arial"/>
              <a:buAutoNum type="arabicPeriod"/>
            </a:pPr>
            <a:r>
              <a:rPr lang="en-US" sz="1400" b="1" dirty="0">
                <a:solidFill>
                  <a:srgbClr val="3A7BD5"/>
                </a:solidFill>
                <a:latin typeface="Calibri"/>
              </a:rPr>
              <a:t>LAB L-channel: </a:t>
            </a:r>
            <a:r>
              <a:rPr lang="en-US" sz="1400" dirty="0">
                <a:solidFill>
                  <a:srgbClr val="1E2761"/>
                </a:solidFill>
                <a:latin typeface="Calibri"/>
              </a:rPr>
              <a:t>preserves chrominance, prevents color distortion</a:t>
            </a:r>
          </a:p>
          <a:p>
            <a:pPr marL="228600" indent="-228600">
              <a:buFont typeface="Arial"/>
              <a:buAutoNum type="arabicPeriod"/>
            </a:pPr>
            <a:r>
              <a:rPr lang="en-US" sz="1400" b="1" dirty="0">
                <a:solidFill>
                  <a:srgbClr val="3A7BD5"/>
                </a:solidFill>
                <a:latin typeface="Calibri"/>
              </a:rPr>
              <a:t>Stochastic (p=0.8): </a:t>
            </a:r>
            <a:r>
              <a:rPr lang="en-US" sz="1400" dirty="0">
                <a:solidFill>
                  <a:srgbClr val="1E2761"/>
                </a:solidFill>
                <a:latin typeface="Calibri"/>
              </a:rPr>
              <a:t>implicit augmentation at train; deterministic at inference</a:t>
            </a:r>
          </a:p>
          <a:p>
            <a:pPr marL="228600" indent="-228600">
              <a:buFont typeface="Arial"/>
              <a:buAutoNum type="arabicPeriod"/>
            </a:pPr>
            <a:r>
              <a:rPr lang="en-US" sz="1400" b="1" dirty="0">
                <a:solidFill>
                  <a:srgbClr val="3A7BD5"/>
                </a:solidFill>
                <a:latin typeface="Calibri"/>
              </a:rPr>
              <a:t>Artifact control: </a:t>
            </a:r>
            <a:r>
              <a:rPr lang="en-US" sz="1400" dirty="0">
                <a:solidFill>
                  <a:srgbClr val="1E2761"/>
                </a:solidFill>
                <a:latin typeface="Calibri"/>
              </a:rPr>
              <a:t>prevents noise amplification and ring artifacts</a:t>
            </a:r>
          </a:p>
        </p:txBody>
      </p:sp>
      <p:sp>
        <p:nvSpPr>
          <p:cNvPr id="9" name="TextBox 8">
            <a:extLst>
              <a:ext uri="{FF2B5EF4-FFF2-40B4-BE49-F238E27FC236}">
                <a16:creationId xmlns:a16="http://schemas.microsoft.com/office/drawing/2014/main" id="{F448FC84-A7BD-4C29-9339-BEC39AC4E348}"/>
              </a:ext>
            </a:extLst>
          </p:cNvPr>
          <p:cNvSpPr txBox="1"/>
          <p:nvPr/>
        </p:nvSpPr>
        <p:spPr>
          <a:xfrm>
            <a:off x="762000" y="5943600"/>
            <a:ext cx="5080000" cy="254000"/>
          </a:xfrm>
          <a:prstGeom prst="rect">
            <a:avLst/>
          </a:prstGeom>
          <a:noFill/>
          <a:ln>
            <a:noFill/>
          </a:ln>
        </p:spPr>
        <p:txBody>
          <a:bodyPr vertOverflow="overflow" vert="horz" wrap="square" rtlCol="0" anchor="t">
            <a:spAutoFit/>
          </a:bodyPr>
          <a:lstStyle/>
          <a:p>
            <a:pPr algn="l">
              <a:buNone/>
            </a:pPr>
            <a:r>
              <a:rPr lang="kk-KZ" sz="1000" i="1" dirty="0">
                <a:solidFill>
                  <a:srgbClr val="888888"/>
                </a:solidFill>
                <a:latin typeface="Calibri Light"/>
              </a:rPr>
              <a:t>CLAHE — LAB L-арнасында, dual-constraint формуляциямен, оқыту уақытында стохастикалық (80%)</a:t>
            </a:r>
          </a:p>
        </p:txBody>
      </p:sp>
      <p:pic>
        <p:nvPicPr>
          <p:cNvPr id="10" name="Graphic 1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66500" y="508000"/>
            <a:ext cx="609600" cy="609600"/>
          </a:xfrm>
          <a:prstGeom prst="rect">
            <a:avLst/>
          </a:prstGeom>
        </p:spPr>
      </p:pic>
    </p:spTree>
    <p:extLst>
      <p:ext uri="{BB962C8B-B14F-4D97-AF65-F5344CB8AC3E}">
        <p14:creationId xmlns:p14="http://schemas.microsoft.com/office/powerpoint/2010/main" val="4186140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4EA83CC-404B-6213-2B9D-CAAE67DCE514}"/>
              </a:ext>
            </a:extLst>
          </p:cNvPr>
          <p:cNvSpPr>
            <a:spLocks noGrp="1"/>
          </p:cNvSpPr>
          <p:nvPr>
            <p:ph type="title"/>
          </p:nvPr>
        </p:nvSpPr>
        <p:spPr/>
        <p:txBody>
          <a:bodyPr/>
          <a:lstStyle/>
          <a:p>
            <a:pPr algn="l">
              <a:buNone/>
            </a:pPr>
            <a:r>
              <a:rPr lang="kk-KZ" sz="3200" b="1" dirty="0">
                <a:solidFill>
                  <a:srgbClr val="1E2761"/>
                </a:solidFill>
                <a:latin typeface="Cambria"/>
              </a:rPr>
              <a:t>CNN архитектурасы</a:t>
            </a:r>
          </a:p>
        </p:txBody>
      </p:sp>
      <p:sp>
        <p:nvSpPr>
          <p:cNvPr id="3" name="Прямоугольник: скругленные углы 2">
            <a:extLst>
              <a:ext uri="{FF2B5EF4-FFF2-40B4-BE49-F238E27FC236}">
                <a16:creationId xmlns:a16="http://schemas.microsoft.com/office/drawing/2014/main" id="{E6030B38-7BF7-4B22-8AF0-FEF427BD204A}"/>
              </a:ext>
            </a:extLst>
          </p:cNvPr>
          <p:cNvSpPr/>
          <p:nvPr/>
        </p:nvSpPr>
        <p:spPr>
          <a:xfrm>
            <a:off x="508000" y="1524000"/>
            <a:ext cx="5461000" cy="2032000"/>
          </a:xfrm>
          <a:prstGeom prst="roundRect">
            <a:avLst/>
          </a:prstGeom>
          <a:solidFill>
            <a:srgbClr val="F0F4FA"/>
          </a:solidFill>
          <a:ln w="25400" cap="flat" cmpd="sng" algn="ctr">
            <a:solidFill>
              <a:srgbClr val="3A7BD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4" name="Прямоугольник: скругленные углы 3">
            <a:extLst>
              <a:ext uri="{FF2B5EF4-FFF2-40B4-BE49-F238E27FC236}">
                <a16:creationId xmlns:a16="http://schemas.microsoft.com/office/drawing/2014/main" id="{CBB49DC8-04EA-450D-A0A4-D72866A69C27}"/>
              </a:ext>
            </a:extLst>
          </p:cNvPr>
          <p:cNvSpPr/>
          <p:nvPr/>
        </p:nvSpPr>
        <p:spPr>
          <a:xfrm>
            <a:off x="6223000" y="1524000"/>
            <a:ext cx="5461000" cy="2032000"/>
          </a:xfrm>
          <a:prstGeom prst="roundRect">
            <a:avLst/>
          </a:prstGeom>
          <a:solidFill>
            <a:srgbClr val="F0F4FA"/>
          </a:solidFill>
          <a:ln w="25400" cap="flat" cmpd="sng" algn="ctr">
            <a:solidFill>
              <a:srgbClr val="E8B84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5" name="TextBox 4">
            <a:extLst>
              <a:ext uri="{FF2B5EF4-FFF2-40B4-BE49-F238E27FC236}">
                <a16:creationId xmlns:a16="http://schemas.microsoft.com/office/drawing/2014/main" id="{9F2F89A1-C566-4351-AB26-6206D5700FCE}"/>
              </a:ext>
            </a:extLst>
          </p:cNvPr>
          <p:cNvSpPr txBox="1"/>
          <p:nvPr/>
        </p:nvSpPr>
        <p:spPr>
          <a:xfrm>
            <a:off x="635000" y="1587500"/>
            <a:ext cx="5207000" cy="1905000"/>
          </a:xfrm>
          <a:prstGeom prst="rect">
            <a:avLst/>
          </a:prstGeom>
          <a:noFill/>
          <a:ln>
            <a:noFill/>
          </a:ln>
        </p:spPr>
        <p:txBody>
          <a:bodyPr vertOverflow="overflow" vert="horz" wrap="square" rtlCol="0" anchor="t">
            <a:spAutoFit/>
          </a:bodyPr>
          <a:lstStyle/>
          <a:p>
            <a:pPr algn="ctr">
              <a:buNone/>
            </a:pPr>
            <a:r>
              <a:rPr lang="kk-KZ" sz="1800" b="1" dirty="0">
                <a:solidFill>
                  <a:srgbClr val="3A7BD5"/>
                </a:solidFill>
                <a:latin typeface="Cambria"/>
              </a:rPr>
              <a:t>ResNet-50</a:t>
            </a:r>
          </a:p>
          <a:p>
            <a:pPr marL="228600" indent="-228600">
              <a:buFont typeface="Arial"/>
              <a:buChar char="●"/>
            </a:pPr>
            <a:r>
              <a:rPr lang="kk-KZ" sz="1400" dirty="0">
                <a:solidFill>
                  <a:srgbClr val="1E2761"/>
                </a:solidFill>
                <a:latin typeface="Calibri"/>
              </a:rPr>
              <a:t>Residual network (50 қабат, 4 bottleneck кезең)</a:t>
            </a:r>
          </a:p>
          <a:p>
            <a:pPr marL="228600" indent="-228600">
              <a:buFont typeface="Arial"/>
              <a:buChar char="●"/>
            </a:pPr>
            <a:r>
              <a:rPr lang="kk-KZ" sz="1400" dirty="0">
                <a:solidFill>
                  <a:srgbClr val="1E2761"/>
                </a:solidFill>
                <a:latin typeface="Calibri"/>
              </a:rPr>
              <a:t>Feature өлшемі: </a:t>
            </a:r>
            <a:r>
              <a:rPr lang="kk-KZ" sz="1400" b="1" dirty="0">
                <a:solidFill>
                  <a:srgbClr val="1E2761"/>
                </a:solidFill>
                <a:latin typeface="Calibri"/>
              </a:rPr>
              <a:t>2048</a:t>
            </a:r>
            <a:r>
              <a:rPr lang="kk-KZ" sz="1400" dirty="0">
                <a:solidFill>
                  <a:srgbClr val="1E2761"/>
                </a:solidFill>
                <a:latin typeface="Calibri"/>
              </a:rPr>
              <a:t>-d | ~23.5M параметр</a:t>
            </a:r>
          </a:p>
          <a:p>
            <a:pPr marL="228600" indent="-228600">
              <a:buFont typeface="Arial"/>
              <a:buChar char="●"/>
            </a:pPr>
            <a:r>
              <a:rPr lang="kk-KZ" sz="1400" dirty="0">
                <a:solidFill>
                  <a:srgbClr val="1E2761"/>
                </a:solidFill>
                <a:latin typeface="Calibri"/>
              </a:rPr>
              <a:t>Алдын ала оқытылған: ImageNet-1K V2 (torchvision)</a:t>
            </a:r>
          </a:p>
          <a:p>
            <a:pPr marL="228600" indent="-228600">
              <a:buFont typeface="Arial"/>
              <a:buChar char="●"/>
            </a:pPr>
            <a:r>
              <a:rPr lang="kk-KZ" sz="1400" dirty="0">
                <a:solidFill>
                  <a:srgbClr val="1E2761"/>
                </a:solidFill>
                <a:latin typeface="Calibri"/>
              </a:rPr>
              <a:t>Head: Dropout(0.4) → Linear(2048, 5)</a:t>
            </a:r>
          </a:p>
        </p:txBody>
      </p:sp>
      <p:sp>
        <p:nvSpPr>
          <p:cNvPr id="6" name="TextBox 5">
            <a:extLst>
              <a:ext uri="{FF2B5EF4-FFF2-40B4-BE49-F238E27FC236}">
                <a16:creationId xmlns:a16="http://schemas.microsoft.com/office/drawing/2014/main" id="{0A70FFAA-9DFB-4FE3-8818-16B8A013B050}"/>
              </a:ext>
            </a:extLst>
          </p:cNvPr>
          <p:cNvSpPr txBox="1"/>
          <p:nvPr/>
        </p:nvSpPr>
        <p:spPr>
          <a:xfrm>
            <a:off x="6350000" y="1587500"/>
            <a:ext cx="5207000" cy="1905000"/>
          </a:xfrm>
          <a:prstGeom prst="rect">
            <a:avLst/>
          </a:prstGeom>
          <a:noFill/>
          <a:ln>
            <a:noFill/>
          </a:ln>
        </p:spPr>
        <p:txBody>
          <a:bodyPr vertOverflow="overflow" vert="horz" wrap="square" rtlCol="0" anchor="t">
            <a:spAutoFit/>
          </a:bodyPr>
          <a:lstStyle/>
          <a:p>
            <a:pPr algn="ctr">
              <a:buNone/>
            </a:pPr>
            <a:r>
              <a:rPr lang="kk-KZ" sz="1800" b="1" dirty="0">
                <a:solidFill>
                  <a:srgbClr val="E8B84B"/>
                </a:solidFill>
                <a:latin typeface="Cambria"/>
              </a:rPr>
              <a:t>EfficientNet-B3</a:t>
            </a:r>
          </a:p>
          <a:p>
            <a:pPr marL="228600" indent="-228600">
              <a:buFont typeface="Arial"/>
              <a:buChar char="●"/>
            </a:pPr>
            <a:r>
              <a:rPr lang="kk-KZ" sz="1400" dirty="0">
                <a:solidFill>
                  <a:srgbClr val="1E2761"/>
                </a:solidFill>
                <a:latin typeface="Calibri"/>
              </a:rPr>
              <a:t>Compound-scaled (MBConv + SE блоктар)</a:t>
            </a:r>
          </a:p>
          <a:p>
            <a:pPr marL="228600" indent="-228600">
              <a:buFont typeface="Arial"/>
              <a:buChar char="●"/>
            </a:pPr>
            <a:r>
              <a:rPr lang="kk-KZ" sz="1400" dirty="0">
                <a:solidFill>
                  <a:srgbClr val="1E2761"/>
                </a:solidFill>
                <a:latin typeface="Calibri"/>
              </a:rPr>
              <a:t>Feature өлшемі: </a:t>
            </a:r>
            <a:r>
              <a:rPr lang="kk-KZ" sz="1400" b="1" dirty="0">
                <a:solidFill>
                  <a:srgbClr val="1E2761"/>
                </a:solidFill>
                <a:latin typeface="Calibri"/>
              </a:rPr>
              <a:t>1536</a:t>
            </a:r>
            <a:r>
              <a:rPr lang="kk-KZ" sz="1400" dirty="0">
                <a:solidFill>
                  <a:srgbClr val="1E2761"/>
                </a:solidFill>
                <a:latin typeface="Calibri"/>
              </a:rPr>
              <a:t>-d | ~10.7M параметр</a:t>
            </a:r>
          </a:p>
          <a:p>
            <a:pPr marL="228600" indent="-228600">
              <a:buFont typeface="Arial"/>
              <a:buChar char="●"/>
            </a:pPr>
            <a:r>
              <a:rPr lang="kk-KZ" sz="1400" dirty="0">
                <a:solidFill>
                  <a:srgbClr val="1E2761"/>
                </a:solidFill>
                <a:latin typeface="Calibri"/>
              </a:rPr>
              <a:t>Алдын ала оқытылған: ImageNet-1K (timm)</a:t>
            </a:r>
          </a:p>
          <a:p>
            <a:pPr marL="228600" indent="-228600">
              <a:buFont typeface="Arial"/>
              <a:buChar char="●"/>
            </a:pPr>
            <a:r>
              <a:rPr lang="kk-KZ" sz="1400" dirty="0">
                <a:solidFill>
                  <a:srgbClr val="1E2761"/>
                </a:solidFill>
                <a:latin typeface="Calibri"/>
              </a:rPr>
              <a:t>Head: Dropout(0.4) → Linear(1536, 5)</a:t>
            </a:r>
          </a:p>
        </p:txBody>
      </p:sp>
      <p:graphicFrame>
        <p:nvGraphicFramePr>
          <p:cNvPr id="8" name="Таблица 7">
            <a:extLst>
              <a:ext uri="{FF2B5EF4-FFF2-40B4-BE49-F238E27FC236}">
                <a16:creationId xmlns:a16="http://schemas.microsoft.com/office/drawing/2014/main" id="{28AA8BD1-5E4E-49FC-9159-E2C985BB998B}"/>
              </a:ext>
            </a:extLst>
          </p:cNvPr>
          <p:cNvGraphicFramePr>
            <a:graphicFrameLocks noGrp="1"/>
          </p:cNvGraphicFramePr>
          <p:nvPr/>
        </p:nvGraphicFramePr>
        <p:xfrm>
          <a:off x="508000" y="3810000"/>
          <a:ext cx="8890000" cy="1981200"/>
        </p:xfrm>
        <a:graphic>
          <a:graphicData uri="http://schemas.openxmlformats.org/drawingml/2006/table">
            <a:tbl>
              <a:tblPr firstRow="1" bandRow="1">
                <a:tableStyleId>{5C22544A-7EE6-4342-B048-85BDC9FD1C3A}</a:tableStyleId>
              </a:tblPr>
              <a:tblGrid>
                <a:gridCol w="1778000">
                  <a:extLst>
                    <a:ext uri="{9D8B030D-6E8A-4147-A177-3AD203B41FA5}">
                      <a16:colId xmlns:a16="http://schemas.microsoft.com/office/drawing/2014/main" val="1745110569"/>
                    </a:ext>
                  </a:extLst>
                </a:gridCol>
                <a:gridCol w="7112000">
                  <a:extLst>
                    <a:ext uri="{9D8B030D-6E8A-4147-A177-3AD203B41FA5}">
                      <a16:colId xmlns:a16="http://schemas.microsoft.com/office/drawing/2014/main" val="17864571"/>
                    </a:ext>
                  </a:extLst>
                </a:gridCol>
              </a:tblGrid>
              <a:tr h="330200">
                <a:tc>
                  <a:txBody>
                    <a:bodyPr/>
                    <a:lstStyle/>
                    <a:p>
                      <a:pPr algn="ctr"/>
                      <a:r>
                        <a:rPr lang="ru-RU" sz="1400" b="1">
                          <a:solidFill>
                            <a:srgbClr val="FFFFFF"/>
                          </a:solidFill>
                          <a:latin typeface="Calibri"/>
                          <a:ea typeface="Calibri"/>
                          <a:cs typeface="Calibri"/>
                        </a:rPr>
                        <a:t>Parameter</a:t>
                      </a:r>
                    </a:p>
                  </a:txBody>
                  <a:tcPr>
                    <a:solidFill>
                      <a:srgbClr val="1E2761"/>
                    </a:solidFill>
                  </a:tcPr>
                </a:tc>
                <a:tc>
                  <a:txBody>
                    <a:bodyPr/>
                    <a:lstStyle/>
                    <a:p>
                      <a:pPr algn="ctr"/>
                      <a:r>
                        <a:rPr lang="ru-RU" sz="1400" b="1">
                          <a:solidFill>
                            <a:srgbClr val="FFFFFF"/>
                          </a:solidFill>
                          <a:latin typeface="Calibri"/>
                          <a:ea typeface="Calibri"/>
                          <a:cs typeface="Calibri"/>
                        </a:rPr>
                        <a:t>Configuration</a:t>
                      </a:r>
                    </a:p>
                  </a:txBody>
                  <a:tcPr>
                    <a:solidFill>
                      <a:srgbClr val="1E2761"/>
                    </a:solidFill>
                  </a:tcPr>
                </a:tc>
                <a:extLst>
                  <a:ext uri="{0D108BD9-81ED-4DB2-BD59-A6C34878D82A}">
                    <a16:rowId xmlns:a16="http://schemas.microsoft.com/office/drawing/2014/main" val="1658977249"/>
                  </a:ext>
                </a:extLst>
              </a:tr>
              <a:tr h="330200">
                <a:tc>
                  <a:txBody>
                    <a:bodyPr/>
                    <a:lstStyle/>
                    <a:p>
                      <a:pPr algn="l"/>
                      <a:r>
                        <a:rPr lang="ru-RU" sz="1400" b="1">
                          <a:solidFill>
                            <a:srgbClr val="1E2761"/>
                          </a:solidFill>
                          <a:latin typeface="Calibri"/>
                          <a:ea typeface="Calibri"/>
                          <a:cs typeface="Calibri"/>
                        </a:rPr>
                        <a:t>Optimizer</a:t>
                      </a:r>
                    </a:p>
                  </a:txBody>
                  <a:tcPr>
                    <a:solidFill>
                      <a:srgbClr val="F0F4FA"/>
                    </a:solidFill>
                  </a:tcPr>
                </a:tc>
                <a:tc>
                  <a:txBody>
                    <a:bodyPr/>
                    <a:lstStyle/>
                    <a:p>
                      <a:pPr algn="l"/>
                      <a:r>
                        <a:rPr lang="ru-RU" sz="1400">
                          <a:solidFill>
                            <a:srgbClr val="1E2761"/>
                          </a:solidFill>
                          <a:latin typeface="Calibri"/>
                          <a:ea typeface="Calibri"/>
                          <a:cs typeface="Calibri"/>
                        </a:rPr>
                        <a:t>Adam (β₁=0.9, β₂=0.999, wd=1e-4)</a:t>
                      </a:r>
                    </a:p>
                  </a:txBody>
                  <a:tcPr>
                    <a:solidFill>
                      <a:srgbClr val="F0F4FA"/>
                    </a:solidFill>
                  </a:tcPr>
                </a:tc>
                <a:extLst>
                  <a:ext uri="{0D108BD9-81ED-4DB2-BD59-A6C34878D82A}">
                    <a16:rowId xmlns:a16="http://schemas.microsoft.com/office/drawing/2014/main" val="449794145"/>
                  </a:ext>
                </a:extLst>
              </a:tr>
              <a:tr h="330200">
                <a:tc>
                  <a:txBody>
                    <a:bodyPr/>
                    <a:lstStyle/>
                    <a:p>
                      <a:pPr algn="l"/>
                      <a:r>
                        <a:rPr lang="ru-RU" sz="1400" b="1">
                          <a:solidFill>
                            <a:srgbClr val="1E2761"/>
                          </a:solidFill>
                          <a:latin typeface="Calibri"/>
                          <a:ea typeface="Calibri"/>
                          <a:cs typeface="Calibri"/>
                        </a:rPr>
                        <a:t>Learning Rate</a:t>
                      </a:r>
                    </a:p>
                  </a:txBody>
                  <a:tcPr>
                    <a:solidFill>
                      <a:srgbClr val="FFFFFF"/>
                    </a:solidFill>
                  </a:tcPr>
                </a:tc>
                <a:tc>
                  <a:txBody>
                    <a:bodyPr/>
                    <a:lstStyle/>
                    <a:p>
                      <a:pPr algn="l"/>
                      <a:r>
                        <a:rPr lang="ru-RU" sz="1400">
                          <a:solidFill>
                            <a:srgbClr val="1E2761"/>
                          </a:solidFill>
                          <a:latin typeface="Calibri"/>
                          <a:ea typeface="Calibri"/>
                          <a:cs typeface="Calibri"/>
                        </a:rPr>
                        <a:t>1e-4 + ReduceOnPlateau (factor 0.5, patience 3)</a:t>
                      </a:r>
                    </a:p>
                  </a:txBody>
                  <a:tcPr>
                    <a:solidFill>
                      <a:srgbClr val="FFFFFF"/>
                    </a:solidFill>
                  </a:tcPr>
                </a:tc>
                <a:extLst>
                  <a:ext uri="{0D108BD9-81ED-4DB2-BD59-A6C34878D82A}">
                    <a16:rowId xmlns:a16="http://schemas.microsoft.com/office/drawing/2014/main" val="4218670176"/>
                  </a:ext>
                </a:extLst>
              </a:tr>
              <a:tr h="330200">
                <a:tc>
                  <a:txBody>
                    <a:bodyPr/>
                    <a:lstStyle/>
                    <a:p>
                      <a:pPr algn="l"/>
                      <a:r>
                        <a:rPr lang="ru-RU" sz="1400" b="1">
                          <a:solidFill>
                            <a:srgbClr val="1E2761"/>
                          </a:solidFill>
                          <a:latin typeface="Calibri"/>
                          <a:ea typeface="Calibri"/>
                          <a:cs typeface="Calibri"/>
                        </a:rPr>
                        <a:t>Batch Size</a:t>
                      </a:r>
                    </a:p>
                  </a:txBody>
                  <a:tcPr>
                    <a:solidFill>
                      <a:srgbClr val="F0F4FA"/>
                    </a:solidFill>
                  </a:tcPr>
                </a:tc>
                <a:tc>
                  <a:txBody>
                    <a:bodyPr/>
                    <a:lstStyle/>
                    <a:p>
                      <a:pPr algn="l"/>
                      <a:r>
                        <a:rPr lang="ru-RU" sz="1400">
                          <a:solidFill>
                            <a:srgbClr val="1E2761"/>
                          </a:solidFill>
                          <a:latin typeface="Calibri"/>
                          <a:ea typeface="Calibri"/>
                          <a:cs typeface="Calibri"/>
                        </a:rPr>
                        <a:t>16 (12 GB VRAM constraint at 512×512)</a:t>
                      </a:r>
                    </a:p>
                  </a:txBody>
                  <a:tcPr>
                    <a:solidFill>
                      <a:srgbClr val="F0F4FA"/>
                    </a:solidFill>
                  </a:tcPr>
                </a:tc>
                <a:extLst>
                  <a:ext uri="{0D108BD9-81ED-4DB2-BD59-A6C34878D82A}">
                    <a16:rowId xmlns:a16="http://schemas.microsoft.com/office/drawing/2014/main" val="1162511097"/>
                  </a:ext>
                </a:extLst>
              </a:tr>
              <a:tr h="330200">
                <a:tc>
                  <a:txBody>
                    <a:bodyPr/>
                    <a:lstStyle/>
                    <a:p>
                      <a:pPr algn="l"/>
                      <a:r>
                        <a:rPr lang="ru-RU" sz="1400" b="1">
                          <a:solidFill>
                            <a:srgbClr val="1E2761"/>
                          </a:solidFill>
                          <a:latin typeface="Calibri"/>
                          <a:ea typeface="Calibri"/>
                          <a:cs typeface="Calibri"/>
                        </a:rPr>
                        <a:t>Epochs</a:t>
                      </a:r>
                    </a:p>
                  </a:txBody>
                  <a:tcPr>
                    <a:solidFill>
                      <a:srgbClr val="FFFFFF"/>
                    </a:solidFill>
                  </a:tcPr>
                </a:tc>
                <a:tc>
                  <a:txBody>
                    <a:bodyPr/>
                    <a:lstStyle/>
                    <a:p>
                      <a:pPr algn="l"/>
                      <a:r>
                        <a:rPr lang="ru-RU" sz="1400">
                          <a:solidFill>
                            <a:srgbClr val="1E2761"/>
                          </a:solidFill>
                          <a:latin typeface="Calibri"/>
                          <a:ea typeface="Calibri"/>
                          <a:cs typeface="Calibri"/>
                        </a:rPr>
                        <a:t>Max 20, early stopping (patience 5, val_wF1)</a:t>
                      </a:r>
                    </a:p>
                  </a:txBody>
                  <a:tcPr>
                    <a:solidFill>
                      <a:srgbClr val="FFFFFF"/>
                    </a:solidFill>
                  </a:tcPr>
                </a:tc>
                <a:extLst>
                  <a:ext uri="{0D108BD9-81ED-4DB2-BD59-A6C34878D82A}">
                    <a16:rowId xmlns:a16="http://schemas.microsoft.com/office/drawing/2014/main" val="4107533444"/>
                  </a:ext>
                </a:extLst>
              </a:tr>
              <a:tr h="330200">
                <a:tc>
                  <a:txBody>
                    <a:bodyPr/>
                    <a:lstStyle/>
                    <a:p>
                      <a:pPr algn="l"/>
                      <a:r>
                        <a:rPr lang="ru-RU" sz="1400" b="1">
                          <a:solidFill>
                            <a:srgbClr val="1E2761"/>
                          </a:solidFill>
                          <a:latin typeface="Calibri"/>
                          <a:ea typeface="Calibri"/>
                          <a:cs typeface="Calibri"/>
                        </a:rPr>
                        <a:t>Loss</a:t>
                      </a:r>
                    </a:p>
                  </a:txBody>
                  <a:tcPr>
                    <a:solidFill>
                      <a:srgbClr val="F0F4FA"/>
                    </a:solidFill>
                  </a:tcPr>
                </a:tc>
                <a:tc>
                  <a:txBody>
                    <a:bodyPr/>
                    <a:lstStyle/>
                    <a:p>
                      <a:pPr algn="l"/>
                      <a:r>
                        <a:rPr lang="ru-RU" sz="1400">
                          <a:solidFill>
                            <a:srgbClr val="1E2761"/>
                          </a:solidFill>
                          <a:latin typeface="Calibri"/>
                          <a:ea typeface="Calibri"/>
                          <a:cs typeface="Calibri"/>
                        </a:rPr>
                        <a:t>Weighted cross-entropy (inverse-freq class weights)</a:t>
                      </a:r>
                    </a:p>
                  </a:txBody>
                  <a:tcPr>
                    <a:solidFill>
                      <a:srgbClr val="F0F4FA"/>
                    </a:solidFill>
                  </a:tcPr>
                </a:tc>
                <a:extLst>
                  <a:ext uri="{0D108BD9-81ED-4DB2-BD59-A6C34878D82A}">
                    <a16:rowId xmlns:a16="http://schemas.microsoft.com/office/drawing/2014/main" val="219788314"/>
                  </a:ext>
                </a:extLst>
              </a:tr>
            </a:tbl>
          </a:graphicData>
        </a:graphic>
      </p:graphicFrame>
      <p:sp>
        <p:nvSpPr>
          <p:cNvPr id="9" name="Прямоугольник: скругленные углы 8">
            <a:extLst>
              <a:ext uri="{FF2B5EF4-FFF2-40B4-BE49-F238E27FC236}">
                <a16:creationId xmlns:a16="http://schemas.microsoft.com/office/drawing/2014/main" id="{0137DDF0-165A-4536-A852-DA570E3231F6}"/>
              </a:ext>
            </a:extLst>
          </p:cNvPr>
          <p:cNvSpPr/>
          <p:nvPr/>
        </p:nvSpPr>
        <p:spPr>
          <a:xfrm>
            <a:off x="9588500" y="3873500"/>
            <a:ext cx="2349500" cy="1968500"/>
          </a:xfrm>
          <a:prstGeom prst="roundRect">
            <a:avLst/>
          </a:prstGeom>
          <a:solidFill>
            <a:srgbClr val="C039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en-US" sz="1400" b="1" dirty="0">
                <a:solidFill>
                  <a:srgbClr val="FFFFFF"/>
                </a:solidFill>
                <a:latin typeface="Cambria"/>
              </a:rPr>
              <a:t>⚠ fp16 Note</a:t>
            </a:r>
          </a:p>
          <a:p>
            <a:pPr algn="ctr">
              <a:buNone/>
            </a:pPr>
            <a:r>
              <a:rPr lang="en-US" sz="1200" dirty="0">
                <a:solidFill>
                  <a:srgbClr val="FFFFFF"/>
                </a:solidFill>
                <a:latin typeface="Calibri"/>
              </a:rPr>
              <a:t>EfficientNet-B3: mixed precision disabled. Extreme logit magnitudes (±1700) cause NaN in softmax. Training in full fp32.</a:t>
            </a:r>
          </a:p>
        </p:txBody>
      </p:sp>
      <p:pic>
        <p:nvPicPr>
          <p:cNvPr id="10" name="Graphic 1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66500" y="508000"/>
            <a:ext cx="609600" cy="609600"/>
          </a:xfrm>
          <a:prstGeom prst="rect">
            <a:avLst/>
          </a:prstGeom>
        </p:spPr>
      </p:pic>
    </p:spTree>
    <p:extLst>
      <p:ext uri="{BB962C8B-B14F-4D97-AF65-F5344CB8AC3E}">
        <p14:creationId xmlns:p14="http://schemas.microsoft.com/office/powerpoint/2010/main" val="3525623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41A761-9B2C-DB95-8E53-FA32FD11285A}"/>
              </a:ext>
            </a:extLst>
          </p:cNvPr>
          <p:cNvSpPr>
            <a:spLocks noGrp="1"/>
          </p:cNvSpPr>
          <p:nvPr>
            <p:ph type="title"/>
          </p:nvPr>
        </p:nvSpPr>
        <p:spPr/>
        <p:txBody>
          <a:bodyPr/>
          <a:lstStyle/>
          <a:p>
            <a:pPr algn="l">
              <a:buNone/>
            </a:pPr>
            <a:r>
              <a:rPr lang="kk-KZ" sz="3200" b="1" dirty="0">
                <a:solidFill>
                  <a:srgbClr val="1E2761"/>
                </a:solidFill>
                <a:latin typeface="Cambria"/>
              </a:rPr>
              <a:t>Деректер жиынтығы архитектурасы</a:t>
            </a:r>
          </a:p>
        </p:txBody>
      </p:sp>
      <p:graphicFrame>
        <p:nvGraphicFramePr>
          <p:cNvPr id="4" name="Таблица 3">
            <a:extLst>
              <a:ext uri="{FF2B5EF4-FFF2-40B4-BE49-F238E27FC236}">
                <a16:creationId xmlns:a16="http://schemas.microsoft.com/office/drawing/2014/main" id="{7AD63C47-BB61-4926-8215-FF7CE7D4A995}"/>
              </a:ext>
            </a:extLst>
          </p:cNvPr>
          <p:cNvGraphicFramePr>
            <a:graphicFrameLocks noGrp="1"/>
          </p:cNvGraphicFramePr>
          <p:nvPr/>
        </p:nvGraphicFramePr>
        <p:xfrm>
          <a:off x="508000" y="1587500"/>
          <a:ext cx="11176000" cy="2159000"/>
        </p:xfrm>
        <a:graphic>
          <a:graphicData uri="http://schemas.openxmlformats.org/drawingml/2006/table">
            <a:tbl>
              <a:tblPr firstRow="1" bandRow="1">
                <a:tableStyleId>{5C22544A-7EE6-4342-B048-85BDC9FD1C3A}</a:tableStyleId>
              </a:tblPr>
              <a:tblGrid>
                <a:gridCol w="2159000">
                  <a:extLst>
                    <a:ext uri="{9D8B030D-6E8A-4147-A177-3AD203B41FA5}">
                      <a16:colId xmlns:a16="http://schemas.microsoft.com/office/drawing/2014/main" val="1870107905"/>
                    </a:ext>
                  </a:extLst>
                </a:gridCol>
                <a:gridCol w="1968500">
                  <a:extLst>
                    <a:ext uri="{9D8B030D-6E8A-4147-A177-3AD203B41FA5}">
                      <a16:colId xmlns:a16="http://schemas.microsoft.com/office/drawing/2014/main" val="3626120860"/>
                    </a:ext>
                  </a:extLst>
                </a:gridCol>
                <a:gridCol w="2730500">
                  <a:extLst>
                    <a:ext uri="{9D8B030D-6E8A-4147-A177-3AD203B41FA5}">
                      <a16:colId xmlns:a16="http://schemas.microsoft.com/office/drawing/2014/main" val="780751474"/>
                    </a:ext>
                  </a:extLst>
                </a:gridCol>
                <a:gridCol w="1143000">
                  <a:extLst>
                    <a:ext uri="{9D8B030D-6E8A-4147-A177-3AD203B41FA5}">
                      <a16:colId xmlns:a16="http://schemas.microsoft.com/office/drawing/2014/main" val="592482193"/>
                    </a:ext>
                  </a:extLst>
                </a:gridCol>
                <a:gridCol w="3175000">
                  <a:extLst>
                    <a:ext uri="{9D8B030D-6E8A-4147-A177-3AD203B41FA5}">
                      <a16:colId xmlns:a16="http://schemas.microsoft.com/office/drawing/2014/main" val="1603775141"/>
                    </a:ext>
                  </a:extLst>
                </a:gridCol>
              </a:tblGrid>
              <a:tr h="431800">
                <a:tc>
                  <a:txBody>
                    <a:bodyPr/>
                    <a:lstStyle/>
                    <a:p>
                      <a:pPr algn="ctr"/>
                      <a:r>
                        <a:rPr lang="ru-RU" sz="1400" b="1">
                          <a:solidFill>
                            <a:srgbClr val="FFFFFF"/>
                          </a:solidFill>
                          <a:latin typeface="Calibri"/>
                          <a:ea typeface="Calibri"/>
                          <a:cs typeface="Calibri"/>
                        </a:rPr>
                        <a:t>Tier</a:t>
                      </a:r>
                    </a:p>
                  </a:txBody>
                  <a:tcPr>
                    <a:solidFill>
                      <a:srgbClr val="1E2761"/>
                    </a:solidFill>
                  </a:tcPr>
                </a:tc>
                <a:tc>
                  <a:txBody>
                    <a:bodyPr/>
                    <a:lstStyle/>
                    <a:p>
                      <a:pPr algn="ctr"/>
                      <a:r>
                        <a:rPr lang="ru-RU" sz="1400" b="1">
                          <a:solidFill>
                            <a:srgbClr val="FFFFFF"/>
                          </a:solidFill>
                          <a:latin typeface="Calibri"/>
                          <a:ea typeface="Calibri"/>
                          <a:cs typeface="Calibri"/>
                        </a:rPr>
                        <a:t>Role</a:t>
                      </a:r>
                    </a:p>
                  </a:txBody>
                  <a:tcPr>
                    <a:solidFill>
                      <a:srgbClr val="1E2761"/>
                    </a:solidFill>
                  </a:tcPr>
                </a:tc>
                <a:tc>
                  <a:txBody>
                    <a:bodyPr/>
                    <a:lstStyle/>
                    <a:p>
                      <a:pPr algn="ctr"/>
                      <a:r>
                        <a:rPr lang="ru-RU" sz="1400" b="1">
                          <a:solidFill>
                            <a:srgbClr val="FFFFFF"/>
                          </a:solidFill>
                          <a:latin typeface="Calibri"/>
                          <a:ea typeface="Calibri"/>
                          <a:cs typeface="Calibri"/>
                        </a:rPr>
                        <a:t>Dataset</a:t>
                      </a:r>
                    </a:p>
                  </a:txBody>
                  <a:tcPr>
                    <a:solidFill>
                      <a:srgbClr val="1E2761"/>
                    </a:solidFill>
                  </a:tcPr>
                </a:tc>
                <a:tc>
                  <a:txBody>
                    <a:bodyPr/>
                    <a:lstStyle/>
                    <a:p>
                      <a:pPr algn="ctr"/>
                      <a:r>
                        <a:rPr lang="ru-RU" sz="1400" b="1">
                          <a:solidFill>
                            <a:srgbClr val="FFFFFF"/>
                          </a:solidFill>
                          <a:latin typeface="Calibri"/>
                          <a:ea typeface="Calibri"/>
                          <a:cs typeface="Calibri"/>
                        </a:rPr>
                        <a:t>Images</a:t>
                      </a:r>
                    </a:p>
                  </a:txBody>
                  <a:tcPr>
                    <a:solidFill>
                      <a:srgbClr val="1E2761"/>
                    </a:solidFill>
                  </a:tcPr>
                </a:tc>
                <a:tc>
                  <a:txBody>
                    <a:bodyPr/>
                    <a:lstStyle/>
                    <a:p>
                      <a:pPr algn="ctr"/>
                      <a:r>
                        <a:rPr lang="ru-RU" sz="1400" b="1">
                          <a:solidFill>
                            <a:srgbClr val="FFFFFF"/>
                          </a:solidFill>
                          <a:latin typeface="Calibri"/>
                          <a:ea typeface="Calibri"/>
                          <a:cs typeface="Calibri"/>
                        </a:rPr>
                        <a:t>Camera</a:t>
                      </a:r>
                    </a:p>
                  </a:txBody>
                  <a:tcPr>
                    <a:solidFill>
                      <a:srgbClr val="1E2761"/>
                    </a:solidFill>
                  </a:tcPr>
                </a:tc>
                <a:extLst>
                  <a:ext uri="{0D108BD9-81ED-4DB2-BD59-A6C34878D82A}">
                    <a16:rowId xmlns:a16="http://schemas.microsoft.com/office/drawing/2014/main" val="2509831408"/>
                  </a:ext>
                </a:extLst>
              </a:tr>
              <a:tr h="431800">
                <a:tc>
                  <a:txBody>
                    <a:bodyPr/>
                    <a:lstStyle/>
                    <a:p>
                      <a:pPr algn="l"/>
                      <a:r>
                        <a:rPr lang="ru-RU" sz="1400" b="1">
                          <a:solidFill>
                            <a:srgbClr val="1E2761"/>
                          </a:solidFill>
                          <a:latin typeface="Calibri"/>
                          <a:ea typeface="Calibri"/>
                          <a:cs typeface="Calibri"/>
                        </a:rPr>
                        <a:t>1 — Training</a:t>
                      </a:r>
                    </a:p>
                  </a:txBody>
                  <a:tcPr>
                    <a:solidFill>
                      <a:srgbClr val="F0F4FA"/>
                    </a:solidFill>
                  </a:tcPr>
                </a:tc>
                <a:tc>
                  <a:txBody>
                    <a:bodyPr/>
                    <a:lstStyle/>
                    <a:p>
                      <a:pPr algn="l"/>
                      <a:r>
                        <a:rPr lang="ru-RU" sz="1400">
                          <a:solidFill>
                            <a:srgbClr val="1E2761"/>
                          </a:solidFill>
                          <a:latin typeface="Calibri"/>
                          <a:ea typeface="Calibri"/>
                          <a:cs typeface="Calibri"/>
                        </a:rPr>
                        <a:t>Primary</a:t>
                      </a:r>
                    </a:p>
                  </a:txBody>
                  <a:tcPr>
                    <a:solidFill>
                      <a:srgbClr val="F0F4FA"/>
                    </a:solidFill>
                  </a:tcPr>
                </a:tc>
                <a:tc>
                  <a:txBody>
                    <a:bodyPr/>
                    <a:lstStyle/>
                    <a:p>
                      <a:pPr algn="l"/>
                      <a:r>
                        <a:rPr lang="ru-RU" sz="1400">
                          <a:solidFill>
                            <a:srgbClr val="1E2761"/>
                          </a:solidFill>
                          <a:latin typeface="Calibri"/>
                          <a:ea typeface="Calibri"/>
                          <a:cs typeface="Calibri"/>
                        </a:rPr>
                        <a:t>EyePACS (40%)</a:t>
                      </a:r>
                    </a:p>
                  </a:txBody>
                  <a:tcPr>
                    <a:solidFill>
                      <a:srgbClr val="F0F4FA"/>
                    </a:solidFill>
                  </a:tcPr>
                </a:tc>
                <a:tc>
                  <a:txBody>
                    <a:bodyPr/>
                    <a:lstStyle/>
                    <a:p>
                      <a:pPr algn="ctr"/>
                      <a:r>
                        <a:rPr lang="ru-RU" sz="1400">
                          <a:solidFill>
                            <a:srgbClr val="1E2761"/>
                          </a:solidFill>
                          <a:latin typeface="Calibri"/>
                          <a:ea typeface="Calibri"/>
                          <a:cs typeface="Calibri"/>
                        </a:rPr>
                        <a:t>~14,050</a:t>
                      </a:r>
                    </a:p>
                  </a:txBody>
                  <a:tcPr>
                    <a:solidFill>
                      <a:srgbClr val="F0F4FA"/>
                    </a:solidFill>
                  </a:tcPr>
                </a:tc>
                <a:tc>
                  <a:txBody>
                    <a:bodyPr/>
                    <a:lstStyle/>
                    <a:p>
                      <a:pPr algn="ctr"/>
                      <a:r>
                        <a:rPr lang="ru-RU" sz="1400">
                          <a:solidFill>
                            <a:srgbClr val="1E2761"/>
                          </a:solidFill>
                          <a:latin typeface="Calibri"/>
                          <a:ea typeface="Calibri"/>
                          <a:cs typeface="Calibri"/>
                        </a:rPr>
                        <a:t>Canon</a:t>
                      </a:r>
                    </a:p>
                  </a:txBody>
                  <a:tcPr>
                    <a:solidFill>
                      <a:srgbClr val="F0F4FA"/>
                    </a:solidFill>
                  </a:tcPr>
                </a:tc>
                <a:extLst>
                  <a:ext uri="{0D108BD9-81ED-4DB2-BD59-A6C34878D82A}">
                    <a16:rowId xmlns:a16="http://schemas.microsoft.com/office/drawing/2014/main" val="2566311043"/>
                  </a:ext>
                </a:extLst>
              </a:tr>
              <a:tr h="431800">
                <a:tc>
                  <a:txBody>
                    <a:bodyPr/>
                    <a:lstStyle/>
                    <a:p>
                      <a:pPr algn="l"/>
                      <a:r>
                        <a:rPr lang="ru-RU" sz="1400" b="1">
                          <a:solidFill>
                            <a:srgbClr val="1E2761"/>
                          </a:solidFill>
                          <a:latin typeface="Calibri"/>
                          <a:ea typeface="Calibri"/>
                          <a:cs typeface="Calibri"/>
                        </a:rPr>
                        <a:t>2 — Validation</a:t>
                      </a:r>
                    </a:p>
                  </a:txBody>
                  <a:tcPr>
                    <a:solidFill>
                      <a:srgbClr val="FFFFFF"/>
                    </a:solidFill>
                  </a:tcPr>
                </a:tc>
                <a:tc>
                  <a:txBody>
                    <a:bodyPr/>
                    <a:lstStyle/>
                    <a:p>
                      <a:pPr algn="l"/>
                      <a:r>
                        <a:rPr lang="ru-RU" sz="1400">
                          <a:solidFill>
                            <a:srgbClr val="1E2761"/>
                          </a:solidFill>
                          <a:latin typeface="Calibri"/>
                          <a:ea typeface="Calibri"/>
                          <a:cs typeface="Calibri"/>
                        </a:rPr>
                        <a:t>Clinical + Lesion</a:t>
                      </a:r>
                    </a:p>
                  </a:txBody>
                  <a:tcPr>
                    <a:solidFill>
                      <a:srgbClr val="FFFFFF"/>
                    </a:solidFill>
                  </a:tcPr>
                </a:tc>
                <a:tc>
                  <a:txBody>
                    <a:bodyPr/>
                    <a:lstStyle/>
                    <a:p>
                      <a:pPr algn="l"/>
                      <a:r>
                        <a:rPr lang="ru-RU" sz="1400">
                          <a:solidFill>
                            <a:srgbClr val="1E2761"/>
                          </a:solidFill>
                          <a:latin typeface="Calibri"/>
                          <a:ea typeface="Calibri"/>
                          <a:cs typeface="Calibri"/>
                        </a:rPr>
                        <a:t>IDRiD</a:t>
                      </a:r>
                    </a:p>
                  </a:txBody>
                  <a:tcPr>
                    <a:solidFill>
                      <a:srgbClr val="FFFFFF"/>
                    </a:solidFill>
                  </a:tcPr>
                </a:tc>
                <a:tc>
                  <a:txBody>
                    <a:bodyPr/>
                    <a:lstStyle/>
                    <a:p>
                      <a:pPr algn="ctr"/>
                      <a:r>
                        <a:rPr lang="ru-RU" sz="1400">
                          <a:solidFill>
                            <a:srgbClr val="1E2761"/>
                          </a:solidFill>
                          <a:latin typeface="Calibri"/>
                          <a:ea typeface="Calibri"/>
                          <a:cs typeface="Calibri"/>
                        </a:rPr>
                        <a:t>516</a:t>
                      </a:r>
                    </a:p>
                  </a:txBody>
                  <a:tcPr>
                    <a:solidFill>
                      <a:srgbClr val="FFFFFF"/>
                    </a:solidFill>
                  </a:tcPr>
                </a:tc>
                <a:tc>
                  <a:txBody>
                    <a:bodyPr/>
                    <a:lstStyle/>
                    <a:p>
                      <a:pPr algn="ctr"/>
                      <a:r>
                        <a:rPr lang="ru-RU" sz="1400">
                          <a:solidFill>
                            <a:srgbClr val="1E2761"/>
                          </a:solidFill>
                          <a:latin typeface="Calibri"/>
                          <a:ea typeface="Calibri"/>
                          <a:cs typeface="Calibri"/>
                        </a:rPr>
                        <a:t>Kowa</a:t>
                      </a:r>
                    </a:p>
                  </a:txBody>
                  <a:tcPr>
                    <a:solidFill>
                      <a:srgbClr val="FFFFFF"/>
                    </a:solidFill>
                  </a:tcPr>
                </a:tc>
                <a:extLst>
                  <a:ext uri="{0D108BD9-81ED-4DB2-BD59-A6C34878D82A}">
                    <a16:rowId xmlns:a16="http://schemas.microsoft.com/office/drawing/2014/main" val="918978943"/>
                  </a:ext>
                </a:extLst>
              </a:tr>
              <a:tr h="431800">
                <a:tc>
                  <a:txBody>
                    <a:bodyPr/>
                    <a:lstStyle/>
                    <a:p>
                      <a:pPr algn="l"/>
                      <a:r>
                        <a:rPr lang="ru-RU" sz="1400" b="1">
                          <a:solidFill>
                            <a:srgbClr val="1E2761"/>
                          </a:solidFill>
                          <a:latin typeface="Calibri"/>
                          <a:ea typeface="Calibri"/>
                          <a:cs typeface="Calibri"/>
                        </a:rPr>
                        <a:t>3 — Generalization</a:t>
                      </a:r>
                    </a:p>
                  </a:txBody>
                  <a:tcPr>
                    <a:solidFill>
                      <a:srgbClr val="F0F4FA"/>
                    </a:solidFill>
                  </a:tcPr>
                </a:tc>
                <a:tc>
                  <a:txBody>
                    <a:bodyPr/>
                    <a:lstStyle/>
                    <a:p>
                      <a:pPr algn="l"/>
                      <a:r>
                        <a:rPr lang="ru-RU" sz="1400">
                          <a:solidFill>
                            <a:srgbClr val="1E2761"/>
                          </a:solidFill>
                          <a:latin typeface="Calibri"/>
                          <a:ea typeface="Calibri"/>
                          <a:cs typeface="Calibri"/>
                        </a:rPr>
                        <a:t>Cross-database</a:t>
                      </a:r>
                    </a:p>
                  </a:txBody>
                  <a:tcPr>
                    <a:solidFill>
                      <a:srgbClr val="F0F4FA"/>
                    </a:solidFill>
                  </a:tcPr>
                </a:tc>
                <a:tc>
                  <a:txBody>
                    <a:bodyPr/>
                    <a:lstStyle/>
                    <a:p>
                      <a:pPr algn="l"/>
                      <a:r>
                        <a:rPr lang="ru-RU" sz="1400">
                          <a:solidFill>
                            <a:srgbClr val="1E2761"/>
                          </a:solidFill>
                          <a:latin typeface="Calibri"/>
                          <a:ea typeface="Calibri"/>
                          <a:cs typeface="Calibri"/>
                        </a:rPr>
                        <a:t>Messidor-2</a:t>
                      </a:r>
                    </a:p>
                  </a:txBody>
                  <a:tcPr>
                    <a:solidFill>
                      <a:srgbClr val="F0F4FA"/>
                    </a:solidFill>
                  </a:tcPr>
                </a:tc>
                <a:tc>
                  <a:txBody>
                    <a:bodyPr/>
                    <a:lstStyle/>
                    <a:p>
                      <a:pPr algn="ctr"/>
                      <a:r>
                        <a:rPr lang="ru-RU" sz="1400">
                          <a:solidFill>
                            <a:srgbClr val="1E2761"/>
                          </a:solidFill>
                          <a:latin typeface="Calibri"/>
                          <a:ea typeface="Calibri"/>
                          <a:cs typeface="Calibri"/>
                        </a:rPr>
                        <a:t>1,748</a:t>
                      </a:r>
                    </a:p>
                  </a:txBody>
                  <a:tcPr>
                    <a:solidFill>
                      <a:srgbClr val="F0F4FA"/>
                    </a:solidFill>
                  </a:tcPr>
                </a:tc>
                <a:tc>
                  <a:txBody>
                    <a:bodyPr/>
                    <a:lstStyle/>
                    <a:p>
                      <a:pPr algn="ctr"/>
                      <a:r>
                        <a:rPr lang="ru-RU" sz="1400">
                          <a:solidFill>
                            <a:srgbClr val="1E2761"/>
                          </a:solidFill>
                          <a:latin typeface="Calibri"/>
                          <a:ea typeface="Calibri"/>
                          <a:cs typeface="Calibri"/>
                        </a:rPr>
                        <a:t>Topcon</a:t>
                      </a:r>
                    </a:p>
                  </a:txBody>
                  <a:tcPr>
                    <a:solidFill>
                      <a:srgbClr val="F0F4FA"/>
                    </a:solidFill>
                  </a:tcPr>
                </a:tc>
                <a:extLst>
                  <a:ext uri="{0D108BD9-81ED-4DB2-BD59-A6C34878D82A}">
                    <a16:rowId xmlns:a16="http://schemas.microsoft.com/office/drawing/2014/main" val="740958251"/>
                  </a:ext>
                </a:extLst>
              </a:tr>
              <a:tr h="431800">
                <a:tc>
                  <a:txBody>
                    <a:bodyPr/>
                    <a:lstStyle/>
                    <a:p>
                      <a:pPr algn="l"/>
                      <a:r>
                        <a:rPr lang="ru-RU" sz="1400" b="1">
                          <a:solidFill>
                            <a:srgbClr val="1E2761"/>
                          </a:solidFill>
                          <a:latin typeface="Calibri"/>
                          <a:ea typeface="Calibri"/>
                          <a:cs typeface="Calibri"/>
                        </a:rPr>
                        <a:t>4 — Device Shift</a:t>
                      </a:r>
                    </a:p>
                  </a:txBody>
                  <a:tcPr>
                    <a:solidFill>
                      <a:srgbClr val="FFFFFF"/>
                    </a:solidFill>
                  </a:tcPr>
                </a:tc>
                <a:tc>
                  <a:txBody>
                    <a:bodyPr/>
                    <a:lstStyle/>
                    <a:p>
                      <a:pPr algn="l"/>
                      <a:r>
                        <a:rPr lang="ru-RU" sz="1400">
                          <a:solidFill>
                            <a:srgbClr val="1E2761"/>
                          </a:solidFill>
                          <a:latin typeface="Calibri"/>
                          <a:ea typeface="Calibri"/>
                          <a:cs typeface="Calibri"/>
                        </a:rPr>
                        <a:t>Cross-device</a:t>
                      </a:r>
                    </a:p>
                  </a:txBody>
                  <a:tcPr>
                    <a:solidFill>
                      <a:srgbClr val="FFFFFF"/>
                    </a:solidFill>
                  </a:tcPr>
                </a:tc>
                <a:tc>
                  <a:txBody>
                    <a:bodyPr/>
                    <a:lstStyle/>
                    <a:p>
                      <a:pPr algn="l"/>
                      <a:r>
                        <a:rPr lang="ru-RU" sz="1400">
                          <a:solidFill>
                            <a:srgbClr val="1E2761"/>
                          </a:solidFill>
                          <a:latin typeface="Calibri"/>
                          <a:ea typeface="Calibri"/>
                          <a:cs typeface="Calibri"/>
                        </a:rPr>
                        <a:t>RFMiD / DDR / ODIR-5K</a:t>
                      </a:r>
                    </a:p>
                  </a:txBody>
                  <a:tcPr>
                    <a:solidFill>
                      <a:srgbClr val="FFFFFF"/>
                    </a:solidFill>
                  </a:tcPr>
                </a:tc>
                <a:tc>
                  <a:txBody>
                    <a:bodyPr/>
                    <a:lstStyle/>
                    <a:p>
                      <a:pPr algn="ctr"/>
                      <a:r>
                        <a:rPr lang="ru-RU" sz="1400">
                          <a:solidFill>
                            <a:srgbClr val="1E2761"/>
                          </a:solidFill>
                          <a:latin typeface="Calibri"/>
                          <a:ea typeface="Calibri"/>
                          <a:cs typeface="Calibri"/>
                        </a:rPr>
                        <a:t>varies</a:t>
                      </a:r>
                    </a:p>
                  </a:txBody>
                  <a:tcPr>
                    <a:solidFill>
                      <a:srgbClr val="FFFFFF"/>
                    </a:solidFill>
                  </a:tcPr>
                </a:tc>
                <a:tc>
                  <a:txBody>
                    <a:bodyPr/>
                    <a:lstStyle/>
                    <a:p>
                      <a:pPr algn="ctr"/>
                      <a:r>
                        <a:rPr lang="ru-RU" sz="1400">
                          <a:solidFill>
                            <a:srgbClr val="1E2761"/>
                          </a:solidFill>
                          <a:latin typeface="Calibri"/>
                          <a:ea typeface="Calibri"/>
                          <a:cs typeface="Calibri"/>
                        </a:rPr>
                        <a:t>Canon / Topcon / Kowa / Zeiss</a:t>
                      </a:r>
                    </a:p>
                  </a:txBody>
                  <a:tcPr>
                    <a:solidFill>
                      <a:srgbClr val="FFFFFF"/>
                    </a:solidFill>
                  </a:tcPr>
                </a:tc>
                <a:extLst>
                  <a:ext uri="{0D108BD9-81ED-4DB2-BD59-A6C34878D82A}">
                    <a16:rowId xmlns:a16="http://schemas.microsoft.com/office/drawing/2014/main" val="2306727563"/>
                  </a:ext>
                </a:extLst>
              </a:tr>
            </a:tbl>
          </a:graphicData>
        </a:graphic>
      </p:graphicFrame>
      <p:sp>
        <p:nvSpPr>
          <p:cNvPr id="5" name="Прямоугольник: скругленные углы 4">
            <a:extLst>
              <a:ext uri="{FF2B5EF4-FFF2-40B4-BE49-F238E27FC236}">
                <a16:creationId xmlns:a16="http://schemas.microsoft.com/office/drawing/2014/main" id="{50351DEB-C366-48A2-BC21-2448C8465936}"/>
              </a:ext>
            </a:extLst>
          </p:cNvPr>
          <p:cNvSpPr/>
          <p:nvPr/>
        </p:nvSpPr>
        <p:spPr>
          <a:xfrm>
            <a:off x="1651000" y="4572000"/>
            <a:ext cx="8890000" cy="508000"/>
          </a:xfrm>
          <a:prstGeom prst="roundRect">
            <a:avLst/>
          </a:prstGeom>
          <a:solidFill>
            <a:srgbClr val="F0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kk-KZ" sz="1400" b="1">
                <a:solidFill>
                  <a:srgbClr val="1E2761"/>
                </a:solidFill>
                <a:latin typeface="Calibri"/>
              </a:rPr>
              <a:t>Zero-shot хаттамасы: 3–4 деңгей оқыту кезінде ешқашан көрілмеген</a:t>
            </a:r>
          </a:p>
        </p:txBody>
      </p:sp>
      <p:sp>
        <p:nvSpPr>
          <p:cNvPr id="6" name="TextBox 5">
            <a:extLst>
              <a:ext uri="{FF2B5EF4-FFF2-40B4-BE49-F238E27FC236}">
                <a16:creationId xmlns:a16="http://schemas.microsoft.com/office/drawing/2014/main" id="{399B3564-8B77-46B0-9BC9-81DD49964C47}"/>
              </a:ext>
            </a:extLst>
          </p:cNvPr>
          <p:cNvSpPr txBox="1"/>
          <p:nvPr/>
        </p:nvSpPr>
        <p:spPr>
          <a:xfrm>
            <a:off x="508000" y="5270500"/>
            <a:ext cx="11176000" cy="1270000"/>
          </a:xfrm>
          <a:prstGeom prst="rect">
            <a:avLst/>
          </a:prstGeom>
          <a:noFill/>
          <a:ln>
            <a:noFill/>
          </a:ln>
        </p:spPr>
        <p:txBody>
          <a:bodyPr vertOverflow="overflow" vert="horz" wrap="square" rtlCol="0" anchor="t">
            <a:spAutoFit/>
          </a:bodyPr>
          <a:lstStyle/>
          <a:p>
            <a:pPr marL="228600" indent="-228600">
              <a:buFont typeface="Arial"/>
              <a:buChar char="●"/>
            </a:pPr>
            <a:r>
              <a:rPr lang="kk-KZ" sz="1400" dirty="0">
                <a:solidFill>
                  <a:srgbClr val="1E2761"/>
                </a:solidFill>
                <a:latin typeface="Calibri"/>
              </a:rPr>
              <a:t>4 деңгейлі архитектура оқыту, клиникалық валидация, жалпылау және құрылғы ығысу домендерін бөледі</a:t>
            </a:r>
          </a:p>
          <a:p>
            <a:pPr marL="228600" indent="-228600">
              <a:buFont typeface="Arial"/>
              <a:buChar char="●"/>
            </a:pPr>
            <a:r>
              <a:rPr lang="kk-KZ" sz="1400" dirty="0">
                <a:solidFill>
                  <a:srgbClr val="1E2761"/>
                </a:solidFill>
                <a:latin typeface="Calibri"/>
              </a:rPr>
              <a:t>Камера әртүрлілігі: Canon, Topcon, Kowa, Zeiss — негізгі фундоскопия өндірушілерін қамтиды</a:t>
            </a:r>
          </a:p>
          <a:p>
            <a:pPr marL="228600" indent="-228600">
              <a:buFont typeface="Arial"/>
              <a:buChar char="●"/>
            </a:pPr>
            <a:r>
              <a:rPr lang="kk-KZ" sz="1400" dirty="0">
                <a:solidFill>
                  <a:srgbClr val="1E2761"/>
                </a:solidFill>
                <a:latin typeface="Calibri"/>
              </a:rPr>
              <a:t>EyePACS 40% ішкі жиыны (~14 050 кескін) есептеу мүмкіндігі мен статистикалық қуатты теңестіреді</a:t>
            </a:r>
          </a:p>
        </p:txBody>
      </p:sp>
      <p:pic>
        <p:nvPicPr>
          <p:cNvPr id="7" name="Graphic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66500" y="381000"/>
            <a:ext cx="609600" cy="609600"/>
          </a:xfrm>
          <a:prstGeom prst="rect">
            <a:avLst/>
          </a:prstGeom>
        </p:spPr>
      </p:pic>
    </p:spTree>
    <p:extLst>
      <p:ext uri="{BB962C8B-B14F-4D97-AF65-F5344CB8AC3E}">
        <p14:creationId xmlns:p14="http://schemas.microsoft.com/office/powerpoint/2010/main" val="2176943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4A7F36-9410-4968-F2F8-EE8A87D563D5}"/>
              </a:ext>
            </a:extLst>
          </p:cNvPr>
          <p:cNvSpPr>
            <a:spLocks noGrp="1"/>
          </p:cNvSpPr>
          <p:nvPr>
            <p:ph type="title"/>
          </p:nvPr>
        </p:nvSpPr>
        <p:spPr/>
        <p:txBody>
          <a:bodyPr/>
          <a:lstStyle/>
          <a:p>
            <a:pPr algn="l">
              <a:buNone/>
            </a:pPr>
            <a:r>
              <a:rPr lang="kk-KZ" sz="3200" b="1" dirty="0">
                <a:solidFill>
                  <a:srgbClr val="1E2761"/>
                </a:solidFill>
                <a:latin typeface="Cambria"/>
              </a:rPr>
              <a:t>Эксперименттік жобалау</a:t>
            </a:r>
          </a:p>
        </p:txBody>
      </p:sp>
      <p:sp>
        <p:nvSpPr>
          <p:cNvPr id="3" name="Прямоугольник: скругленные углы 2">
            <a:extLst>
              <a:ext uri="{FF2B5EF4-FFF2-40B4-BE49-F238E27FC236}">
                <a16:creationId xmlns:a16="http://schemas.microsoft.com/office/drawing/2014/main" id="{4E7646D3-28FC-4E96-9344-95026DEDC4D9}"/>
              </a:ext>
            </a:extLst>
          </p:cNvPr>
          <p:cNvSpPr/>
          <p:nvPr/>
        </p:nvSpPr>
        <p:spPr>
          <a:xfrm>
            <a:off x="508000" y="1498600"/>
            <a:ext cx="11176000" cy="533400"/>
          </a:xfrm>
          <a:prstGeom prst="roundRect">
            <a:avLst/>
          </a:prstGeom>
          <a:solidFill>
            <a:srgbClr val="C039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kk-KZ" sz="1400" b="1" dirty="0">
                <a:solidFill>
                  <a:srgbClr val="FFFFFF"/>
                </a:solidFill>
                <a:latin typeface="Calibri"/>
              </a:rPr>
              <a:t>Деректер жиынтығы архитектурасы: EyePACS (негізгі) + IDRiD (клиникалық) + Messidor-2/RFMiD/DDR/ODIR-5K</a:t>
            </a:r>
          </a:p>
        </p:txBody>
      </p:sp>
      <p:sp>
        <p:nvSpPr>
          <p:cNvPr id="4" name="Стрелка: вниз 3">
            <a:extLst>
              <a:ext uri="{FF2B5EF4-FFF2-40B4-BE49-F238E27FC236}">
                <a16:creationId xmlns:a16="http://schemas.microsoft.com/office/drawing/2014/main" id="{B31C89C0-2737-400D-9E6D-0F0E1089ECAF}"/>
              </a:ext>
            </a:extLst>
          </p:cNvPr>
          <p:cNvSpPr/>
          <p:nvPr/>
        </p:nvSpPr>
        <p:spPr>
          <a:xfrm>
            <a:off x="5715000" y="2057400"/>
            <a:ext cx="381000" cy="279400"/>
          </a:xfrm>
          <a:prstGeom prst="downArrow">
            <a:avLst/>
          </a:prstGeom>
          <a:solidFill>
            <a:srgbClr val="1E276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5" name="Прямоугольник: скругленные углы 4">
            <a:extLst>
              <a:ext uri="{FF2B5EF4-FFF2-40B4-BE49-F238E27FC236}">
                <a16:creationId xmlns:a16="http://schemas.microsoft.com/office/drawing/2014/main" id="{24095472-0722-4EFF-B98D-63134C589EF6}"/>
              </a:ext>
            </a:extLst>
          </p:cNvPr>
          <p:cNvSpPr/>
          <p:nvPr/>
        </p:nvSpPr>
        <p:spPr>
          <a:xfrm>
            <a:off x="508000" y="2387600"/>
            <a:ext cx="11176000" cy="533400"/>
          </a:xfrm>
          <a:prstGeom prst="roundRect">
            <a:avLst/>
          </a:prstGeom>
          <a:solidFill>
            <a:srgbClr val="3A7BD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kk-KZ" sz="1400" b="1" dirty="0">
                <a:solidFill>
                  <a:srgbClr val="FFFFFF"/>
                </a:solidFill>
                <a:latin typeface="Calibri"/>
              </a:rPr>
              <a:t>V4 Pipeline қолдану: 6 кезеңді preprocessing + 3-fold Cross-Validation</a:t>
            </a:r>
          </a:p>
        </p:txBody>
      </p:sp>
      <p:sp>
        <p:nvSpPr>
          <p:cNvPr id="6" name="Стрелка: вниз 5">
            <a:extLst>
              <a:ext uri="{FF2B5EF4-FFF2-40B4-BE49-F238E27FC236}">
                <a16:creationId xmlns:a16="http://schemas.microsoft.com/office/drawing/2014/main" id="{B19AB821-E345-49E8-BF2C-5BCDF7C66AFD}"/>
              </a:ext>
            </a:extLst>
          </p:cNvPr>
          <p:cNvSpPr/>
          <p:nvPr/>
        </p:nvSpPr>
        <p:spPr>
          <a:xfrm>
            <a:off x="5715000" y="2946400"/>
            <a:ext cx="381000" cy="279400"/>
          </a:xfrm>
          <a:prstGeom prst="downArrow">
            <a:avLst/>
          </a:prstGeom>
          <a:solidFill>
            <a:srgbClr val="1E276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7" name="Прямоугольник: скругленные углы 6">
            <a:extLst>
              <a:ext uri="{FF2B5EF4-FFF2-40B4-BE49-F238E27FC236}">
                <a16:creationId xmlns:a16="http://schemas.microsoft.com/office/drawing/2014/main" id="{50738150-079C-40FE-B921-82E50F1A1BCF}"/>
              </a:ext>
            </a:extLst>
          </p:cNvPr>
          <p:cNvSpPr/>
          <p:nvPr/>
        </p:nvSpPr>
        <p:spPr>
          <a:xfrm>
            <a:off x="508000" y="3276600"/>
            <a:ext cx="11176000" cy="381000"/>
          </a:xfrm>
          <a:prstGeom prst="roundRect">
            <a:avLst/>
          </a:prstGeom>
          <a:solidFill>
            <a:srgbClr val="1E276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kk-KZ" sz="1400" b="1" dirty="0">
                <a:solidFill>
                  <a:srgbClr val="FFFFFF"/>
                </a:solidFill>
                <a:latin typeface="Calibri"/>
              </a:rPr>
              <a:t>Метрикалар: Weighted F1 (1-орын), ROC-AUC, Cohen’s κ, Accuracy</a:t>
            </a:r>
          </a:p>
        </p:txBody>
      </p:sp>
      <p:sp>
        <p:nvSpPr>
          <p:cNvPr id="8" name="Прямоугольник: скругленные углы 7">
            <a:extLst>
              <a:ext uri="{FF2B5EF4-FFF2-40B4-BE49-F238E27FC236}">
                <a16:creationId xmlns:a16="http://schemas.microsoft.com/office/drawing/2014/main" id="{E09DA0B0-6051-4524-AF97-72074DDDC5F5}"/>
              </a:ext>
            </a:extLst>
          </p:cNvPr>
          <p:cNvSpPr/>
          <p:nvPr/>
        </p:nvSpPr>
        <p:spPr>
          <a:xfrm>
            <a:off x="508000" y="3759200"/>
            <a:ext cx="3556000" cy="698500"/>
          </a:xfrm>
          <a:prstGeom prst="roundRect">
            <a:avLst/>
          </a:prstGeom>
          <a:solidFill>
            <a:srgbClr val="F0F4FA"/>
          </a:solidFill>
          <a:ln w="19050" cap="flat" cmpd="sng" algn="ctr">
            <a:solidFill>
              <a:srgbClr val="3A7BD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kk-KZ" sz="1400" dirty="0">
                <a:solidFill>
                  <a:srgbClr val="FFFFFF"/>
                </a:solidFill>
                <a:latin typeface="Calibri"/>
              </a:rPr>
              <a:t>Эксп 1: Факторлық
2×2 (pipeline × арх.)
EyePACS</a:t>
            </a:r>
          </a:p>
        </p:txBody>
      </p:sp>
      <p:sp>
        <p:nvSpPr>
          <p:cNvPr id="9" name="Прямоугольник: скругленные углы 8">
            <a:extLst>
              <a:ext uri="{FF2B5EF4-FFF2-40B4-BE49-F238E27FC236}">
                <a16:creationId xmlns:a16="http://schemas.microsoft.com/office/drawing/2014/main" id="{E23C69C3-E15D-493F-A792-5442E2B626D5}"/>
              </a:ext>
            </a:extLst>
          </p:cNvPr>
          <p:cNvSpPr/>
          <p:nvPr/>
        </p:nvSpPr>
        <p:spPr>
          <a:xfrm>
            <a:off x="4318000" y="3759200"/>
            <a:ext cx="3556000" cy="698500"/>
          </a:xfrm>
          <a:prstGeom prst="roundRect">
            <a:avLst/>
          </a:prstGeom>
          <a:solidFill>
            <a:srgbClr val="F0F4FA"/>
          </a:solidFill>
          <a:ln w="19050" cap="flat" cmpd="sng" algn="ctr">
            <a:solidFill>
              <a:srgbClr val="3A7BD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kk-KZ" sz="1400" dirty="0">
                <a:solidFill>
                  <a:srgbClr val="FFFFFF"/>
                </a:solidFill>
                <a:latin typeface="Calibri"/>
              </a:rPr>
              <a:t>Эксп 2: Ablation
Pipeline компоненттері
EyePACS</a:t>
            </a:r>
          </a:p>
        </p:txBody>
      </p:sp>
      <p:sp>
        <p:nvSpPr>
          <p:cNvPr id="10" name="Прямоугольник: скругленные углы 9">
            <a:extLst>
              <a:ext uri="{FF2B5EF4-FFF2-40B4-BE49-F238E27FC236}">
                <a16:creationId xmlns:a16="http://schemas.microsoft.com/office/drawing/2014/main" id="{2ED44A6F-990E-4A6A-9746-D5BFA3E318F7}"/>
              </a:ext>
            </a:extLst>
          </p:cNvPr>
          <p:cNvSpPr/>
          <p:nvPr/>
        </p:nvSpPr>
        <p:spPr>
          <a:xfrm>
            <a:off x="8128000" y="3759200"/>
            <a:ext cx="3556000" cy="698500"/>
          </a:xfrm>
          <a:prstGeom prst="roundRect">
            <a:avLst/>
          </a:prstGeom>
          <a:solidFill>
            <a:srgbClr val="F0F4FA"/>
          </a:solidFill>
          <a:ln w="19050" cap="flat" cmpd="sng" algn="ctr">
            <a:solidFill>
              <a:srgbClr val="3A7BD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kk-KZ" sz="1400" strike="sngStrike" dirty="0">
                <a:solidFill>
                  <a:srgbClr val="888888"/>
                </a:solidFill>
                <a:latin typeface="Calibri"/>
              </a:rPr>
              <a:t>Эксп 3: [АЛЫНДЫ]
Synth. деградация
V3-те алынып тасталды</a:t>
            </a:r>
          </a:p>
        </p:txBody>
      </p:sp>
      <p:sp>
        <p:nvSpPr>
          <p:cNvPr id="11" name="Прямоугольник: скругленные углы 10">
            <a:extLst>
              <a:ext uri="{FF2B5EF4-FFF2-40B4-BE49-F238E27FC236}">
                <a16:creationId xmlns:a16="http://schemas.microsoft.com/office/drawing/2014/main" id="{66947627-11B4-4F84-8DED-6BE189F1E820}"/>
              </a:ext>
            </a:extLst>
          </p:cNvPr>
          <p:cNvSpPr/>
          <p:nvPr/>
        </p:nvSpPr>
        <p:spPr>
          <a:xfrm>
            <a:off x="508000" y="4610100"/>
            <a:ext cx="3556000" cy="698500"/>
          </a:xfrm>
          <a:prstGeom prst="roundRect">
            <a:avLst/>
          </a:prstGeom>
          <a:solidFill>
            <a:srgbClr val="F0F4FA"/>
          </a:solidFill>
          <a:ln w="19050" cap="flat" cmpd="sng" algn="ctr">
            <a:solidFill>
              <a:srgbClr val="3A7BD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kk-KZ" sz="1400" dirty="0">
                <a:solidFill>
                  <a:srgbClr val="FFFFFF"/>
                </a:solidFill>
                <a:latin typeface="Calibri"/>
              </a:rPr>
              <a:t>Эксп 4: Grad-CAM
ALO түсіндірме
IDRiD</a:t>
            </a:r>
          </a:p>
        </p:txBody>
      </p:sp>
      <p:sp>
        <p:nvSpPr>
          <p:cNvPr id="12" name="Прямоугольник: скругленные углы 11">
            <a:extLst>
              <a:ext uri="{FF2B5EF4-FFF2-40B4-BE49-F238E27FC236}">
                <a16:creationId xmlns:a16="http://schemas.microsoft.com/office/drawing/2014/main" id="{4CF3E111-5210-468D-90A4-373A7E1FF79B}"/>
              </a:ext>
            </a:extLst>
          </p:cNvPr>
          <p:cNvSpPr/>
          <p:nvPr/>
        </p:nvSpPr>
        <p:spPr>
          <a:xfrm>
            <a:off x="4318000" y="4610100"/>
            <a:ext cx="3556000" cy="698500"/>
          </a:xfrm>
          <a:prstGeom prst="roundRect">
            <a:avLst/>
          </a:prstGeom>
          <a:solidFill>
            <a:srgbClr val="F0F4FA"/>
          </a:solidFill>
          <a:ln w="19050" cap="flat" cmpd="sng" algn="ctr">
            <a:solidFill>
              <a:srgbClr val="3A7BD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kk-KZ" sz="1400" dirty="0">
                <a:solidFill>
                  <a:srgbClr val="FFFFFF"/>
                </a:solidFill>
                <a:latin typeface="Calibri"/>
              </a:rPr>
              <a:t>Эксп 5: Жалпылау
G = F1_ext/F1_eye
Messidor-2, IDRiD</a:t>
            </a:r>
          </a:p>
        </p:txBody>
      </p:sp>
      <p:sp>
        <p:nvSpPr>
          <p:cNvPr id="13" name="Прямоугольник: скругленные углы 12">
            <a:extLst>
              <a:ext uri="{FF2B5EF4-FFF2-40B4-BE49-F238E27FC236}">
                <a16:creationId xmlns:a16="http://schemas.microsoft.com/office/drawing/2014/main" id="{264D830A-CED2-4DA2-88A7-BC82A0722736}"/>
              </a:ext>
            </a:extLst>
          </p:cNvPr>
          <p:cNvSpPr/>
          <p:nvPr/>
        </p:nvSpPr>
        <p:spPr>
          <a:xfrm>
            <a:off x="8128000" y="4610100"/>
            <a:ext cx="3556000" cy="698500"/>
          </a:xfrm>
          <a:prstGeom prst="roundRect">
            <a:avLst/>
          </a:prstGeom>
          <a:solidFill>
            <a:srgbClr val="D5D5D5"/>
          </a:solidFill>
          <a:ln w="19050" cap="flat" cmpd="sng" algn="ctr">
            <a:solidFill>
              <a:srgbClr val="88888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kk-KZ" sz="1400" dirty="0">
                <a:solidFill>
                  <a:srgbClr val="FFFFFF"/>
                </a:solidFill>
                <a:latin typeface="Calibri"/>
              </a:rPr>
              <a:t>Эксп 6: Құрылғы
Domain Shift
RFMiD, DDR, ODIR-5K</a:t>
            </a:r>
          </a:p>
        </p:txBody>
      </p:sp>
      <p:sp>
        <p:nvSpPr>
          <p:cNvPr id="14" name="TextBox 13">
            <a:extLst>
              <a:ext uri="{FF2B5EF4-FFF2-40B4-BE49-F238E27FC236}">
                <a16:creationId xmlns:a16="http://schemas.microsoft.com/office/drawing/2014/main" id="{BE2B47A7-A4A4-41A0-B457-7C0D1727E0E2}"/>
              </a:ext>
            </a:extLst>
          </p:cNvPr>
          <p:cNvSpPr txBox="1"/>
          <p:nvPr/>
        </p:nvSpPr>
        <p:spPr>
          <a:xfrm>
            <a:off x="508000" y="5588000"/>
            <a:ext cx="11176000" cy="508000"/>
          </a:xfrm>
          <a:prstGeom prst="rect">
            <a:avLst/>
          </a:prstGeom>
          <a:noFill/>
          <a:ln>
            <a:noFill/>
          </a:ln>
        </p:spPr>
        <p:txBody>
          <a:bodyPr vertOverflow="overflow" vert="horz" wrap="square" rtlCol="0" anchor="t">
            <a:spAutoFit/>
          </a:bodyPr>
          <a:lstStyle/>
          <a:p>
            <a:pPr algn="ctr">
              <a:buNone/>
            </a:pPr>
            <a:r>
              <a:rPr lang="kk-KZ" sz="1400" i="1" dirty="0">
                <a:solidFill>
                  <a:srgbClr val="888888"/>
                </a:solidFill>
                <a:latin typeface="Calibri Light"/>
              </a:rPr>
              <a:t>Әр эксперимент preprocessing басымдығын (H-1) немесе оның салдарын (H-2, H-4, H-5, H-6) тексереді</a:t>
            </a:r>
          </a:p>
        </p:txBody>
      </p:sp>
      <p:pic>
        <p:nvPicPr>
          <p:cNvPr id="15" name="Graphic 15"/>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66500" y="381000"/>
            <a:ext cx="609600" cy="609600"/>
          </a:xfrm>
          <a:prstGeom prst="rect">
            <a:avLst/>
          </a:prstGeom>
        </p:spPr>
      </p:pic>
    </p:spTree>
    <p:extLst>
      <p:ext uri="{BB962C8B-B14F-4D97-AF65-F5344CB8AC3E}">
        <p14:creationId xmlns:p14="http://schemas.microsoft.com/office/powerpoint/2010/main" val="1630193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2914163-025E-72BA-2593-E7F4BDC4A9D6}"/>
              </a:ext>
            </a:extLst>
          </p:cNvPr>
          <p:cNvSpPr>
            <a:spLocks noGrp="1"/>
          </p:cNvSpPr>
          <p:nvPr>
            <p:ph type="title"/>
          </p:nvPr>
        </p:nvSpPr>
        <p:spPr/>
        <p:txBody>
          <a:bodyPr/>
          <a:lstStyle/>
          <a:p>
            <a:pPr algn="l">
              <a:buNone/>
            </a:pPr>
            <a:r>
              <a:rPr lang="kk-KZ" sz="3200" b="1" dirty="0">
                <a:solidFill>
                  <a:srgbClr val="1E2761"/>
                </a:solidFill>
                <a:latin typeface="Cambria"/>
              </a:rPr>
              <a:t>1-эксперимент: факторлық жобалау</a:t>
            </a:r>
          </a:p>
        </p:txBody>
      </p:sp>
      <p:graphicFrame>
        <p:nvGraphicFramePr>
          <p:cNvPr id="4" name="Таблица 3">
            <a:extLst>
              <a:ext uri="{FF2B5EF4-FFF2-40B4-BE49-F238E27FC236}">
                <a16:creationId xmlns:a16="http://schemas.microsoft.com/office/drawing/2014/main" id="{BD95685C-E503-45BF-9602-2D795E57357A}"/>
              </a:ext>
            </a:extLst>
          </p:cNvPr>
          <p:cNvGraphicFramePr>
            <a:graphicFrameLocks noGrp="1"/>
          </p:cNvGraphicFramePr>
          <p:nvPr/>
        </p:nvGraphicFramePr>
        <p:xfrm>
          <a:off x="508000" y="1524000"/>
          <a:ext cx="7048500" cy="2311400"/>
        </p:xfrm>
        <a:graphic>
          <a:graphicData uri="http://schemas.openxmlformats.org/drawingml/2006/table">
            <a:tbl>
              <a:tblPr firstRow="1" bandRow="1">
                <a:tableStyleId>{5C22544A-7EE6-4342-B048-85BDC9FD1C3A}</a:tableStyleId>
              </a:tblPr>
              <a:tblGrid>
                <a:gridCol w="698500">
                  <a:extLst>
                    <a:ext uri="{9D8B030D-6E8A-4147-A177-3AD203B41FA5}">
                      <a16:colId xmlns:a16="http://schemas.microsoft.com/office/drawing/2014/main" val="2299114309"/>
                    </a:ext>
                  </a:extLst>
                </a:gridCol>
                <a:gridCol w="1397000">
                  <a:extLst>
                    <a:ext uri="{9D8B030D-6E8A-4147-A177-3AD203B41FA5}">
                      <a16:colId xmlns:a16="http://schemas.microsoft.com/office/drawing/2014/main" val="1292318602"/>
                    </a:ext>
                  </a:extLst>
                </a:gridCol>
                <a:gridCol w="1143000">
                  <a:extLst>
                    <a:ext uri="{9D8B030D-6E8A-4147-A177-3AD203B41FA5}">
                      <a16:colId xmlns:a16="http://schemas.microsoft.com/office/drawing/2014/main" val="1206667296"/>
                    </a:ext>
                  </a:extLst>
                </a:gridCol>
                <a:gridCol w="1206500">
                  <a:extLst>
                    <a:ext uri="{9D8B030D-6E8A-4147-A177-3AD203B41FA5}">
                      <a16:colId xmlns:a16="http://schemas.microsoft.com/office/drawing/2014/main" val="1256894354"/>
                    </a:ext>
                  </a:extLst>
                </a:gridCol>
                <a:gridCol w="1206500">
                  <a:extLst>
                    <a:ext uri="{9D8B030D-6E8A-4147-A177-3AD203B41FA5}">
                      <a16:colId xmlns:a16="http://schemas.microsoft.com/office/drawing/2014/main" val="3457486999"/>
                    </a:ext>
                  </a:extLst>
                </a:gridCol>
                <a:gridCol w="762000">
                  <a:extLst>
                    <a:ext uri="{9D8B030D-6E8A-4147-A177-3AD203B41FA5}">
                      <a16:colId xmlns:a16="http://schemas.microsoft.com/office/drawing/2014/main" val="1119217059"/>
                    </a:ext>
                  </a:extLst>
                </a:gridCol>
                <a:gridCol w="635000">
                  <a:extLst>
                    <a:ext uri="{9D8B030D-6E8A-4147-A177-3AD203B41FA5}">
                      <a16:colId xmlns:a16="http://schemas.microsoft.com/office/drawing/2014/main" val="1613260277"/>
                    </a:ext>
                  </a:extLst>
                </a:gridCol>
              </a:tblGrid>
              <a:tr h="330200">
                <a:tc>
                  <a:txBody>
                    <a:bodyPr/>
                    <a:lstStyle/>
                    <a:p>
                      <a:pPr algn="ctr"/>
                      <a:r>
                        <a:rPr lang="ru-RU" sz="1400" b="1">
                          <a:solidFill>
                            <a:srgbClr val="FFFFFF"/>
                          </a:solidFill>
                          <a:latin typeface="Calibri"/>
                          <a:ea typeface="Calibri"/>
                          <a:cs typeface="Calibri"/>
                        </a:rPr>
                        <a:t>Config</a:t>
                      </a:r>
                    </a:p>
                  </a:txBody>
                  <a:tcPr>
                    <a:solidFill>
                      <a:srgbClr val="1E2761"/>
                    </a:solidFill>
                  </a:tcPr>
                </a:tc>
                <a:tc>
                  <a:txBody>
                    <a:bodyPr/>
                    <a:lstStyle/>
                    <a:p>
                      <a:pPr algn="ctr"/>
                      <a:r>
                        <a:rPr lang="ru-RU" sz="1400" b="1">
                          <a:solidFill>
                            <a:srgbClr val="FFFFFF"/>
                          </a:solidFill>
                          <a:latin typeface="Calibri"/>
                          <a:ea typeface="Calibri"/>
                          <a:cs typeface="Calibri"/>
                        </a:rPr>
                        <a:t>Preprocessing</a:t>
                      </a:r>
                    </a:p>
                  </a:txBody>
                  <a:tcPr>
                    <a:solidFill>
                      <a:srgbClr val="1E2761"/>
                    </a:solidFill>
                  </a:tcPr>
                </a:tc>
                <a:tc>
                  <a:txBody>
                    <a:bodyPr/>
                    <a:lstStyle/>
                    <a:p>
                      <a:pPr algn="ctr"/>
                      <a:r>
                        <a:rPr lang="ru-RU" sz="1400" b="1">
                          <a:solidFill>
                            <a:srgbClr val="FFFFFF"/>
                          </a:solidFill>
                          <a:latin typeface="Calibri"/>
                          <a:ea typeface="Calibri"/>
                          <a:cs typeface="Calibri"/>
                        </a:rPr>
                        <a:t>CNN</a:t>
                      </a:r>
                    </a:p>
                  </a:txBody>
                  <a:tcPr>
                    <a:solidFill>
                      <a:srgbClr val="1E2761"/>
                    </a:solidFill>
                  </a:tcPr>
                </a:tc>
                <a:tc>
                  <a:txBody>
                    <a:bodyPr/>
                    <a:lstStyle/>
                    <a:p>
                      <a:pPr algn="ctr"/>
                      <a:r>
                        <a:rPr lang="ru-RU" sz="1400" b="1">
                          <a:solidFill>
                            <a:srgbClr val="FFFFFF"/>
                          </a:solidFill>
                          <a:latin typeface="Calibri"/>
                          <a:ea typeface="Calibri"/>
                          <a:cs typeface="Calibri"/>
                        </a:rPr>
                        <a:t>W. F1</a:t>
                      </a:r>
                    </a:p>
                  </a:txBody>
                  <a:tcPr>
                    <a:solidFill>
                      <a:srgbClr val="1E2761"/>
                    </a:solidFill>
                  </a:tcPr>
                </a:tc>
                <a:tc>
                  <a:txBody>
                    <a:bodyPr/>
                    <a:lstStyle/>
                    <a:p>
                      <a:pPr algn="ctr"/>
                      <a:r>
                        <a:rPr lang="ru-RU" sz="1400" b="1">
                          <a:solidFill>
                            <a:srgbClr val="FFFFFF"/>
                          </a:solidFill>
                          <a:latin typeface="Calibri"/>
                          <a:ea typeface="Calibri"/>
                          <a:cs typeface="Calibri"/>
                        </a:rPr>
                        <a:t>ROC-AUC</a:t>
                      </a:r>
                    </a:p>
                  </a:txBody>
                  <a:tcPr>
                    <a:solidFill>
                      <a:srgbClr val="1E2761"/>
                    </a:solidFill>
                  </a:tcPr>
                </a:tc>
                <a:tc>
                  <a:txBody>
                    <a:bodyPr/>
                    <a:lstStyle/>
                    <a:p>
                      <a:pPr algn="ctr"/>
                      <a:r>
                        <a:rPr lang="ru-RU" sz="1400" b="1">
                          <a:solidFill>
                            <a:srgbClr val="FFFFFF"/>
                          </a:solidFill>
                          <a:latin typeface="Calibri"/>
                          <a:ea typeface="Calibri"/>
                          <a:cs typeface="Calibri"/>
                        </a:rPr>
                        <a:t>κ</a:t>
                      </a:r>
                    </a:p>
                  </a:txBody>
                  <a:tcPr>
                    <a:solidFill>
                      <a:srgbClr val="1E2761"/>
                    </a:solidFill>
                  </a:tcPr>
                </a:tc>
                <a:tc>
                  <a:txBody>
                    <a:bodyPr/>
                    <a:lstStyle/>
                    <a:p>
                      <a:pPr algn="ctr"/>
                      <a:r>
                        <a:rPr lang="ru-RU" sz="1400" b="1">
                          <a:solidFill>
                            <a:srgbClr val="FFFFFF"/>
                          </a:solidFill>
                          <a:latin typeface="Calibri"/>
                          <a:ea typeface="Calibri"/>
                          <a:cs typeface="Calibri"/>
                        </a:rPr>
                        <a:t>Prov.</a:t>
                      </a:r>
                    </a:p>
                  </a:txBody>
                  <a:tcPr>
                    <a:solidFill>
                      <a:srgbClr val="1E2761"/>
                    </a:solidFill>
                  </a:tcPr>
                </a:tc>
                <a:extLst>
                  <a:ext uri="{0D108BD9-81ED-4DB2-BD59-A6C34878D82A}">
                    <a16:rowId xmlns:a16="http://schemas.microsoft.com/office/drawing/2014/main" val="1571133906"/>
                  </a:ext>
                </a:extLst>
              </a:tr>
              <a:tr h="330200">
                <a:tc>
                  <a:txBody>
                    <a:bodyPr/>
                    <a:lstStyle/>
                    <a:p>
                      <a:pPr algn="l"/>
                      <a:r>
                        <a:rPr lang="ru-RU" sz="1400" b="1">
                          <a:solidFill>
                            <a:srgbClr val="1E2761"/>
                          </a:solidFill>
                          <a:latin typeface="Calibri"/>
                          <a:ea typeface="Calibri"/>
                          <a:cs typeface="Calibri"/>
                        </a:rPr>
                        <a:t>A</a:t>
                      </a:r>
                    </a:p>
                  </a:txBody>
                  <a:tcPr>
                    <a:solidFill>
                      <a:srgbClr val="F0F4FA"/>
                    </a:solidFill>
                  </a:tcPr>
                </a:tc>
                <a:tc>
                  <a:txBody>
                    <a:bodyPr/>
                    <a:lstStyle/>
                    <a:p>
                      <a:pPr algn="l"/>
                      <a:r>
                        <a:rPr lang="ru-RU" sz="1400">
                          <a:solidFill>
                            <a:srgbClr val="1E2761"/>
                          </a:solidFill>
                          <a:latin typeface="Calibri"/>
                          <a:ea typeface="Calibri"/>
                          <a:cs typeface="Calibri"/>
                        </a:rPr>
                        <a:t>Baseline</a:t>
                      </a:r>
                    </a:p>
                  </a:txBody>
                  <a:tcPr>
                    <a:solidFill>
                      <a:srgbClr val="F0F4FA"/>
                    </a:solidFill>
                  </a:tcPr>
                </a:tc>
                <a:tc>
                  <a:txBody>
                    <a:bodyPr/>
                    <a:lstStyle/>
                    <a:p>
                      <a:pPr algn="l"/>
                      <a:r>
                        <a:rPr lang="ru-RU" sz="1400">
                          <a:solidFill>
                            <a:srgbClr val="1E2761"/>
                          </a:solidFill>
                          <a:latin typeface="Calibri"/>
                          <a:ea typeface="Calibri"/>
                          <a:cs typeface="Calibri"/>
                        </a:rPr>
                        <a:t>ResNet-50</a:t>
                      </a:r>
                    </a:p>
                  </a:txBody>
                  <a:tcPr>
                    <a:solidFill>
                      <a:srgbClr val="F0F4FA"/>
                    </a:solidFill>
                  </a:tcPr>
                </a:tc>
                <a:tc>
                  <a:txBody>
                    <a:bodyPr/>
                    <a:lstStyle/>
                    <a:p>
                      <a:pPr algn="ctr"/>
                      <a:r>
                        <a:rPr lang="ru-RU" sz="1400">
                          <a:solidFill>
                            <a:srgbClr val="1E2761"/>
                          </a:solidFill>
                          <a:latin typeface="Calibri"/>
                          <a:ea typeface="Calibri"/>
                          <a:cs typeface="Calibri"/>
                        </a:rPr>
                        <a:t>0.762±0.006</a:t>
                      </a:r>
                    </a:p>
                  </a:txBody>
                  <a:tcPr>
                    <a:solidFill>
                      <a:srgbClr val="F0F4FA"/>
                    </a:solidFill>
                  </a:tcPr>
                </a:tc>
                <a:tc>
                  <a:txBody>
                    <a:bodyPr/>
                    <a:lstStyle/>
                    <a:p>
                      <a:pPr algn="ctr"/>
                      <a:r>
                        <a:rPr lang="ru-RU" sz="1400">
                          <a:solidFill>
                            <a:srgbClr val="1E2761"/>
                          </a:solidFill>
                          <a:latin typeface="Calibri"/>
                          <a:ea typeface="Calibri"/>
                          <a:cs typeface="Calibri"/>
                        </a:rPr>
                        <a:t>0.853±0.013</a:t>
                      </a:r>
                    </a:p>
                  </a:txBody>
                  <a:tcPr>
                    <a:solidFill>
                      <a:srgbClr val="F0F4FA"/>
                    </a:solidFill>
                  </a:tcPr>
                </a:tc>
                <a:tc>
                  <a:txBody>
                    <a:bodyPr/>
                    <a:lstStyle/>
                    <a:p>
                      <a:pPr algn="ctr"/>
                      <a:r>
                        <a:rPr lang="ru-RU" sz="1400">
                          <a:solidFill>
                            <a:srgbClr val="1E2761"/>
                          </a:solidFill>
                          <a:latin typeface="Calibri"/>
                          <a:ea typeface="Calibri"/>
                          <a:cs typeface="Calibri"/>
                        </a:rPr>
                        <a:t>0.654</a:t>
                      </a:r>
                    </a:p>
                  </a:txBody>
                  <a:tcPr>
                    <a:solidFill>
                      <a:srgbClr val="F0F4FA"/>
                    </a:solidFill>
                  </a:tcPr>
                </a:tc>
                <a:tc>
                  <a:txBody>
                    <a:bodyPr/>
                    <a:lstStyle/>
                    <a:p>
                      <a:pPr algn="ctr"/>
                      <a:r>
                        <a:rPr lang="ru-RU" sz="1400">
                          <a:solidFill>
                            <a:srgbClr val="1E2761"/>
                          </a:solidFill>
                          <a:latin typeface="Calibri"/>
                          <a:ea typeface="Calibri"/>
                          <a:cs typeface="Calibri"/>
                        </a:rPr>
                        <a:t>[A]</a:t>
                      </a:r>
                    </a:p>
                  </a:txBody>
                  <a:tcPr>
                    <a:solidFill>
                      <a:srgbClr val="F0F4FA"/>
                    </a:solidFill>
                  </a:tcPr>
                </a:tc>
                <a:extLst>
                  <a:ext uri="{0D108BD9-81ED-4DB2-BD59-A6C34878D82A}">
                    <a16:rowId xmlns:a16="http://schemas.microsoft.com/office/drawing/2014/main" val="2242333336"/>
                  </a:ext>
                </a:extLst>
              </a:tr>
              <a:tr h="330200">
                <a:tc>
                  <a:txBody>
                    <a:bodyPr/>
                    <a:lstStyle/>
                    <a:p>
                      <a:pPr algn="l"/>
                      <a:r>
                        <a:rPr lang="ru-RU" sz="1400" b="1">
                          <a:solidFill>
                            <a:srgbClr val="1E2761"/>
                          </a:solidFill>
                          <a:latin typeface="Calibri"/>
                          <a:ea typeface="Calibri"/>
                          <a:cs typeface="Calibri"/>
                        </a:rPr>
                        <a:t>B</a:t>
                      </a:r>
                    </a:p>
                  </a:txBody>
                  <a:tcPr>
                    <a:solidFill>
                      <a:srgbClr val="FFFFFF"/>
                    </a:solidFill>
                  </a:tcPr>
                </a:tc>
                <a:tc>
                  <a:txBody>
                    <a:bodyPr/>
                    <a:lstStyle/>
                    <a:p>
                      <a:pPr algn="l"/>
                      <a:r>
                        <a:rPr lang="ru-RU" sz="1400">
                          <a:solidFill>
                            <a:srgbClr val="1E2761"/>
                          </a:solidFill>
                          <a:latin typeface="Calibri"/>
                          <a:ea typeface="Calibri"/>
                          <a:cs typeface="Calibri"/>
                        </a:rPr>
                        <a:t>Full V4</a:t>
                      </a:r>
                    </a:p>
                  </a:txBody>
                  <a:tcPr>
                    <a:solidFill>
                      <a:srgbClr val="FFFFFF"/>
                    </a:solidFill>
                  </a:tcPr>
                </a:tc>
                <a:tc>
                  <a:txBody>
                    <a:bodyPr/>
                    <a:lstStyle/>
                    <a:p>
                      <a:pPr algn="l"/>
                      <a:r>
                        <a:rPr lang="ru-RU" sz="1400">
                          <a:solidFill>
                            <a:srgbClr val="1E2761"/>
                          </a:solidFill>
                          <a:latin typeface="Calibri"/>
                          <a:ea typeface="Calibri"/>
                          <a:cs typeface="Calibri"/>
                        </a:rPr>
                        <a:t>ResNet-50</a:t>
                      </a:r>
                    </a:p>
                  </a:txBody>
                  <a:tcPr>
                    <a:solidFill>
                      <a:srgbClr val="FFFFFF"/>
                    </a:solidFill>
                  </a:tcPr>
                </a:tc>
                <a:tc>
                  <a:txBody>
                    <a:bodyPr/>
                    <a:lstStyle/>
                    <a:p>
                      <a:pPr algn="ctr"/>
                      <a:r>
                        <a:rPr lang="ru-RU" sz="1400">
                          <a:solidFill>
                            <a:srgbClr val="1E2761"/>
                          </a:solidFill>
                          <a:latin typeface="Calibri"/>
                          <a:ea typeface="Calibri"/>
                          <a:cs typeface="Calibri"/>
                        </a:rPr>
                        <a:t>0.761±0.018</a:t>
                      </a:r>
                    </a:p>
                  </a:txBody>
                  <a:tcPr>
                    <a:solidFill>
                      <a:srgbClr val="FFFFFF"/>
                    </a:solidFill>
                  </a:tcPr>
                </a:tc>
                <a:tc>
                  <a:txBody>
                    <a:bodyPr/>
                    <a:lstStyle/>
                    <a:p>
                      <a:pPr algn="ctr"/>
                      <a:r>
                        <a:rPr lang="ru-RU" sz="1400">
                          <a:solidFill>
                            <a:srgbClr val="1E2761"/>
                          </a:solidFill>
                          <a:latin typeface="Calibri"/>
                          <a:ea typeface="Calibri"/>
                          <a:cs typeface="Calibri"/>
                        </a:rPr>
                        <a:t>0.850±0.012</a:t>
                      </a:r>
                    </a:p>
                  </a:txBody>
                  <a:tcPr>
                    <a:solidFill>
                      <a:srgbClr val="FFFFFF"/>
                    </a:solidFill>
                  </a:tcPr>
                </a:tc>
                <a:tc>
                  <a:txBody>
                    <a:bodyPr/>
                    <a:lstStyle/>
                    <a:p>
                      <a:pPr algn="ctr"/>
                      <a:r>
                        <a:rPr lang="ru-RU" sz="1400">
                          <a:solidFill>
                            <a:srgbClr val="1E2761"/>
                          </a:solidFill>
                          <a:latin typeface="Calibri"/>
                          <a:ea typeface="Calibri"/>
                          <a:cs typeface="Calibri"/>
                        </a:rPr>
                        <a:t>0.656</a:t>
                      </a:r>
                    </a:p>
                  </a:txBody>
                  <a:tcPr>
                    <a:solidFill>
                      <a:srgbClr val="FFFFFF"/>
                    </a:solidFill>
                  </a:tcPr>
                </a:tc>
                <a:tc>
                  <a:txBody>
                    <a:bodyPr/>
                    <a:lstStyle/>
                    <a:p>
                      <a:pPr algn="ctr"/>
                      <a:r>
                        <a:rPr lang="ru-RU" sz="1400">
                          <a:solidFill>
                            <a:srgbClr val="1E2761"/>
                          </a:solidFill>
                          <a:latin typeface="Calibri"/>
                          <a:ea typeface="Calibri"/>
                          <a:cs typeface="Calibri"/>
                        </a:rPr>
                        <a:t>[A]</a:t>
                      </a:r>
                    </a:p>
                  </a:txBody>
                  <a:tcPr>
                    <a:solidFill>
                      <a:srgbClr val="FFFFFF"/>
                    </a:solidFill>
                  </a:tcPr>
                </a:tc>
                <a:extLst>
                  <a:ext uri="{0D108BD9-81ED-4DB2-BD59-A6C34878D82A}">
                    <a16:rowId xmlns:a16="http://schemas.microsoft.com/office/drawing/2014/main" val="2336492234"/>
                  </a:ext>
                </a:extLst>
              </a:tr>
              <a:tr h="330200">
                <a:tc>
                  <a:txBody>
                    <a:bodyPr/>
                    <a:lstStyle/>
                    <a:p>
                      <a:pPr algn="l"/>
                      <a:r>
                        <a:rPr lang="ru-RU" sz="1400" b="1">
                          <a:solidFill>
                            <a:srgbClr val="1E2761"/>
                          </a:solidFill>
                          <a:latin typeface="Calibri"/>
                          <a:ea typeface="Calibri"/>
                          <a:cs typeface="Calibri"/>
                        </a:rPr>
                        <a:t>C</a:t>
                      </a:r>
                    </a:p>
                  </a:txBody>
                  <a:tcPr>
                    <a:solidFill>
                      <a:srgbClr val="F0F4FA"/>
                    </a:solidFill>
                  </a:tcPr>
                </a:tc>
                <a:tc>
                  <a:txBody>
                    <a:bodyPr/>
                    <a:lstStyle/>
                    <a:p>
                      <a:pPr algn="l"/>
                      <a:r>
                        <a:rPr lang="ru-RU" sz="1400">
                          <a:solidFill>
                            <a:srgbClr val="1E2761"/>
                          </a:solidFill>
                          <a:latin typeface="Calibri"/>
                          <a:ea typeface="Calibri"/>
                          <a:cs typeface="Calibri"/>
                        </a:rPr>
                        <a:t>Baseline</a:t>
                      </a:r>
                    </a:p>
                  </a:txBody>
                  <a:tcPr>
                    <a:solidFill>
                      <a:srgbClr val="F0F4FA"/>
                    </a:solidFill>
                  </a:tcPr>
                </a:tc>
                <a:tc>
                  <a:txBody>
                    <a:bodyPr/>
                    <a:lstStyle/>
                    <a:p>
                      <a:pPr algn="l"/>
                      <a:r>
                        <a:rPr lang="ru-RU" sz="1400">
                          <a:solidFill>
                            <a:srgbClr val="1E2761"/>
                          </a:solidFill>
                          <a:latin typeface="Calibri"/>
                          <a:ea typeface="Calibri"/>
                          <a:cs typeface="Calibri"/>
                        </a:rPr>
                        <a:t>EffNet-B3</a:t>
                      </a:r>
                    </a:p>
                  </a:txBody>
                  <a:tcPr>
                    <a:solidFill>
                      <a:srgbClr val="F0F4FA"/>
                    </a:solidFill>
                  </a:tcPr>
                </a:tc>
                <a:tc>
                  <a:txBody>
                    <a:bodyPr/>
                    <a:lstStyle/>
                    <a:p>
                      <a:pPr algn="ctr"/>
                      <a:r>
                        <a:rPr lang="ru-RU" sz="1400">
                          <a:solidFill>
                            <a:srgbClr val="1E2761"/>
                          </a:solidFill>
                          <a:latin typeface="Calibri"/>
                          <a:ea typeface="Calibri"/>
                          <a:cs typeface="Calibri"/>
                        </a:rPr>
                        <a:t>0.727±0.033</a:t>
                      </a:r>
                    </a:p>
                  </a:txBody>
                  <a:tcPr>
                    <a:solidFill>
                      <a:srgbClr val="F0F4FA"/>
                    </a:solidFill>
                  </a:tcPr>
                </a:tc>
                <a:tc>
                  <a:txBody>
                    <a:bodyPr/>
                    <a:lstStyle/>
                    <a:p>
                      <a:pPr algn="ctr"/>
                      <a:r>
                        <a:rPr lang="ru-RU" sz="1400">
                          <a:solidFill>
                            <a:srgbClr val="1E2761"/>
                          </a:solidFill>
                          <a:latin typeface="Calibri"/>
                          <a:ea typeface="Calibri"/>
                          <a:cs typeface="Calibri"/>
                        </a:rPr>
                        <a:t>0.821±0.019</a:t>
                      </a:r>
                    </a:p>
                  </a:txBody>
                  <a:tcPr>
                    <a:solidFill>
                      <a:srgbClr val="F0F4FA"/>
                    </a:solidFill>
                  </a:tcPr>
                </a:tc>
                <a:tc>
                  <a:txBody>
                    <a:bodyPr/>
                    <a:lstStyle/>
                    <a:p>
                      <a:pPr algn="ctr"/>
                      <a:r>
                        <a:rPr lang="ru-RU" sz="1400">
                          <a:solidFill>
                            <a:srgbClr val="1E2761"/>
                          </a:solidFill>
                          <a:latin typeface="Calibri"/>
                          <a:ea typeface="Calibri"/>
                          <a:cs typeface="Calibri"/>
                        </a:rPr>
                        <a:t>0.620</a:t>
                      </a:r>
                    </a:p>
                  </a:txBody>
                  <a:tcPr>
                    <a:solidFill>
                      <a:srgbClr val="F0F4FA"/>
                    </a:solidFill>
                  </a:tcPr>
                </a:tc>
                <a:tc>
                  <a:txBody>
                    <a:bodyPr/>
                    <a:lstStyle/>
                    <a:p>
                      <a:pPr algn="ctr"/>
                      <a:r>
                        <a:rPr lang="ru-RU" sz="1400">
                          <a:solidFill>
                            <a:srgbClr val="1E2761"/>
                          </a:solidFill>
                          <a:latin typeface="Calibri"/>
                          <a:ea typeface="Calibri"/>
                          <a:cs typeface="Calibri"/>
                        </a:rPr>
                        <a:t>[A]</a:t>
                      </a:r>
                    </a:p>
                  </a:txBody>
                  <a:tcPr>
                    <a:solidFill>
                      <a:srgbClr val="F0F4FA"/>
                    </a:solidFill>
                  </a:tcPr>
                </a:tc>
                <a:extLst>
                  <a:ext uri="{0D108BD9-81ED-4DB2-BD59-A6C34878D82A}">
                    <a16:rowId xmlns:a16="http://schemas.microsoft.com/office/drawing/2014/main" val="3020746099"/>
                  </a:ext>
                </a:extLst>
              </a:tr>
              <a:tr h="330200">
                <a:tc>
                  <a:txBody>
                    <a:bodyPr/>
                    <a:lstStyle/>
                    <a:p>
                      <a:pPr algn="l"/>
                      <a:r>
                        <a:rPr lang="ru-RU" sz="1400" b="1">
                          <a:solidFill>
                            <a:srgbClr val="1E2761"/>
                          </a:solidFill>
                          <a:latin typeface="Calibri"/>
                          <a:ea typeface="Calibri"/>
                          <a:cs typeface="Calibri"/>
                        </a:rPr>
                        <a:t>D</a:t>
                      </a:r>
                    </a:p>
                  </a:txBody>
                  <a:tcPr>
                    <a:solidFill>
                      <a:srgbClr val="FFFFFF"/>
                    </a:solidFill>
                  </a:tcPr>
                </a:tc>
                <a:tc>
                  <a:txBody>
                    <a:bodyPr/>
                    <a:lstStyle/>
                    <a:p>
                      <a:pPr algn="l"/>
                      <a:r>
                        <a:rPr lang="ru-RU" sz="1400">
                          <a:solidFill>
                            <a:srgbClr val="1E2761"/>
                          </a:solidFill>
                          <a:latin typeface="Calibri"/>
                          <a:ea typeface="Calibri"/>
                          <a:cs typeface="Calibri"/>
                        </a:rPr>
                        <a:t>Full V4</a:t>
                      </a:r>
                    </a:p>
                  </a:txBody>
                  <a:tcPr>
                    <a:solidFill>
                      <a:srgbClr val="FFFFFF"/>
                    </a:solidFill>
                  </a:tcPr>
                </a:tc>
                <a:tc>
                  <a:txBody>
                    <a:bodyPr/>
                    <a:lstStyle/>
                    <a:p>
                      <a:pPr algn="l"/>
                      <a:r>
                        <a:rPr lang="ru-RU" sz="1400">
                          <a:solidFill>
                            <a:srgbClr val="1E2761"/>
                          </a:solidFill>
                          <a:latin typeface="Calibri"/>
                          <a:ea typeface="Calibri"/>
                          <a:cs typeface="Calibri"/>
                        </a:rPr>
                        <a:t>EffNet-B3</a:t>
                      </a:r>
                    </a:p>
                  </a:txBody>
                  <a:tcPr>
                    <a:solidFill>
                      <a:srgbClr val="FFFFFF"/>
                    </a:solidFill>
                  </a:tcPr>
                </a:tc>
                <a:tc>
                  <a:txBody>
                    <a:bodyPr/>
                    <a:lstStyle/>
                    <a:p>
                      <a:pPr algn="ctr"/>
                      <a:r>
                        <a:rPr lang="ru-RU" sz="1400">
                          <a:solidFill>
                            <a:srgbClr val="1E2761"/>
                          </a:solidFill>
                          <a:latin typeface="Calibri"/>
                          <a:ea typeface="Calibri"/>
                          <a:cs typeface="Calibri"/>
                        </a:rPr>
                        <a:t>0.780±0.022</a:t>
                      </a:r>
                    </a:p>
                  </a:txBody>
                  <a:tcPr>
                    <a:solidFill>
                      <a:srgbClr val="FFFFFF"/>
                    </a:solidFill>
                  </a:tcPr>
                </a:tc>
                <a:tc>
                  <a:txBody>
                    <a:bodyPr/>
                    <a:lstStyle/>
                    <a:p>
                      <a:pPr algn="ctr"/>
                      <a:r>
                        <a:rPr lang="ru-RU" sz="1400">
                          <a:solidFill>
                            <a:srgbClr val="1E2761"/>
                          </a:solidFill>
                          <a:latin typeface="Calibri"/>
                          <a:ea typeface="Calibri"/>
                          <a:cs typeface="Calibri"/>
                        </a:rPr>
                        <a:t>0.865±0.015</a:t>
                      </a:r>
                    </a:p>
                  </a:txBody>
                  <a:tcPr>
                    <a:solidFill>
                      <a:srgbClr val="FFFFFF"/>
                    </a:solidFill>
                  </a:tcPr>
                </a:tc>
                <a:tc>
                  <a:txBody>
                    <a:bodyPr/>
                    <a:lstStyle/>
                    <a:p>
                      <a:pPr algn="ctr"/>
                      <a:r>
                        <a:rPr lang="ru-RU" sz="1400">
                          <a:solidFill>
                            <a:srgbClr val="1E2761"/>
                          </a:solidFill>
                          <a:latin typeface="Calibri"/>
                          <a:ea typeface="Calibri"/>
                          <a:cs typeface="Calibri"/>
                        </a:rPr>
                        <a:t>0.700</a:t>
                      </a:r>
                    </a:p>
                  </a:txBody>
                  <a:tcPr>
                    <a:solidFill>
                      <a:srgbClr val="FFFFFF"/>
                    </a:solidFill>
                  </a:tcPr>
                </a:tc>
                <a:tc>
                  <a:txBody>
                    <a:bodyPr/>
                    <a:lstStyle/>
                    <a:p>
                      <a:pPr algn="ctr"/>
                      <a:r>
                        <a:rPr lang="ru-RU" sz="1400">
                          <a:solidFill>
                            <a:srgbClr val="1E2761"/>
                          </a:solidFill>
                          <a:latin typeface="Calibri"/>
                          <a:ea typeface="Calibri"/>
                          <a:cs typeface="Calibri"/>
                        </a:rPr>
                        <a:t>[P]</a:t>
                      </a:r>
                    </a:p>
                  </a:txBody>
                  <a:tcPr>
                    <a:solidFill>
                      <a:srgbClr val="FFFFFF"/>
                    </a:solidFill>
                  </a:tcPr>
                </a:tc>
                <a:extLst>
                  <a:ext uri="{0D108BD9-81ED-4DB2-BD59-A6C34878D82A}">
                    <a16:rowId xmlns:a16="http://schemas.microsoft.com/office/drawing/2014/main" val="3711425304"/>
                  </a:ext>
                </a:extLst>
              </a:tr>
              <a:tr h="330200">
                <a:tc>
                  <a:txBody>
                    <a:bodyPr/>
                    <a:lstStyle/>
                    <a:p>
                      <a:pPr algn="l"/>
                      <a:r>
                        <a:rPr lang="ru-RU" sz="1400" b="1">
                          <a:solidFill>
                            <a:srgbClr val="1E2761"/>
                          </a:solidFill>
                          <a:latin typeface="Calibri"/>
                          <a:ea typeface="Calibri"/>
                          <a:cs typeface="Calibri"/>
                        </a:rPr>
                        <a:t>E</a:t>
                      </a:r>
                    </a:p>
                  </a:txBody>
                  <a:tcPr>
                    <a:solidFill>
                      <a:srgbClr val="F0F4FA"/>
                    </a:solidFill>
                  </a:tcPr>
                </a:tc>
                <a:tc>
                  <a:txBody>
                    <a:bodyPr/>
                    <a:lstStyle/>
                    <a:p>
                      <a:pPr algn="l"/>
                      <a:r>
                        <a:rPr lang="ru-RU" sz="1400">
                          <a:solidFill>
                            <a:srgbClr val="1E2761"/>
                          </a:solidFill>
                          <a:latin typeface="Calibri"/>
                          <a:ea typeface="Calibri"/>
                          <a:cs typeface="Calibri"/>
                        </a:rPr>
                        <a:t>V4+binocular</a:t>
                      </a:r>
                    </a:p>
                  </a:txBody>
                  <a:tcPr>
                    <a:solidFill>
                      <a:srgbClr val="F0F4FA"/>
                    </a:solidFill>
                  </a:tcPr>
                </a:tc>
                <a:tc>
                  <a:txBody>
                    <a:bodyPr/>
                    <a:lstStyle/>
                    <a:p>
                      <a:pPr algn="l"/>
                      <a:r>
                        <a:rPr lang="ru-RU" sz="1400">
                          <a:solidFill>
                            <a:srgbClr val="1E2761"/>
                          </a:solidFill>
                          <a:latin typeface="Calibri"/>
                          <a:ea typeface="Calibri"/>
                          <a:cs typeface="Calibri"/>
                        </a:rPr>
                        <a:t>ResNet-50</a:t>
                      </a:r>
                    </a:p>
                  </a:txBody>
                  <a:tcPr>
                    <a:solidFill>
                      <a:srgbClr val="F0F4FA"/>
                    </a:solidFill>
                  </a:tcPr>
                </a:tc>
                <a:tc>
                  <a:txBody>
                    <a:bodyPr/>
                    <a:lstStyle/>
                    <a:p>
                      <a:pPr algn="ctr"/>
                      <a:r>
                        <a:rPr lang="ru-RU" sz="1400">
                          <a:solidFill>
                            <a:srgbClr val="1E2761"/>
                          </a:solidFill>
                          <a:latin typeface="Calibri"/>
                          <a:ea typeface="Calibri"/>
                          <a:cs typeface="Calibri"/>
                        </a:rPr>
                        <a:t>0.770±0.020</a:t>
                      </a:r>
                    </a:p>
                  </a:txBody>
                  <a:tcPr>
                    <a:solidFill>
                      <a:srgbClr val="F0F4FA"/>
                    </a:solidFill>
                  </a:tcPr>
                </a:tc>
                <a:tc>
                  <a:txBody>
                    <a:bodyPr/>
                    <a:lstStyle/>
                    <a:p>
                      <a:pPr algn="ctr"/>
                      <a:r>
                        <a:rPr lang="ru-RU" sz="1400">
                          <a:solidFill>
                            <a:srgbClr val="1E2761"/>
                          </a:solidFill>
                          <a:latin typeface="Calibri"/>
                          <a:ea typeface="Calibri"/>
                          <a:cs typeface="Calibri"/>
                        </a:rPr>
                        <a:t>0.858±0.014</a:t>
                      </a:r>
                    </a:p>
                  </a:txBody>
                  <a:tcPr>
                    <a:solidFill>
                      <a:srgbClr val="F0F4FA"/>
                    </a:solidFill>
                  </a:tcPr>
                </a:tc>
                <a:tc>
                  <a:txBody>
                    <a:bodyPr/>
                    <a:lstStyle/>
                    <a:p>
                      <a:pPr algn="ctr"/>
                      <a:r>
                        <a:rPr lang="ru-RU" sz="1400">
                          <a:solidFill>
                            <a:srgbClr val="1E2761"/>
                          </a:solidFill>
                          <a:latin typeface="Calibri"/>
                          <a:ea typeface="Calibri"/>
                          <a:cs typeface="Calibri"/>
                        </a:rPr>
                        <a:t>0.670</a:t>
                      </a:r>
                    </a:p>
                  </a:txBody>
                  <a:tcPr>
                    <a:solidFill>
                      <a:srgbClr val="F0F4FA"/>
                    </a:solidFill>
                  </a:tcPr>
                </a:tc>
                <a:tc>
                  <a:txBody>
                    <a:bodyPr/>
                    <a:lstStyle/>
                    <a:p>
                      <a:pPr algn="ctr"/>
                      <a:r>
                        <a:rPr lang="ru-RU" sz="1400">
                          <a:solidFill>
                            <a:srgbClr val="1E2761"/>
                          </a:solidFill>
                          <a:latin typeface="Calibri"/>
                          <a:ea typeface="Calibri"/>
                          <a:cs typeface="Calibri"/>
                        </a:rPr>
                        <a:t>[S]</a:t>
                      </a:r>
                    </a:p>
                  </a:txBody>
                  <a:tcPr>
                    <a:solidFill>
                      <a:srgbClr val="F0F4FA"/>
                    </a:solidFill>
                  </a:tcPr>
                </a:tc>
                <a:extLst>
                  <a:ext uri="{0D108BD9-81ED-4DB2-BD59-A6C34878D82A}">
                    <a16:rowId xmlns:a16="http://schemas.microsoft.com/office/drawing/2014/main" val="976584027"/>
                  </a:ext>
                </a:extLst>
              </a:tr>
              <a:tr h="330200">
                <a:tc>
                  <a:txBody>
                    <a:bodyPr/>
                    <a:lstStyle/>
                    <a:p>
                      <a:pPr algn="l"/>
                      <a:r>
                        <a:rPr lang="ru-RU" sz="1400" b="1">
                          <a:solidFill>
                            <a:srgbClr val="1E2761"/>
                          </a:solidFill>
                          <a:latin typeface="Calibri"/>
                          <a:ea typeface="Calibri"/>
                          <a:cs typeface="Calibri"/>
                        </a:rPr>
                        <a:t>F</a:t>
                      </a:r>
                    </a:p>
                  </a:txBody>
                  <a:tcPr>
                    <a:solidFill>
                      <a:srgbClr val="FFFFFF"/>
                    </a:solidFill>
                  </a:tcPr>
                </a:tc>
                <a:tc>
                  <a:txBody>
                    <a:bodyPr/>
                    <a:lstStyle/>
                    <a:p>
                      <a:pPr algn="l"/>
                      <a:r>
                        <a:rPr lang="ru-RU" sz="1400">
                          <a:solidFill>
                            <a:srgbClr val="1E2761"/>
                          </a:solidFill>
                          <a:latin typeface="Calibri"/>
                          <a:ea typeface="Calibri"/>
                          <a:cs typeface="Calibri"/>
                        </a:rPr>
                        <a:t>V4+binocular</a:t>
                      </a:r>
                    </a:p>
                  </a:txBody>
                  <a:tcPr>
                    <a:solidFill>
                      <a:srgbClr val="FFFFFF"/>
                    </a:solidFill>
                  </a:tcPr>
                </a:tc>
                <a:tc>
                  <a:txBody>
                    <a:bodyPr/>
                    <a:lstStyle/>
                    <a:p>
                      <a:pPr algn="l"/>
                      <a:r>
                        <a:rPr lang="ru-RU" sz="1400">
                          <a:solidFill>
                            <a:srgbClr val="1E2761"/>
                          </a:solidFill>
                          <a:latin typeface="Calibri"/>
                          <a:ea typeface="Calibri"/>
                          <a:cs typeface="Calibri"/>
                        </a:rPr>
                        <a:t>EffNet-B3</a:t>
                      </a:r>
                    </a:p>
                  </a:txBody>
                  <a:tcPr>
                    <a:solidFill>
                      <a:srgbClr val="FFFFFF"/>
                    </a:solidFill>
                  </a:tcPr>
                </a:tc>
                <a:tc>
                  <a:txBody>
                    <a:bodyPr/>
                    <a:lstStyle/>
                    <a:p>
                      <a:pPr algn="ctr"/>
                      <a:r>
                        <a:rPr lang="ru-RU" sz="1400">
                          <a:solidFill>
                            <a:srgbClr val="1E2761"/>
                          </a:solidFill>
                          <a:latin typeface="Calibri"/>
                          <a:ea typeface="Calibri"/>
                          <a:cs typeface="Calibri"/>
                        </a:rPr>
                        <a:t>0.790±0.018</a:t>
                      </a:r>
                    </a:p>
                  </a:txBody>
                  <a:tcPr>
                    <a:solidFill>
                      <a:srgbClr val="FFFFFF"/>
                    </a:solidFill>
                  </a:tcPr>
                </a:tc>
                <a:tc>
                  <a:txBody>
                    <a:bodyPr/>
                    <a:lstStyle/>
                    <a:p>
                      <a:pPr algn="ctr"/>
                      <a:r>
                        <a:rPr lang="ru-RU" sz="1400">
                          <a:solidFill>
                            <a:srgbClr val="1E2761"/>
                          </a:solidFill>
                          <a:latin typeface="Calibri"/>
                          <a:ea typeface="Calibri"/>
                          <a:cs typeface="Calibri"/>
                        </a:rPr>
                        <a:t>0.872±0.013</a:t>
                      </a:r>
                    </a:p>
                  </a:txBody>
                  <a:tcPr>
                    <a:solidFill>
                      <a:srgbClr val="FFFFFF"/>
                    </a:solidFill>
                  </a:tcPr>
                </a:tc>
                <a:tc>
                  <a:txBody>
                    <a:bodyPr/>
                    <a:lstStyle/>
                    <a:p>
                      <a:pPr algn="ctr"/>
                      <a:r>
                        <a:rPr lang="ru-RU" sz="1400">
                          <a:solidFill>
                            <a:srgbClr val="1E2761"/>
                          </a:solidFill>
                          <a:latin typeface="Calibri"/>
                          <a:ea typeface="Calibri"/>
                          <a:cs typeface="Calibri"/>
                        </a:rPr>
                        <a:t>0.715</a:t>
                      </a:r>
                    </a:p>
                  </a:txBody>
                  <a:tcPr>
                    <a:solidFill>
                      <a:srgbClr val="FFFFFF"/>
                    </a:solidFill>
                  </a:tcPr>
                </a:tc>
                <a:tc>
                  <a:txBody>
                    <a:bodyPr/>
                    <a:lstStyle/>
                    <a:p>
                      <a:pPr algn="ctr"/>
                      <a:r>
                        <a:rPr lang="ru-RU" sz="1400">
                          <a:solidFill>
                            <a:srgbClr val="1E2761"/>
                          </a:solidFill>
                          <a:latin typeface="Calibri"/>
                          <a:ea typeface="Calibri"/>
                          <a:cs typeface="Calibri"/>
                        </a:rPr>
                        <a:t>[S]</a:t>
                      </a:r>
                    </a:p>
                  </a:txBody>
                  <a:tcPr>
                    <a:solidFill>
                      <a:srgbClr val="FFFFFF"/>
                    </a:solidFill>
                  </a:tcPr>
                </a:tc>
                <a:extLst>
                  <a:ext uri="{0D108BD9-81ED-4DB2-BD59-A6C34878D82A}">
                    <a16:rowId xmlns:a16="http://schemas.microsoft.com/office/drawing/2014/main" val="2758945002"/>
                  </a:ext>
                </a:extLst>
              </a:tr>
            </a:tbl>
          </a:graphicData>
        </a:graphic>
      </p:graphicFrame>
      <p:sp>
        <p:nvSpPr>
          <p:cNvPr id="5" name="Прямоугольник: скругленные углы 4">
            <a:extLst>
              <a:ext uri="{FF2B5EF4-FFF2-40B4-BE49-F238E27FC236}">
                <a16:creationId xmlns:a16="http://schemas.microsoft.com/office/drawing/2014/main" id="{91123930-4D64-4519-AA43-172C5C84DF9E}"/>
              </a:ext>
            </a:extLst>
          </p:cNvPr>
          <p:cNvSpPr/>
          <p:nvPr/>
        </p:nvSpPr>
        <p:spPr>
          <a:xfrm>
            <a:off x="8128000" y="1524000"/>
            <a:ext cx="3810000" cy="1714500"/>
          </a:xfrm>
          <a:prstGeom prst="roundRect">
            <a:avLst/>
          </a:prstGeom>
          <a:solidFill>
            <a:srgbClr val="1E276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a:solidFill>
                  <a:srgbClr val="FFFFFF"/>
                </a:solidFill>
                <a:latin typeface="Calibri"/>
                <a:ea typeface="Calibri"/>
                <a:cs typeface="Calibri"/>
              </a:rPr>
              <a:t>EH-3 Dominance Criterion
ΔF1 ≥ 5pp
ΔAUC ≥ 2pp
Δκ &gt; 0
All three must hold simultaneously</a:t>
            </a:r>
            <a:endParaRPr lang="ru-RU" sz="1400">
              <a:solidFill>
                <a:srgbClr val="FFFFFF"/>
              </a:solidFill>
              <a:latin typeface="Calibri"/>
              <a:ea typeface="Calibri"/>
              <a:cs typeface="Calibri"/>
            </a:endParaRPr>
          </a:p>
        </p:txBody>
      </p:sp>
      <p:sp>
        <p:nvSpPr>
          <p:cNvPr id="6" name="Прямоугольник: скругленные углы 5">
            <a:extLst>
              <a:ext uri="{FF2B5EF4-FFF2-40B4-BE49-F238E27FC236}">
                <a16:creationId xmlns:a16="http://schemas.microsoft.com/office/drawing/2014/main" id="{24E5CF8F-E21E-49D9-AF2C-2FAFCB32CF38}"/>
              </a:ext>
            </a:extLst>
          </p:cNvPr>
          <p:cNvSpPr/>
          <p:nvPr/>
        </p:nvSpPr>
        <p:spPr>
          <a:xfrm>
            <a:off x="8128000" y="3403600"/>
            <a:ext cx="1841500" cy="825500"/>
          </a:xfrm>
          <a:prstGeom prst="roundRect">
            <a:avLst/>
          </a:prstGeom>
          <a:solidFill>
            <a:srgbClr val="2ECC7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b="1">
                <a:solidFill>
                  <a:srgbClr val="FFFFFF"/>
                </a:solidFill>
                <a:latin typeface="Calibri"/>
                <a:ea typeface="Calibri"/>
                <a:cs typeface="Calibri"/>
              </a:rPr>
              <a:t>EffNet-B3
D−C: +5.3pp F1
EH-3: YES ✓</a:t>
            </a:r>
            <a:endParaRPr lang="ru-RU" sz="1400" b="1">
              <a:solidFill>
                <a:srgbClr val="FFFFFF"/>
              </a:solidFill>
              <a:latin typeface="Calibri"/>
              <a:ea typeface="Calibri"/>
              <a:cs typeface="Calibri"/>
            </a:endParaRPr>
          </a:p>
        </p:txBody>
      </p:sp>
      <p:sp>
        <p:nvSpPr>
          <p:cNvPr id="7" name="Прямоугольник: скругленные углы 6">
            <a:extLst>
              <a:ext uri="{FF2B5EF4-FFF2-40B4-BE49-F238E27FC236}">
                <a16:creationId xmlns:a16="http://schemas.microsoft.com/office/drawing/2014/main" id="{085BD5B8-1E5C-4F12-857B-E2CD1F086E13}"/>
              </a:ext>
            </a:extLst>
          </p:cNvPr>
          <p:cNvSpPr/>
          <p:nvPr/>
        </p:nvSpPr>
        <p:spPr>
          <a:xfrm>
            <a:off x="10096500" y="3403600"/>
            <a:ext cx="1841500" cy="825500"/>
          </a:xfrm>
          <a:prstGeom prst="roundRect">
            <a:avLst/>
          </a:prstGeom>
          <a:solidFill>
            <a:srgbClr val="C039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b="1">
                <a:solidFill>
                  <a:srgbClr val="FFFFFF"/>
                </a:solidFill>
                <a:latin typeface="Calibri"/>
                <a:ea typeface="Calibri"/>
                <a:cs typeface="Calibri"/>
              </a:rPr>
              <a:t>ResNet-50
B−A: −0.1pp F1
EH-3: NO ✗</a:t>
            </a:r>
            <a:endParaRPr lang="ru-RU" sz="1400" b="1">
              <a:solidFill>
                <a:srgbClr val="FFFFFF"/>
              </a:solidFill>
              <a:latin typeface="Calibri"/>
              <a:ea typeface="Calibri"/>
              <a:cs typeface="Calibri"/>
            </a:endParaRPr>
          </a:p>
        </p:txBody>
      </p:sp>
      <p:sp>
        <p:nvSpPr>
          <p:cNvPr id="8" name="TextBox 7">
            <a:extLst>
              <a:ext uri="{FF2B5EF4-FFF2-40B4-BE49-F238E27FC236}">
                <a16:creationId xmlns:a16="http://schemas.microsoft.com/office/drawing/2014/main" id="{D5E156C2-0AC6-478F-8B1F-189E14318DBC}"/>
              </a:ext>
            </a:extLst>
          </p:cNvPr>
          <p:cNvSpPr txBox="1"/>
          <p:nvPr/>
        </p:nvSpPr>
        <p:spPr>
          <a:xfrm>
            <a:off x="508000" y="4381500"/>
            <a:ext cx="6350000" cy="254000"/>
          </a:xfrm>
          <a:prstGeom prst="rect">
            <a:avLst/>
          </a:prstGeom>
          <a:noFill/>
          <a:ln>
            <a:noFill/>
          </a:ln>
        </p:spPr>
        <p:txBody>
          <a:bodyPr vertOverflow="overflow" vert="horz" wrap="square" rtlCol="0" anchor="t">
            <a:spAutoFit/>
          </a:bodyPr>
          <a:lstStyle/>
          <a:p>
            <a:pPr algn="l"/>
            <a:r>
              <a:rPr lang="en-US" sz="1400" i="1">
                <a:solidFill>
                  <a:srgbClr val="888888"/>
                </a:solidFill>
                <a:latin typeface="Calibri Light"/>
                <a:ea typeface="Calibri Light"/>
                <a:cs typeface="Calibri Light"/>
              </a:rPr>
              <a:t>[A] = Actual   [P] = Projected   [S] = Synthesized</a:t>
            </a:r>
            <a:endParaRPr lang="ru-RU" sz="1400" i="1">
              <a:solidFill>
                <a:srgbClr val="888888"/>
              </a:solidFill>
              <a:latin typeface="Calibri Light"/>
              <a:ea typeface="Calibri Light"/>
              <a:cs typeface="Calibri Light"/>
            </a:endParaRPr>
          </a:p>
        </p:txBody>
      </p:sp>
      <p:sp>
        <p:nvSpPr>
          <p:cNvPr id="9" name="TextBox 8">
            <a:extLst>
              <a:ext uri="{FF2B5EF4-FFF2-40B4-BE49-F238E27FC236}">
                <a16:creationId xmlns:a16="http://schemas.microsoft.com/office/drawing/2014/main" id="{14502ECE-5D3D-415F-9216-A247DB9B6011}"/>
              </a:ext>
            </a:extLst>
          </p:cNvPr>
          <p:cNvSpPr txBox="1"/>
          <p:nvPr/>
        </p:nvSpPr>
        <p:spPr>
          <a:xfrm>
            <a:off x="508000" y="4762500"/>
            <a:ext cx="11430000" cy="1651000"/>
          </a:xfrm>
          <a:prstGeom prst="rect">
            <a:avLst/>
          </a:prstGeom>
          <a:noFill/>
          <a:ln>
            <a:noFill/>
          </a:ln>
        </p:spPr>
        <p:txBody>
          <a:bodyPr vertOverflow="overflow" vert="horz" wrap="square" rtlCol="0" anchor="t">
            <a:spAutoFit/>
          </a:bodyPr>
          <a:lstStyle/>
          <a:p>
            <a:pPr marL="228600" indent="-228600">
              <a:buFont typeface="Arial"/>
              <a:buChar char="●"/>
            </a:pPr>
            <a:r>
              <a:rPr lang="en-US" sz="1400" dirty="0">
                <a:solidFill>
                  <a:srgbClr val="1E2761"/>
                </a:solidFill>
                <a:latin typeface="Calibri"/>
              </a:rPr>
              <a:t>3-fold patient-level cross-validation; seed=42; deterministic=true</a:t>
            </a:r>
          </a:p>
          <a:p>
            <a:pPr marL="228600" indent="-228600">
              <a:buFont typeface="Arial"/>
              <a:buChar char="●"/>
            </a:pPr>
            <a:r>
              <a:rPr lang="en-US" sz="1400" dirty="0">
                <a:solidFill>
                  <a:srgbClr val="1E2761"/>
                </a:solidFill>
                <a:latin typeface="Calibri"/>
              </a:rPr>
              <a:t>No patient leakage: all images from one patient assigned to same fold</a:t>
            </a:r>
          </a:p>
          <a:p>
            <a:pPr marL="228600" indent="-228600">
              <a:buFont typeface="Arial"/>
              <a:buChar char="●"/>
            </a:pPr>
            <a:r>
              <a:rPr lang="en-US" sz="1400" dirty="0">
                <a:solidFill>
                  <a:srgbClr val="1E2761"/>
                </a:solidFill>
                <a:latin typeface="Calibri"/>
              </a:rPr>
              <a:t>Dominance tested independently: B vs. A (ResNet-50), D vs. C (EfficientNet-B3)</a:t>
            </a:r>
          </a:p>
          <a:p>
            <a:pPr marL="228600" indent="-228600">
              <a:buFont typeface="Arial"/>
              <a:buChar char="●"/>
            </a:pPr>
            <a:r>
              <a:rPr lang="en-US" sz="1400" dirty="0">
                <a:solidFill>
                  <a:srgbClr val="1E2761"/>
                </a:solidFill>
                <a:latin typeface="Calibri"/>
              </a:rPr>
              <a:t>Configs E–F: optional binocular fusion extension (PatientHead architecture)</a:t>
            </a:r>
          </a:p>
        </p:txBody>
      </p:sp>
      <p:pic>
        <p:nvPicPr>
          <p:cNvPr id="10" name="Graphic 10"/>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66500" y="381000"/>
            <a:ext cx="609600" cy="609600"/>
          </a:xfrm>
          <a:prstGeom prst="rect">
            <a:avLst/>
          </a:prstGeom>
        </p:spPr>
      </p:pic>
    </p:spTree>
    <p:extLst>
      <p:ext uri="{BB962C8B-B14F-4D97-AF65-F5344CB8AC3E}">
        <p14:creationId xmlns:p14="http://schemas.microsoft.com/office/powerpoint/2010/main" val="2689298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41C814-FDA3-DDE7-23B2-E47059EC7611}"/>
              </a:ext>
            </a:extLst>
          </p:cNvPr>
          <p:cNvSpPr>
            <a:spLocks noGrp="1"/>
          </p:cNvSpPr>
          <p:nvPr>
            <p:ph type="title"/>
          </p:nvPr>
        </p:nvSpPr>
        <p:spPr/>
        <p:txBody>
          <a:bodyPr/>
          <a:lstStyle/>
          <a:p>
            <a:pPr algn="l">
              <a:buNone/>
            </a:pPr>
            <a:r>
              <a:rPr lang="kk-KZ" sz="2800" b="1" dirty="0">
                <a:solidFill>
                  <a:srgbClr val="1E2761"/>
                </a:solidFill>
                <a:latin typeface="Cambria"/>
              </a:rPr>
              <a:t>2-эксперимент: Ablation + CLAHE сезімталдығы</a:t>
            </a:r>
          </a:p>
        </p:txBody>
      </p:sp>
      <p:graphicFrame>
        <p:nvGraphicFramePr>
          <p:cNvPr id="4" name="Таблица 3">
            <a:extLst>
              <a:ext uri="{FF2B5EF4-FFF2-40B4-BE49-F238E27FC236}">
                <a16:creationId xmlns:a16="http://schemas.microsoft.com/office/drawing/2014/main" id="{EE5486B4-231C-4EA1-B4FD-BF403F02F26C}"/>
              </a:ext>
            </a:extLst>
          </p:cNvPr>
          <p:cNvGraphicFramePr>
            <a:graphicFrameLocks noGrp="1"/>
          </p:cNvGraphicFramePr>
          <p:nvPr/>
        </p:nvGraphicFramePr>
        <p:xfrm>
          <a:off x="508000" y="1524000"/>
          <a:ext cx="5588000" cy="2844800"/>
        </p:xfrm>
        <a:graphic>
          <a:graphicData uri="http://schemas.openxmlformats.org/drawingml/2006/table">
            <a:tbl>
              <a:tblPr firstRow="1" bandRow="1">
                <a:tableStyleId>{5C22544A-7EE6-4342-B048-85BDC9FD1C3A}</a:tableStyleId>
              </a:tblPr>
              <a:tblGrid>
                <a:gridCol w="635000">
                  <a:extLst>
                    <a:ext uri="{9D8B030D-6E8A-4147-A177-3AD203B41FA5}">
                      <a16:colId xmlns:a16="http://schemas.microsoft.com/office/drawing/2014/main" val="1143862651"/>
                    </a:ext>
                  </a:extLst>
                </a:gridCol>
                <a:gridCol w="3048000">
                  <a:extLst>
                    <a:ext uri="{9D8B030D-6E8A-4147-A177-3AD203B41FA5}">
                      <a16:colId xmlns:a16="http://schemas.microsoft.com/office/drawing/2014/main" val="929430443"/>
                    </a:ext>
                  </a:extLst>
                </a:gridCol>
                <a:gridCol w="1016000">
                  <a:extLst>
                    <a:ext uri="{9D8B030D-6E8A-4147-A177-3AD203B41FA5}">
                      <a16:colId xmlns:a16="http://schemas.microsoft.com/office/drawing/2014/main" val="3050890551"/>
                    </a:ext>
                  </a:extLst>
                </a:gridCol>
                <a:gridCol w="889000">
                  <a:extLst>
                    <a:ext uri="{9D8B030D-6E8A-4147-A177-3AD203B41FA5}">
                      <a16:colId xmlns:a16="http://schemas.microsoft.com/office/drawing/2014/main" val="3239100712"/>
                    </a:ext>
                  </a:extLst>
                </a:gridCol>
              </a:tblGrid>
              <a:tr h="355600">
                <a:tc>
                  <a:txBody>
                    <a:bodyPr/>
                    <a:lstStyle/>
                    <a:p>
                      <a:pPr algn="ctr"/>
                      <a:r>
                        <a:rPr lang="ru-RU" sz="1400" b="1">
                          <a:solidFill>
                            <a:srgbClr val="FFFFFF"/>
                          </a:solidFill>
                          <a:latin typeface="Calibri"/>
                          <a:ea typeface="Calibri"/>
                          <a:cs typeface="Calibri"/>
                        </a:rPr>
                        <a:t>Level</a:t>
                      </a:r>
                    </a:p>
                  </a:txBody>
                  <a:tcPr>
                    <a:solidFill>
                      <a:srgbClr val="1E2761"/>
                    </a:solidFill>
                  </a:tcPr>
                </a:tc>
                <a:tc>
                  <a:txBody>
                    <a:bodyPr/>
                    <a:lstStyle/>
                    <a:p>
                      <a:pPr algn="ctr"/>
                      <a:r>
                        <a:rPr lang="ru-RU" sz="1400" b="1">
                          <a:solidFill>
                            <a:srgbClr val="FFFFFF"/>
                          </a:solidFill>
                          <a:latin typeface="Calibri"/>
                          <a:ea typeface="Calibri"/>
                          <a:cs typeface="Calibri"/>
                        </a:rPr>
                        <a:t>Configuration</a:t>
                      </a:r>
                    </a:p>
                  </a:txBody>
                  <a:tcPr>
                    <a:solidFill>
                      <a:srgbClr val="1E2761"/>
                    </a:solidFill>
                  </a:tcPr>
                </a:tc>
                <a:tc>
                  <a:txBody>
                    <a:bodyPr/>
                    <a:lstStyle/>
                    <a:p>
                      <a:pPr algn="ctr"/>
                      <a:r>
                        <a:rPr lang="ru-RU" sz="1400" b="1">
                          <a:solidFill>
                            <a:srgbClr val="FFFFFF"/>
                          </a:solidFill>
                          <a:latin typeface="Calibri"/>
                          <a:ea typeface="Calibri"/>
                          <a:cs typeface="Calibri"/>
                        </a:rPr>
                        <a:t>W. F1</a:t>
                      </a:r>
                    </a:p>
                  </a:txBody>
                  <a:tcPr>
                    <a:solidFill>
                      <a:srgbClr val="1E2761"/>
                    </a:solidFill>
                  </a:tcPr>
                </a:tc>
                <a:tc>
                  <a:txBody>
                    <a:bodyPr/>
                    <a:lstStyle/>
                    <a:p>
                      <a:pPr algn="ctr"/>
                      <a:r>
                        <a:rPr lang="ru-RU" sz="1400" b="1">
                          <a:solidFill>
                            <a:srgbClr val="FFFFFF"/>
                          </a:solidFill>
                          <a:latin typeface="Calibri"/>
                          <a:ea typeface="Calibri"/>
                          <a:cs typeface="Calibri"/>
                        </a:rPr>
                        <a:t>ΔF1</a:t>
                      </a:r>
                    </a:p>
                  </a:txBody>
                  <a:tcPr>
                    <a:solidFill>
                      <a:srgbClr val="1E2761"/>
                    </a:solidFill>
                  </a:tcPr>
                </a:tc>
                <a:extLst>
                  <a:ext uri="{0D108BD9-81ED-4DB2-BD59-A6C34878D82A}">
                    <a16:rowId xmlns:a16="http://schemas.microsoft.com/office/drawing/2014/main" val="1223350265"/>
                  </a:ext>
                </a:extLst>
              </a:tr>
              <a:tr h="355600">
                <a:tc>
                  <a:txBody>
                    <a:bodyPr/>
                    <a:lstStyle/>
                    <a:p>
                      <a:pPr algn="l"/>
                      <a:r>
                        <a:rPr lang="ru-RU" sz="1400">
                          <a:solidFill>
                            <a:srgbClr val="1E2761"/>
                          </a:solidFill>
                          <a:latin typeface="Calibri"/>
                          <a:ea typeface="Calibri"/>
                          <a:cs typeface="Calibri"/>
                        </a:rPr>
                        <a:t>0</a:t>
                      </a:r>
                    </a:p>
                  </a:txBody>
                  <a:tcPr>
                    <a:solidFill>
                      <a:srgbClr val="F0F4FA"/>
                    </a:solidFill>
                  </a:tcPr>
                </a:tc>
                <a:tc>
                  <a:txBody>
                    <a:bodyPr/>
                    <a:lstStyle/>
                    <a:p>
                      <a:pPr algn="l"/>
                      <a:r>
                        <a:rPr lang="ru-RU" sz="1400">
                          <a:solidFill>
                            <a:srgbClr val="1E2761"/>
                          </a:solidFill>
                          <a:latin typeface="Calibri"/>
                          <a:ea typeface="Calibri"/>
                          <a:cs typeface="Calibri"/>
                        </a:rPr>
                        <a:t>Baseline (crop+resize+norm)</a:t>
                      </a:r>
                    </a:p>
                  </a:txBody>
                  <a:tcPr>
                    <a:solidFill>
                      <a:srgbClr val="F0F4FA"/>
                    </a:solidFill>
                  </a:tcPr>
                </a:tc>
                <a:tc>
                  <a:txBody>
                    <a:bodyPr/>
                    <a:lstStyle/>
                    <a:p>
                      <a:pPr algn="ctr"/>
                      <a:r>
                        <a:rPr lang="ru-RU" sz="1400">
                          <a:solidFill>
                            <a:srgbClr val="1E2761"/>
                          </a:solidFill>
                          <a:latin typeface="Calibri"/>
                          <a:ea typeface="Calibri"/>
                          <a:cs typeface="Calibri"/>
                        </a:rPr>
                        <a:t>0.727</a:t>
                      </a:r>
                    </a:p>
                  </a:txBody>
                  <a:tcPr>
                    <a:solidFill>
                      <a:srgbClr val="F0F4FA"/>
                    </a:solidFill>
                  </a:tcPr>
                </a:tc>
                <a:tc>
                  <a:txBody>
                    <a:bodyPr/>
                    <a:lstStyle/>
                    <a:p>
                      <a:pPr algn="ctr"/>
                      <a:r>
                        <a:rPr lang="ru-RU" sz="1400">
                          <a:solidFill>
                            <a:srgbClr val="1E2761"/>
                          </a:solidFill>
                          <a:latin typeface="Calibri"/>
                          <a:ea typeface="Calibri"/>
                          <a:cs typeface="Calibri"/>
                        </a:rPr>
                        <a:t>—</a:t>
                      </a:r>
                    </a:p>
                  </a:txBody>
                  <a:tcPr>
                    <a:solidFill>
                      <a:srgbClr val="F0F4FA"/>
                    </a:solidFill>
                  </a:tcPr>
                </a:tc>
                <a:extLst>
                  <a:ext uri="{0D108BD9-81ED-4DB2-BD59-A6C34878D82A}">
                    <a16:rowId xmlns:a16="http://schemas.microsoft.com/office/drawing/2014/main" val="3080260281"/>
                  </a:ext>
                </a:extLst>
              </a:tr>
              <a:tr h="355600">
                <a:tc>
                  <a:txBody>
                    <a:bodyPr/>
                    <a:lstStyle/>
                    <a:p>
                      <a:pPr algn="l"/>
                      <a:r>
                        <a:rPr lang="ru-RU" sz="1400">
                          <a:solidFill>
                            <a:srgbClr val="1E2761"/>
                          </a:solidFill>
                          <a:latin typeface="Calibri"/>
                          <a:ea typeface="Calibri"/>
                          <a:cs typeface="Calibri"/>
                        </a:rPr>
                        <a:t>1</a:t>
                      </a:r>
                    </a:p>
                  </a:txBody>
                  <a:tcPr>
                    <a:solidFill>
                      <a:srgbClr val="FFFFFF"/>
                    </a:solidFill>
                  </a:tcPr>
                </a:tc>
                <a:tc>
                  <a:txBody>
                    <a:bodyPr/>
                    <a:lstStyle/>
                    <a:p>
                      <a:pPr algn="l"/>
                      <a:r>
                        <a:rPr lang="ru-RU" sz="1400">
                          <a:solidFill>
                            <a:srgbClr val="1E2761"/>
                          </a:solidFill>
                          <a:latin typeface="Calibri"/>
                          <a:ea typeface="Calibri"/>
                          <a:cs typeface="Calibri"/>
                        </a:rPr>
                        <a:t>+ Canonical flip (0a)</a:t>
                      </a:r>
                    </a:p>
                  </a:txBody>
                  <a:tcPr>
                    <a:solidFill>
                      <a:srgbClr val="FFFFFF"/>
                    </a:solidFill>
                  </a:tcPr>
                </a:tc>
                <a:tc>
                  <a:txBody>
                    <a:bodyPr/>
                    <a:lstStyle/>
                    <a:p>
                      <a:pPr algn="ctr"/>
                      <a:r>
                        <a:rPr lang="ru-RU" sz="1400">
                          <a:solidFill>
                            <a:srgbClr val="1E2761"/>
                          </a:solidFill>
                          <a:latin typeface="Calibri"/>
                          <a:ea typeface="Calibri"/>
                          <a:cs typeface="Calibri"/>
                        </a:rPr>
                        <a:t>0.738</a:t>
                      </a:r>
                    </a:p>
                  </a:txBody>
                  <a:tcPr>
                    <a:solidFill>
                      <a:srgbClr val="FFFFFF"/>
                    </a:solidFill>
                  </a:tcPr>
                </a:tc>
                <a:tc>
                  <a:txBody>
                    <a:bodyPr/>
                    <a:lstStyle/>
                    <a:p>
                      <a:pPr algn="ctr"/>
                      <a:r>
                        <a:rPr lang="ru-RU" sz="1400">
                          <a:solidFill>
                            <a:srgbClr val="1E2761"/>
                          </a:solidFill>
                          <a:latin typeface="Calibri"/>
                          <a:ea typeface="Calibri"/>
                          <a:cs typeface="Calibri"/>
                        </a:rPr>
                        <a:t>+1.1</a:t>
                      </a:r>
                    </a:p>
                  </a:txBody>
                  <a:tcPr>
                    <a:solidFill>
                      <a:srgbClr val="FFFFFF"/>
                    </a:solidFill>
                  </a:tcPr>
                </a:tc>
                <a:extLst>
                  <a:ext uri="{0D108BD9-81ED-4DB2-BD59-A6C34878D82A}">
                    <a16:rowId xmlns:a16="http://schemas.microsoft.com/office/drawing/2014/main" val="1678664577"/>
                  </a:ext>
                </a:extLst>
              </a:tr>
              <a:tr h="355600">
                <a:tc>
                  <a:txBody>
                    <a:bodyPr/>
                    <a:lstStyle/>
                    <a:p>
                      <a:pPr algn="l"/>
                      <a:r>
                        <a:rPr lang="ru-RU" sz="1400">
                          <a:solidFill>
                            <a:srgbClr val="1E2761"/>
                          </a:solidFill>
                          <a:latin typeface="Calibri"/>
                          <a:ea typeface="Calibri"/>
                          <a:cs typeface="Calibri"/>
                        </a:rPr>
                        <a:t>2</a:t>
                      </a:r>
                    </a:p>
                  </a:txBody>
                  <a:tcPr>
                    <a:solidFill>
                      <a:srgbClr val="F0F4FA"/>
                    </a:solidFill>
                  </a:tcPr>
                </a:tc>
                <a:tc>
                  <a:txBody>
                    <a:bodyPr/>
                    <a:lstStyle/>
                    <a:p>
                      <a:pPr algn="l"/>
                      <a:r>
                        <a:rPr lang="ru-RU" sz="1400">
                          <a:solidFill>
                            <a:srgbClr val="1E2761"/>
                          </a:solidFill>
                          <a:latin typeface="Calibri"/>
                          <a:ea typeface="Calibri"/>
                          <a:cs typeface="Calibri"/>
                        </a:rPr>
                        <a:t>+ OD-fovea rotation (0b)</a:t>
                      </a:r>
                    </a:p>
                  </a:txBody>
                  <a:tcPr>
                    <a:solidFill>
                      <a:srgbClr val="F0F4FA"/>
                    </a:solidFill>
                  </a:tcPr>
                </a:tc>
                <a:tc>
                  <a:txBody>
                    <a:bodyPr/>
                    <a:lstStyle/>
                    <a:p>
                      <a:pPr algn="ctr"/>
                      <a:r>
                        <a:rPr lang="ru-RU" sz="1400">
                          <a:solidFill>
                            <a:srgbClr val="1E2761"/>
                          </a:solidFill>
                          <a:latin typeface="Calibri"/>
                          <a:ea typeface="Calibri"/>
                          <a:cs typeface="Calibri"/>
                        </a:rPr>
                        <a:t>0.748</a:t>
                      </a:r>
                    </a:p>
                  </a:txBody>
                  <a:tcPr>
                    <a:solidFill>
                      <a:srgbClr val="F0F4FA"/>
                    </a:solidFill>
                  </a:tcPr>
                </a:tc>
                <a:tc>
                  <a:txBody>
                    <a:bodyPr/>
                    <a:lstStyle/>
                    <a:p>
                      <a:pPr algn="ctr"/>
                      <a:r>
                        <a:rPr lang="ru-RU" sz="1400">
                          <a:solidFill>
                            <a:srgbClr val="1E2761"/>
                          </a:solidFill>
                          <a:latin typeface="Calibri"/>
                          <a:ea typeface="Calibri"/>
                          <a:cs typeface="Calibri"/>
                        </a:rPr>
                        <a:t>+1.0</a:t>
                      </a:r>
                    </a:p>
                  </a:txBody>
                  <a:tcPr>
                    <a:solidFill>
                      <a:srgbClr val="F0F4FA"/>
                    </a:solidFill>
                  </a:tcPr>
                </a:tc>
                <a:extLst>
                  <a:ext uri="{0D108BD9-81ED-4DB2-BD59-A6C34878D82A}">
                    <a16:rowId xmlns:a16="http://schemas.microsoft.com/office/drawing/2014/main" val="996708944"/>
                  </a:ext>
                </a:extLst>
              </a:tr>
              <a:tr h="355600">
                <a:tc>
                  <a:txBody>
                    <a:bodyPr/>
                    <a:lstStyle/>
                    <a:p>
                      <a:pPr algn="l"/>
                      <a:r>
                        <a:rPr lang="ru-RU" sz="1400">
                          <a:solidFill>
                            <a:srgbClr val="1E2761"/>
                          </a:solidFill>
                          <a:latin typeface="Calibri"/>
                          <a:ea typeface="Calibri"/>
                          <a:cs typeface="Calibri"/>
                        </a:rPr>
                        <a:t>3</a:t>
                      </a:r>
                    </a:p>
                  </a:txBody>
                  <a:tcPr>
                    <a:solidFill>
                      <a:srgbClr val="FFFFFF"/>
                    </a:solidFill>
                  </a:tcPr>
                </a:tc>
                <a:tc>
                  <a:txBody>
                    <a:bodyPr/>
                    <a:lstStyle/>
                    <a:p>
                      <a:pPr algn="l"/>
                      <a:r>
                        <a:rPr lang="ru-RU" sz="1400">
                          <a:solidFill>
                            <a:srgbClr val="1E2761"/>
                          </a:solidFill>
                          <a:latin typeface="Calibri"/>
                          <a:ea typeface="Calibri"/>
                          <a:cs typeface="Calibri"/>
                        </a:rPr>
                        <a:t>+ Flat-field correction (2)</a:t>
                      </a:r>
                    </a:p>
                  </a:txBody>
                  <a:tcPr>
                    <a:solidFill>
                      <a:srgbClr val="FFFFFF"/>
                    </a:solidFill>
                  </a:tcPr>
                </a:tc>
                <a:tc>
                  <a:txBody>
                    <a:bodyPr/>
                    <a:lstStyle/>
                    <a:p>
                      <a:pPr algn="ctr"/>
                      <a:r>
                        <a:rPr lang="ru-RU" sz="1400">
                          <a:solidFill>
                            <a:srgbClr val="1E2761"/>
                          </a:solidFill>
                          <a:latin typeface="Calibri"/>
                          <a:ea typeface="Calibri"/>
                          <a:cs typeface="Calibri"/>
                        </a:rPr>
                        <a:t>0.758</a:t>
                      </a:r>
                    </a:p>
                  </a:txBody>
                  <a:tcPr>
                    <a:solidFill>
                      <a:srgbClr val="FFFFFF"/>
                    </a:solidFill>
                  </a:tcPr>
                </a:tc>
                <a:tc>
                  <a:txBody>
                    <a:bodyPr/>
                    <a:lstStyle/>
                    <a:p>
                      <a:pPr algn="ctr"/>
                      <a:r>
                        <a:rPr lang="ru-RU" sz="1400">
                          <a:solidFill>
                            <a:srgbClr val="1E2761"/>
                          </a:solidFill>
                          <a:latin typeface="Calibri"/>
                          <a:ea typeface="Calibri"/>
                          <a:cs typeface="Calibri"/>
                        </a:rPr>
                        <a:t>+1.0</a:t>
                      </a:r>
                    </a:p>
                  </a:txBody>
                  <a:tcPr>
                    <a:solidFill>
                      <a:srgbClr val="FFFFFF"/>
                    </a:solidFill>
                  </a:tcPr>
                </a:tc>
                <a:extLst>
                  <a:ext uri="{0D108BD9-81ED-4DB2-BD59-A6C34878D82A}">
                    <a16:rowId xmlns:a16="http://schemas.microsoft.com/office/drawing/2014/main" val="1326999172"/>
                  </a:ext>
                </a:extLst>
              </a:tr>
              <a:tr h="355600">
                <a:tc>
                  <a:txBody>
                    <a:bodyPr/>
                    <a:lstStyle/>
                    <a:p>
                      <a:pPr algn="l"/>
                      <a:r>
                        <a:rPr lang="ru-RU" sz="1400">
                          <a:solidFill>
                            <a:srgbClr val="1E2761"/>
                          </a:solidFill>
                          <a:latin typeface="Calibri"/>
                          <a:ea typeface="Calibri"/>
                          <a:cs typeface="Calibri"/>
                        </a:rPr>
                        <a:t>4</a:t>
                      </a:r>
                    </a:p>
                  </a:txBody>
                  <a:tcPr>
                    <a:solidFill>
                      <a:srgbClr val="F0F4FA"/>
                    </a:solidFill>
                  </a:tcPr>
                </a:tc>
                <a:tc>
                  <a:txBody>
                    <a:bodyPr/>
                    <a:lstStyle/>
                    <a:p>
                      <a:pPr algn="l"/>
                      <a:r>
                        <a:rPr lang="ru-RU" sz="1400">
                          <a:solidFill>
                            <a:srgbClr val="1E2761"/>
                          </a:solidFill>
                          <a:latin typeface="Calibri"/>
                          <a:ea typeface="Calibri"/>
                          <a:cs typeface="Calibri"/>
                        </a:rPr>
                        <a:t>+ CLAHE enhancement (3)</a:t>
                      </a:r>
                    </a:p>
                  </a:txBody>
                  <a:tcPr>
                    <a:solidFill>
                      <a:srgbClr val="F0F4FA"/>
                    </a:solidFill>
                  </a:tcPr>
                </a:tc>
                <a:tc>
                  <a:txBody>
                    <a:bodyPr/>
                    <a:lstStyle/>
                    <a:p>
                      <a:pPr algn="ctr"/>
                      <a:r>
                        <a:rPr lang="ru-RU" sz="1400">
                          <a:solidFill>
                            <a:srgbClr val="1E2761"/>
                          </a:solidFill>
                          <a:latin typeface="Calibri"/>
                          <a:ea typeface="Calibri"/>
                          <a:cs typeface="Calibri"/>
                        </a:rPr>
                        <a:t>0.772</a:t>
                      </a:r>
                    </a:p>
                  </a:txBody>
                  <a:tcPr>
                    <a:solidFill>
                      <a:srgbClr val="F0F4FA"/>
                    </a:solidFill>
                  </a:tcPr>
                </a:tc>
                <a:tc>
                  <a:txBody>
                    <a:bodyPr/>
                    <a:lstStyle/>
                    <a:p>
                      <a:pPr algn="ctr"/>
                      <a:r>
                        <a:rPr lang="ru-RU" sz="1400">
                          <a:solidFill>
                            <a:srgbClr val="1E2761"/>
                          </a:solidFill>
                          <a:latin typeface="Calibri"/>
                          <a:ea typeface="Calibri"/>
                          <a:cs typeface="Calibri"/>
                        </a:rPr>
                        <a:t>+1.4</a:t>
                      </a:r>
                    </a:p>
                  </a:txBody>
                  <a:tcPr>
                    <a:solidFill>
                      <a:srgbClr val="F0F4FA"/>
                    </a:solidFill>
                  </a:tcPr>
                </a:tc>
                <a:extLst>
                  <a:ext uri="{0D108BD9-81ED-4DB2-BD59-A6C34878D82A}">
                    <a16:rowId xmlns:a16="http://schemas.microsoft.com/office/drawing/2014/main" val="3131812575"/>
                  </a:ext>
                </a:extLst>
              </a:tr>
              <a:tr h="355600">
                <a:tc>
                  <a:txBody>
                    <a:bodyPr/>
                    <a:lstStyle/>
                    <a:p>
                      <a:pPr algn="l"/>
                      <a:r>
                        <a:rPr lang="ru-RU" sz="1400">
                          <a:solidFill>
                            <a:srgbClr val="1E2761"/>
                          </a:solidFill>
                          <a:latin typeface="Calibri"/>
                          <a:ea typeface="Calibri"/>
                          <a:cs typeface="Calibri"/>
                        </a:rPr>
                        <a:t>5</a:t>
                      </a:r>
                    </a:p>
                  </a:txBody>
                  <a:tcPr>
                    <a:solidFill>
                      <a:srgbClr val="FFFFFF"/>
                    </a:solidFill>
                  </a:tcPr>
                </a:tc>
                <a:tc>
                  <a:txBody>
                    <a:bodyPr/>
                    <a:lstStyle/>
                    <a:p>
                      <a:pPr algn="l"/>
                      <a:r>
                        <a:rPr lang="ru-RU" sz="1400">
                          <a:solidFill>
                            <a:srgbClr val="1E2761"/>
                          </a:solidFill>
                          <a:latin typeface="Calibri"/>
                          <a:ea typeface="Calibri"/>
                          <a:cs typeface="Calibri"/>
                        </a:rPr>
                        <a:t>+ Augmentation (5)</a:t>
                      </a:r>
                    </a:p>
                  </a:txBody>
                  <a:tcPr>
                    <a:solidFill>
                      <a:srgbClr val="FFFFFF"/>
                    </a:solidFill>
                  </a:tcPr>
                </a:tc>
                <a:tc>
                  <a:txBody>
                    <a:bodyPr/>
                    <a:lstStyle/>
                    <a:p>
                      <a:pPr algn="ctr"/>
                      <a:r>
                        <a:rPr lang="ru-RU" sz="1400">
                          <a:solidFill>
                            <a:srgbClr val="1E2761"/>
                          </a:solidFill>
                          <a:latin typeface="Calibri"/>
                          <a:ea typeface="Calibri"/>
                          <a:cs typeface="Calibri"/>
                        </a:rPr>
                        <a:t>0.778</a:t>
                      </a:r>
                    </a:p>
                  </a:txBody>
                  <a:tcPr>
                    <a:solidFill>
                      <a:srgbClr val="FFFFFF"/>
                    </a:solidFill>
                  </a:tcPr>
                </a:tc>
                <a:tc>
                  <a:txBody>
                    <a:bodyPr/>
                    <a:lstStyle/>
                    <a:p>
                      <a:pPr algn="ctr"/>
                      <a:r>
                        <a:rPr lang="ru-RU" sz="1400">
                          <a:solidFill>
                            <a:srgbClr val="1E2761"/>
                          </a:solidFill>
                          <a:latin typeface="Calibri"/>
                          <a:ea typeface="Calibri"/>
                          <a:cs typeface="Calibri"/>
                        </a:rPr>
                        <a:t>+0.6</a:t>
                      </a:r>
                    </a:p>
                  </a:txBody>
                  <a:tcPr>
                    <a:solidFill>
                      <a:srgbClr val="FFFFFF"/>
                    </a:solidFill>
                  </a:tcPr>
                </a:tc>
                <a:extLst>
                  <a:ext uri="{0D108BD9-81ED-4DB2-BD59-A6C34878D82A}">
                    <a16:rowId xmlns:a16="http://schemas.microsoft.com/office/drawing/2014/main" val="1988834553"/>
                  </a:ext>
                </a:extLst>
              </a:tr>
              <a:tr h="355600">
                <a:tc>
                  <a:txBody>
                    <a:bodyPr/>
                    <a:lstStyle/>
                    <a:p>
                      <a:pPr algn="l"/>
                      <a:r>
                        <a:rPr lang="ru-RU" sz="1400">
                          <a:solidFill>
                            <a:srgbClr val="1E2761"/>
                          </a:solidFill>
                          <a:latin typeface="Calibri"/>
                          <a:ea typeface="Calibri"/>
                          <a:cs typeface="Calibri"/>
                        </a:rPr>
                        <a:t>6</a:t>
                      </a:r>
                    </a:p>
                  </a:txBody>
                  <a:tcPr>
                    <a:solidFill>
                      <a:srgbClr val="F0F4FA"/>
                    </a:solidFill>
                  </a:tcPr>
                </a:tc>
                <a:tc>
                  <a:txBody>
                    <a:bodyPr/>
                    <a:lstStyle/>
                    <a:p>
                      <a:pPr algn="l"/>
                      <a:r>
                        <a:rPr lang="ru-RU" sz="1400">
                          <a:solidFill>
                            <a:srgbClr val="1E2761"/>
                          </a:solidFill>
                          <a:latin typeface="Calibri"/>
                          <a:ea typeface="Calibri"/>
                          <a:cs typeface="Calibri"/>
                        </a:rPr>
                        <a:t>Full V4 pipeline</a:t>
                      </a:r>
                    </a:p>
                  </a:txBody>
                  <a:tcPr>
                    <a:solidFill>
                      <a:srgbClr val="F0F4FA"/>
                    </a:solidFill>
                  </a:tcPr>
                </a:tc>
                <a:tc>
                  <a:txBody>
                    <a:bodyPr/>
                    <a:lstStyle/>
                    <a:p>
                      <a:pPr algn="ctr"/>
                      <a:r>
                        <a:rPr lang="ru-RU" sz="1400">
                          <a:solidFill>
                            <a:srgbClr val="1E2761"/>
                          </a:solidFill>
                          <a:latin typeface="Calibri"/>
                          <a:ea typeface="Calibri"/>
                          <a:cs typeface="Calibri"/>
                        </a:rPr>
                        <a:t>0.780</a:t>
                      </a:r>
                    </a:p>
                  </a:txBody>
                  <a:tcPr>
                    <a:solidFill>
                      <a:srgbClr val="F0F4FA"/>
                    </a:solidFill>
                  </a:tcPr>
                </a:tc>
                <a:tc>
                  <a:txBody>
                    <a:bodyPr/>
                    <a:lstStyle/>
                    <a:p>
                      <a:pPr algn="ctr"/>
                      <a:r>
                        <a:rPr lang="ru-RU" sz="1400">
                          <a:solidFill>
                            <a:srgbClr val="1E2761"/>
                          </a:solidFill>
                          <a:latin typeface="Calibri"/>
                          <a:ea typeface="Calibri"/>
                          <a:cs typeface="Calibri"/>
                        </a:rPr>
                        <a:t>+0.2</a:t>
                      </a:r>
                    </a:p>
                  </a:txBody>
                  <a:tcPr>
                    <a:solidFill>
                      <a:srgbClr val="F0F4FA"/>
                    </a:solidFill>
                  </a:tcPr>
                </a:tc>
                <a:extLst>
                  <a:ext uri="{0D108BD9-81ED-4DB2-BD59-A6C34878D82A}">
                    <a16:rowId xmlns:a16="http://schemas.microsoft.com/office/drawing/2014/main" val="1036476891"/>
                  </a:ext>
                </a:extLst>
              </a:tr>
            </a:tbl>
          </a:graphicData>
        </a:graphic>
      </p:graphicFrame>
      <p:sp>
        <p:nvSpPr>
          <p:cNvPr id="5" name="TextBox 4">
            <a:extLst>
              <a:ext uri="{FF2B5EF4-FFF2-40B4-BE49-F238E27FC236}">
                <a16:creationId xmlns:a16="http://schemas.microsoft.com/office/drawing/2014/main" id="{FF74B9CE-A498-4463-ACA9-5CC76C8C490B}"/>
              </a:ext>
            </a:extLst>
          </p:cNvPr>
          <p:cNvSpPr txBox="1"/>
          <p:nvPr/>
        </p:nvSpPr>
        <p:spPr>
          <a:xfrm>
            <a:off x="6731000" y="1524000"/>
            <a:ext cx="5207000" cy="330200"/>
          </a:xfrm>
          <a:prstGeom prst="rect">
            <a:avLst/>
          </a:prstGeom>
          <a:noFill/>
          <a:ln>
            <a:noFill/>
          </a:ln>
        </p:spPr>
        <p:txBody>
          <a:bodyPr vertOverflow="overflow" vert="horz" wrap="square" rtlCol="0" anchor="t">
            <a:spAutoFit/>
          </a:bodyPr>
          <a:lstStyle/>
          <a:p>
            <a:pPr algn="l"/>
            <a:r>
              <a:rPr lang="en-US" sz="1600" b="1">
                <a:solidFill>
                  <a:srgbClr val="1E2761"/>
                </a:solidFill>
                <a:latin typeface="Cambria"/>
                <a:ea typeface="Cambria"/>
              </a:rPr>
              <a:t>CLAHE Parameter Sweep (H-2)</a:t>
            </a:r>
            <a:endParaRPr lang="ru-RU" sz="1600" b="1">
              <a:solidFill>
                <a:srgbClr val="1E2761"/>
              </a:solidFill>
              <a:latin typeface="Cambria"/>
              <a:ea typeface="Cambria"/>
            </a:endParaRPr>
          </a:p>
        </p:txBody>
      </p:sp>
      <p:sp>
        <p:nvSpPr>
          <p:cNvPr id="6" name="TextBox 5">
            <a:extLst>
              <a:ext uri="{FF2B5EF4-FFF2-40B4-BE49-F238E27FC236}">
                <a16:creationId xmlns:a16="http://schemas.microsoft.com/office/drawing/2014/main" id="{5E4DE571-E083-4F38-906A-C419FBFCA1E5}"/>
              </a:ext>
            </a:extLst>
          </p:cNvPr>
          <p:cNvSpPr txBox="1"/>
          <p:nvPr/>
        </p:nvSpPr>
        <p:spPr>
          <a:xfrm>
            <a:off x="6731000" y="1905000"/>
            <a:ext cx="5207000" cy="2159000"/>
          </a:xfrm>
          <a:prstGeom prst="rect">
            <a:avLst/>
          </a:prstGeom>
          <a:noFill/>
          <a:ln>
            <a:noFill/>
          </a:ln>
        </p:spPr>
        <p:txBody>
          <a:bodyPr vertOverflow="overflow" vert="horz" wrap="square" rtlCol="0" anchor="t">
            <a:spAutoFit/>
          </a:bodyPr>
          <a:lstStyle/>
          <a:p>
            <a:pPr marL="228600" indent="-228600">
              <a:buFont typeface="Arial"/>
              <a:buChar char="●"/>
            </a:pPr>
            <a:r>
              <a:rPr lang="en-US" sz="1400" dirty="0">
                <a:solidFill>
                  <a:srgbClr val="1E2761"/>
                </a:solidFill>
                <a:latin typeface="Calibri"/>
              </a:rPr>
              <a:t>Dataset: IDRiD; dual-constraint clip limit swept over (clip_factor, global_threshold) grid</a:t>
            </a:r>
          </a:p>
          <a:p>
            <a:pPr marL="228600" indent="-228600">
              <a:buFont typeface="Arial"/>
              <a:buChar char="●"/>
            </a:pPr>
            <a:r>
              <a:rPr lang="en-US" sz="1400" dirty="0">
                <a:solidFill>
                  <a:srgbClr val="1E2761"/>
                </a:solidFill>
                <a:latin typeface="Calibri"/>
              </a:rPr>
              <a:t>Target: per-class F1 for DR 1 and DR 2</a:t>
            </a:r>
          </a:p>
          <a:p>
            <a:pPr algn="l">
              <a:buNone/>
            </a:pPr>
            <a:r>
              <a:rPr lang="en-US" sz="1400" b="1" dirty="0">
                <a:solidFill>
                  <a:srgbClr val="1E2761"/>
                </a:solidFill>
                <a:latin typeface="Cambria"/>
              </a:rPr>
              <a:t>Optimal Parameters Found:</a:t>
            </a:r>
          </a:p>
          <a:p>
            <a:pPr marL="228600" indent="-228600">
              <a:buFont typeface="Arial"/>
              <a:buChar char="●"/>
            </a:pPr>
            <a:r>
              <a:rPr lang="en-US" sz="1400" dirty="0">
                <a:solidFill>
                  <a:srgbClr val="1E2761"/>
                </a:solidFill>
                <a:latin typeface="Calibri"/>
              </a:rPr>
              <a:t>DR 1: clip_factor=2.5, threshold=0.03, F1=0.47</a:t>
            </a:r>
          </a:p>
          <a:p>
            <a:pPr marL="228600" indent="-228600">
              <a:buFont typeface="Arial"/>
              <a:buChar char="●"/>
            </a:pPr>
            <a:r>
              <a:rPr lang="en-US" sz="1400" dirty="0">
                <a:solidFill>
                  <a:srgbClr val="1E2761"/>
                </a:solidFill>
                <a:latin typeface="Calibri"/>
              </a:rPr>
              <a:t>DR 2: clip_factor=2.0, threshold=0.03, F1=0.62</a:t>
            </a:r>
          </a:p>
          <a:p>
            <a:pPr marL="228600" indent="-228600">
              <a:buFont typeface="Arial"/>
              <a:buChar char="●"/>
            </a:pPr>
            <a:r>
              <a:rPr lang="en-US" sz="1400" dirty="0">
                <a:solidFill>
                  <a:srgbClr val="1E2761"/>
                </a:solidFill>
                <a:latin typeface="Calibri"/>
              </a:rPr>
              <a:t>Over-enhancement (clip_factor &gt; 3.0) degrades both grades</a:t>
            </a:r>
          </a:p>
        </p:txBody>
      </p:sp>
      <p:sp>
        <p:nvSpPr>
          <p:cNvPr id="7" name="Прямоугольник: скругленные углы 6">
            <a:extLst>
              <a:ext uri="{FF2B5EF4-FFF2-40B4-BE49-F238E27FC236}">
                <a16:creationId xmlns:a16="http://schemas.microsoft.com/office/drawing/2014/main" id="{0CEE7B16-8C36-4436-9C94-C807BC493114}"/>
              </a:ext>
            </a:extLst>
          </p:cNvPr>
          <p:cNvSpPr/>
          <p:nvPr/>
        </p:nvSpPr>
        <p:spPr>
          <a:xfrm>
            <a:off x="6731000" y="4318000"/>
            <a:ext cx="5207000" cy="482600"/>
          </a:xfrm>
          <a:prstGeom prst="roundRect">
            <a:avLst/>
          </a:prstGeom>
          <a:solidFill>
            <a:srgbClr val="F0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b="1">
                <a:solidFill>
                  <a:srgbClr val="1E2761"/>
                </a:solidFill>
                <a:latin typeface="Calibri"/>
                <a:ea typeface="Calibri"/>
                <a:cs typeface="Calibri"/>
              </a:rPr>
              <a:t>H-2 criterion: non-trivial sensitivity curve with identifiable local optimum</a:t>
            </a:r>
            <a:endParaRPr lang="ru-RU" sz="1400" b="1">
              <a:solidFill>
                <a:srgbClr val="1E2761"/>
              </a:solidFill>
              <a:latin typeface="Calibri"/>
              <a:ea typeface="Calibri"/>
              <a:cs typeface="Calibri"/>
            </a:endParaRPr>
          </a:p>
        </p:txBody>
      </p:sp>
      <p:pic>
        <p:nvPicPr>
          <p:cNvPr id="9" name="Graphic 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66500" y="381000"/>
            <a:ext cx="609600" cy="609600"/>
          </a:xfrm>
          <a:prstGeom prst="rect">
            <a:avLst/>
          </a:prstGeom>
        </p:spPr>
      </p:pic>
      <p:sp>
        <p:nvSpPr>
          <p:cNvPr id="3" name="Прямоугольник: скругленные углы 2">
            <a:extLst>
              <a:ext uri="{FF2B5EF4-FFF2-40B4-BE49-F238E27FC236}">
                <a16:creationId xmlns:a16="http://schemas.microsoft.com/office/drawing/2014/main" id="{07578A26-BC17-4947-B96C-2B2ED46E1874}"/>
              </a:ext>
            </a:extLst>
          </p:cNvPr>
          <p:cNvSpPr/>
          <p:nvPr/>
        </p:nvSpPr>
        <p:spPr>
          <a:xfrm>
            <a:off x="508000" y="5334000"/>
            <a:ext cx="11176000" cy="1041400"/>
          </a:xfrm>
          <a:prstGeom prst="roundRect">
            <a:avLst/>
          </a:prstGeom>
          <a:solidFill>
            <a:srgbClr val="F0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a:solidFill>
                  <a:srgbClr val="1E2761"/>
                </a:solidFill>
                <a:latin typeface="Calibri"/>
                <a:ea typeface="Calibri"/>
                <a:cs typeface="Calibri"/>
              </a:rPr>
              <a:t>Image Quality Metrics Measured at Each Level
CNR — vessel-to-background contrast    |    VVI — retinal vessel clarity    |    Entropy — information content    |    SSIM — structural similarity</a:t>
            </a:r>
            <a:endParaRPr lang="ru-RU" sz="1400">
              <a:solidFill>
                <a:srgbClr val="1E2761"/>
              </a:solidFill>
              <a:latin typeface="Calibri"/>
              <a:ea typeface="Calibri"/>
              <a:cs typeface="Calibri"/>
            </a:endParaRPr>
          </a:p>
        </p:txBody>
      </p:sp>
    </p:spTree>
    <p:extLst>
      <p:ext uri="{BB962C8B-B14F-4D97-AF65-F5344CB8AC3E}">
        <p14:creationId xmlns:p14="http://schemas.microsoft.com/office/powerpoint/2010/main" val="1028325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EEB6AF9-1CF7-E51C-A7EA-1DB8E9A8F84E}"/>
              </a:ext>
            </a:extLst>
          </p:cNvPr>
          <p:cNvSpPr>
            <a:spLocks noGrp="1"/>
          </p:cNvSpPr>
          <p:nvPr>
            <p:ph type="title"/>
          </p:nvPr>
        </p:nvSpPr>
        <p:spPr/>
        <p:txBody>
          <a:bodyPr/>
          <a:lstStyle/>
          <a:p>
            <a:pPr algn="l">
              <a:buNone/>
            </a:pPr>
            <a:r>
              <a:rPr lang="kk-KZ" sz="3200" b="1" dirty="0">
                <a:solidFill>
                  <a:srgbClr val="1E2761"/>
                </a:solidFill>
                <a:latin typeface="Cambria"/>
              </a:rPr>
              <a:t>4-эксперимент: Grad-CAM түсіндірме</a:t>
            </a:r>
          </a:p>
        </p:txBody>
      </p:sp>
      <p:sp>
        <p:nvSpPr>
          <p:cNvPr id="3" name="Прямоугольник: скругленные углы 2">
            <a:extLst>
              <a:ext uri="{FF2B5EF4-FFF2-40B4-BE49-F238E27FC236}">
                <a16:creationId xmlns:a16="http://schemas.microsoft.com/office/drawing/2014/main" id="{13EAD7AE-AB8E-4FA6-99A9-1536AF70437E}"/>
              </a:ext>
            </a:extLst>
          </p:cNvPr>
          <p:cNvSpPr/>
          <p:nvPr/>
        </p:nvSpPr>
        <p:spPr>
          <a:xfrm>
            <a:off x="762000" y="1498600"/>
            <a:ext cx="6858000" cy="698500"/>
          </a:xfrm>
          <a:prstGeom prst="roundRect">
            <a:avLst/>
          </a:prstGeom>
          <a:solidFill>
            <a:srgbClr val="1E276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2200" b="1">
                <a:solidFill>
                  <a:srgbClr val="FFFFFF"/>
                </a:solidFill>
                <a:latin typeface="Cambria"/>
                <a:ea typeface="Cambria"/>
              </a:rPr>
              <a:t>ALO = area(GradCAM ∩ lesion) / area(lesion)</a:t>
            </a:r>
            <a:endParaRPr lang="ru-RU" sz="2200" b="1">
              <a:solidFill>
                <a:srgbClr val="FFFFFF"/>
              </a:solidFill>
              <a:latin typeface="Cambria"/>
              <a:ea typeface="Cambria"/>
            </a:endParaRPr>
          </a:p>
        </p:txBody>
      </p:sp>
      <p:sp>
        <p:nvSpPr>
          <p:cNvPr id="4" name="Прямоугольник: скругленные углы 3">
            <a:extLst>
              <a:ext uri="{FF2B5EF4-FFF2-40B4-BE49-F238E27FC236}">
                <a16:creationId xmlns:a16="http://schemas.microsoft.com/office/drawing/2014/main" id="{5DEEB69B-BD5E-414F-8061-1E642D978D20}"/>
              </a:ext>
            </a:extLst>
          </p:cNvPr>
          <p:cNvSpPr/>
          <p:nvPr/>
        </p:nvSpPr>
        <p:spPr>
          <a:xfrm>
            <a:off x="7874000" y="1498600"/>
            <a:ext cx="3937000" cy="698500"/>
          </a:xfrm>
          <a:prstGeom prst="roundRect">
            <a:avLst/>
          </a:prstGeom>
          <a:solidFill>
            <a:srgbClr val="F0F4FA"/>
          </a:solidFill>
          <a:ln w="19050" cap="flat" cmpd="sng" algn="ctr">
            <a:solidFill>
              <a:srgbClr val="3A7BD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a:solidFill>
                  <a:srgbClr val="1E2761"/>
                </a:solidFill>
                <a:latin typeface="Calibri"/>
                <a:ea typeface="Calibri"/>
                <a:cs typeface="Calibri"/>
              </a:rPr>
              <a:t>IoU = area(∩) / area(∪)
(secondary metric)</a:t>
            </a:r>
            <a:endParaRPr lang="ru-RU" sz="1400">
              <a:solidFill>
                <a:srgbClr val="1E2761"/>
              </a:solidFill>
              <a:latin typeface="Calibri"/>
              <a:ea typeface="Calibri"/>
              <a:cs typeface="Calibri"/>
            </a:endParaRPr>
          </a:p>
        </p:txBody>
      </p:sp>
      <p:graphicFrame>
        <p:nvGraphicFramePr>
          <p:cNvPr id="6" name="Таблица 5">
            <a:extLst>
              <a:ext uri="{FF2B5EF4-FFF2-40B4-BE49-F238E27FC236}">
                <a16:creationId xmlns:a16="http://schemas.microsoft.com/office/drawing/2014/main" id="{F5F4673B-C826-4A1C-821B-D73231FB7E18}"/>
              </a:ext>
            </a:extLst>
          </p:cNvPr>
          <p:cNvGraphicFramePr>
            <a:graphicFrameLocks noGrp="1"/>
          </p:cNvGraphicFramePr>
          <p:nvPr/>
        </p:nvGraphicFramePr>
        <p:xfrm>
          <a:off x="508000" y="2349500"/>
          <a:ext cx="5651500" cy="1968500"/>
        </p:xfrm>
        <a:graphic>
          <a:graphicData uri="http://schemas.openxmlformats.org/drawingml/2006/table">
            <a:tbl>
              <a:tblPr firstRow="1" bandRow="1">
                <a:tableStyleId>{5C22544A-7EE6-4342-B048-85BDC9FD1C3A}</a:tableStyleId>
              </a:tblPr>
              <a:tblGrid>
                <a:gridCol w="1968500">
                  <a:extLst>
                    <a:ext uri="{9D8B030D-6E8A-4147-A177-3AD203B41FA5}">
                      <a16:colId xmlns:a16="http://schemas.microsoft.com/office/drawing/2014/main" val="1220503940"/>
                    </a:ext>
                  </a:extLst>
                </a:gridCol>
                <a:gridCol w="1333500">
                  <a:extLst>
                    <a:ext uri="{9D8B030D-6E8A-4147-A177-3AD203B41FA5}">
                      <a16:colId xmlns:a16="http://schemas.microsoft.com/office/drawing/2014/main" val="1732078517"/>
                    </a:ext>
                  </a:extLst>
                </a:gridCol>
                <a:gridCol w="1333500">
                  <a:extLst>
                    <a:ext uri="{9D8B030D-6E8A-4147-A177-3AD203B41FA5}">
                      <a16:colId xmlns:a16="http://schemas.microsoft.com/office/drawing/2014/main" val="1360760917"/>
                    </a:ext>
                  </a:extLst>
                </a:gridCol>
                <a:gridCol w="1016000">
                  <a:extLst>
                    <a:ext uri="{9D8B030D-6E8A-4147-A177-3AD203B41FA5}">
                      <a16:colId xmlns:a16="http://schemas.microsoft.com/office/drawing/2014/main" val="393926819"/>
                    </a:ext>
                  </a:extLst>
                </a:gridCol>
              </a:tblGrid>
              <a:tr h="393700">
                <a:tc>
                  <a:txBody>
                    <a:bodyPr/>
                    <a:lstStyle/>
                    <a:p>
                      <a:pPr algn="ctr"/>
                      <a:r>
                        <a:rPr lang="ru-RU" sz="1400" b="1">
                          <a:solidFill>
                            <a:srgbClr val="FFFFFF"/>
                          </a:solidFill>
                          <a:latin typeface="Calibri"/>
                          <a:ea typeface="Calibri"/>
                          <a:cs typeface="Calibri"/>
                        </a:rPr>
                        <a:t>Lesion Type</a:t>
                      </a:r>
                    </a:p>
                  </a:txBody>
                  <a:tcPr>
                    <a:solidFill>
                      <a:srgbClr val="1E2761"/>
                    </a:solidFill>
                  </a:tcPr>
                </a:tc>
                <a:tc>
                  <a:txBody>
                    <a:bodyPr/>
                    <a:lstStyle/>
                    <a:p>
                      <a:pPr algn="ctr"/>
                      <a:r>
                        <a:rPr lang="ru-RU" sz="1400" b="1">
                          <a:solidFill>
                            <a:srgbClr val="FFFFFF"/>
                          </a:solidFill>
                          <a:latin typeface="Calibri"/>
                          <a:ea typeface="Calibri"/>
                          <a:cs typeface="Calibri"/>
                        </a:rPr>
                        <a:t>Baseline</a:t>
                      </a:r>
                    </a:p>
                  </a:txBody>
                  <a:tcPr>
                    <a:solidFill>
                      <a:srgbClr val="1E2761"/>
                    </a:solidFill>
                  </a:tcPr>
                </a:tc>
                <a:tc>
                  <a:txBody>
                    <a:bodyPr/>
                    <a:lstStyle/>
                    <a:p>
                      <a:pPr algn="ctr"/>
                      <a:r>
                        <a:rPr lang="ru-RU" sz="1400" b="1">
                          <a:solidFill>
                            <a:srgbClr val="FFFFFF"/>
                          </a:solidFill>
                          <a:latin typeface="Calibri"/>
                          <a:ea typeface="Calibri"/>
                          <a:cs typeface="Calibri"/>
                        </a:rPr>
                        <a:t>Pipeline</a:t>
                      </a:r>
                    </a:p>
                  </a:txBody>
                  <a:tcPr>
                    <a:solidFill>
                      <a:srgbClr val="1E2761"/>
                    </a:solidFill>
                  </a:tcPr>
                </a:tc>
                <a:tc>
                  <a:txBody>
                    <a:bodyPr/>
                    <a:lstStyle/>
                    <a:p>
                      <a:pPr algn="ctr"/>
                      <a:r>
                        <a:rPr lang="ru-RU" sz="1400" b="1">
                          <a:solidFill>
                            <a:srgbClr val="FFFFFF"/>
                          </a:solidFill>
                          <a:latin typeface="Calibri"/>
                          <a:ea typeface="Calibri"/>
                          <a:cs typeface="Calibri"/>
                        </a:rPr>
                        <a:t>Δ</a:t>
                      </a:r>
                    </a:p>
                  </a:txBody>
                  <a:tcPr>
                    <a:solidFill>
                      <a:srgbClr val="1E2761"/>
                    </a:solidFill>
                  </a:tcPr>
                </a:tc>
                <a:extLst>
                  <a:ext uri="{0D108BD9-81ED-4DB2-BD59-A6C34878D82A}">
                    <a16:rowId xmlns:a16="http://schemas.microsoft.com/office/drawing/2014/main" val="1852271957"/>
                  </a:ext>
                </a:extLst>
              </a:tr>
              <a:tr h="393700">
                <a:tc>
                  <a:txBody>
                    <a:bodyPr/>
                    <a:lstStyle/>
                    <a:p>
                      <a:pPr algn="l"/>
                      <a:r>
                        <a:rPr lang="ru-RU" sz="1400">
                          <a:solidFill>
                            <a:srgbClr val="1E2761"/>
                          </a:solidFill>
                          <a:latin typeface="Calibri"/>
                          <a:ea typeface="Calibri"/>
                          <a:cs typeface="Calibri"/>
                        </a:rPr>
                        <a:t>Microaneurysms</a:t>
                      </a:r>
                    </a:p>
                  </a:txBody>
                  <a:tcPr>
                    <a:solidFill>
                      <a:srgbClr val="F0F4FA"/>
                    </a:solidFill>
                  </a:tcPr>
                </a:tc>
                <a:tc>
                  <a:txBody>
                    <a:bodyPr/>
                    <a:lstStyle/>
                    <a:p>
                      <a:pPr algn="ctr"/>
                      <a:r>
                        <a:rPr lang="ru-RU" sz="1400">
                          <a:solidFill>
                            <a:srgbClr val="1E2761"/>
                          </a:solidFill>
                          <a:latin typeface="Calibri"/>
                          <a:ea typeface="Calibri"/>
                          <a:cs typeface="Calibri"/>
                        </a:rPr>
                        <a:t>0.28</a:t>
                      </a:r>
                    </a:p>
                  </a:txBody>
                  <a:tcPr>
                    <a:solidFill>
                      <a:srgbClr val="F0F4FA"/>
                    </a:solidFill>
                  </a:tcPr>
                </a:tc>
                <a:tc>
                  <a:txBody>
                    <a:bodyPr/>
                    <a:lstStyle/>
                    <a:p>
                      <a:pPr algn="ctr"/>
                      <a:r>
                        <a:rPr lang="ru-RU" sz="1400">
                          <a:solidFill>
                            <a:srgbClr val="1E2761"/>
                          </a:solidFill>
                          <a:latin typeface="Calibri"/>
                          <a:ea typeface="Calibri"/>
                          <a:cs typeface="Calibri"/>
                        </a:rPr>
                        <a:t>0.45</a:t>
                      </a:r>
                    </a:p>
                  </a:txBody>
                  <a:tcPr>
                    <a:solidFill>
                      <a:srgbClr val="F0F4FA"/>
                    </a:solidFill>
                  </a:tcPr>
                </a:tc>
                <a:tc>
                  <a:txBody>
                    <a:bodyPr/>
                    <a:lstStyle/>
                    <a:p>
                      <a:pPr algn="ctr"/>
                      <a:r>
                        <a:rPr lang="ru-RU" sz="1400">
                          <a:solidFill>
                            <a:srgbClr val="1E2761"/>
                          </a:solidFill>
                          <a:latin typeface="Calibri"/>
                          <a:ea typeface="Calibri"/>
                          <a:cs typeface="Calibri"/>
                        </a:rPr>
                        <a:t>+61%</a:t>
                      </a:r>
                    </a:p>
                  </a:txBody>
                  <a:tcPr>
                    <a:solidFill>
                      <a:srgbClr val="F0F4FA"/>
                    </a:solidFill>
                  </a:tcPr>
                </a:tc>
                <a:extLst>
                  <a:ext uri="{0D108BD9-81ED-4DB2-BD59-A6C34878D82A}">
                    <a16:rowId xmlns:a16="http://schemas.microsoft.com/office/drawing/2014/main" val="2684878175"/>
                  </a:ext>
                </a:extLst>
              </a:tr>
              <a:tr h="393700">
                <a:tc>
                  <a:txBody>
                    <a:bodyPr/>
                    <a:lstStyle/>
                    <a:p>
                      <a:pPr algn="l"/>
                      <a:r>
                        <a:rPr lang="ru-RU" sz="1400">
                          <a:solidFill>
                            <a:srgbClr val="1E2761"/>
                          </a:solidFill>
                          <a:latin typeface="Calibri"/>
                          <a:ea typeface="Calibri"/>
                          <a:cs typeface="Calibri"/>
                        </a:rPr>
                        <a:t>Hemorrhages</a:t>
                      </a:r>
                    </a:p>
                  </a:txBody>
                  <a:tcPr>
                    <a:solidFill>
                      <a:srgbClr val="FFFFFF"/>
                    </a:solidFill>
                  </a:tcPr>
                </a:tc>
                <a:tc>
                  <a:txBody>
                    <a:bodyPr/>
                    <a:lstStyle/>
                    <a:p>
                      <a:pPr algn="ctr"/>
                      <a:r>
                        <a:rPr lang="ru-RU" sz="1400">
                          <a:solidFill>
                            <a:srgbClr val="1E2761"/>
                          </a:solidFill>
                          <a:latin typeface="Calibri"/>
                          <a:ea typeface="Calibri"/>
                          <a:cs typeface="Calibri"/>
                        </a:rPr>
                        <a:t>0.42</a:t>
                      </a:r>
                    </a:p>
                  </a:txBody>
                  <a:tcPr>
                    <a:solidFill>
                      <a:srgbClr val="FFFFFF"/>
                    </a:solidFill>
                  </a:tcPr>
                </a:tc>
                <a:tc>
                  <a:txBody>
                    <a:bodyPr/>
                    <a:lstStyle/>
                    <a:p>
                      <a:pPr algn="ctr"/>
                      <a:r>
                        <a:rPr lang="ru-RU" sz="1400">
                          <a:solidFill>
                            <a:srgbClr val="1E2761"/>
                          </a:solidFill>
                          <a:latin typeface="Calibri"/>
                          <a:ea typeface="Calibri"/>
                          <a:cs typeface="Calibri"/>
                        </a:rPr>
                        <a:t>0.62</a:t>
                      </a:r>
                    </a:p>
                  </a:txBody>
                  <a:tcPr>
                    <a:solidFill>
                      <a:srgbClr val="FFFFFF"/>
                    </a:solidFill>
                  </a:tcPr>
                </a:tc>
                <a:tc>
                  <a:txBody>
                    <a:bodyPr/>
                    <a:lstStyle/>
                    <a:p>
                      <a:pPr algn="ctr"/>
                      <a:r>
                        <a:rPr lang="ru-RU" sz="1400">
                          <a:solidFill>
                            <a:srgbClr val="1E2761"/>
                          </a:solidFill>
                          <a:latin typeface="Calibri"/>
                          <a:ea typeface="Calibri"/>
                          <a:cs typeface="Calibri"/>
                        </a:rPr>
                        <a:t>+48%</a:t>
                      </a:r>
                    </a:p>
                  </a:txBody>
                  <a:tcPr>
                    <a:solidFill>
                      <a:srgbClr val="FFFFFF"/>
                    </a:solidFill>
                  </a:tcPr>
                </a:tc>
                <a:extLst>
                  <a:ext uri="{0D108BD9-81ED-4DB2-BD59-A6C34878D82A}">
                    <a16:rowId xmlns:a16="http://schemas.microsoft.com/office/drawing/2014/main" val="2012398362"/>
                  </a:ext>
                </a:extLst>
              </a:tr>
              <a:tr h="393700">
                <a:tc>
                  <a:txBody>
                    <a:bodyPr/>
                    <a:lstStyle/>
                    <a:p>
                      <a:pPr algn="l"/>
                      <a:r>
                        <a:rPr lang="ru-RU" sz="1400">
                          <a:solidFill>
                            <a:srgbClr val="1E2761"/>
                          </a:solidFill>
                          <a:latin typeface="Calibri"/>
                          <a:ea typeface="Calibri"/>
                          <a:cs typeface="Calibri"/>
                        </a:rPr>
                        <a:t>Hard exudates</a:t>
                      </a:r>
                    </a:p>
                  </a:txBody>
                  <a:tcPr>
                    <a:solidFill>
                      <a:srgbClr val="F0F4FA"/>
                    </a:solidFill>
                  </a:tcPr>
                </a:tc>
                <a:tc>
                  <a:txBody>
                    <a:bodyPr/>
                    <a:lstStyle/>
                    <a:p>
                      <a:pPr algn="ctr"/>
                      <a:r>
                        <a:rPr lang="ru-RU" sz="1400">
                          <a:solidFill>
                            <a:srgbClr val="1E2761"/>
                          </a:solidFill>
                          <a:latin typeface="Calibri"/>
                          <a:ea typeface="Calibri"/>
                          <a:cs typeface="Calibri"/>
                        </a:rPr>
                        <a:t>0.55</a:t>
                      </a:r>
                    </a:p>
                  </a:txBody>
                  <a:tcPr>
                    <a:solidFill>
                      <a:srgbClr val="F0F4FA"/>
                    </a:solidFill>
                  </a:tcPr>
                </a:tc>
                <a:tc>
                  <a:txBody>
                    <a:bodyPr/>
                    <a:lstStyle/>
                    <a:p>
                      <a:pPr algn="ctr"/>
                      <a:r>
                        <a:rPr lang="ru-RU" sz="1400">
                          <a:solidFill>
                            <a:srgbClr val="1E2761"/>
                          </a:solidFill>
                          <a:latin typeface="Calibri"/>
                          <a:ea typeface="Calibri"/>
                          <a:cs typeface="Calibri"/>
                        </a:rPr>
                        <a:t>0.72</a:t>
                      </a:r>
                    </a:p>
                  </a:txBody>
                  <a:tcPr>
                    <a:solidFill>
                      <a:srgbClr val="F0F4FA"/>
                    </a:solidFill>
                  </a:tcPr>
                </a:tc>
                <a:tc>
                  <a:txBody>
                    <a:bodyPr/>
                    <a:lstStyle/>
                    <a:p>
                      <a:pPr algn="ctr"/>
                      <a:r>
                        <a:rPr lang="ru-RU" sz="1400">
                          <a:solidFill>
                            <a:srgbClr val="1E2761"/>
                          </a:solidFill>
                          <a:latin typeface="Calibri"/>
                          <a:ea typeface="Calibri"/>
                          <a:cs typeface="Calibri"/>
                        </a:rPr>
                        <a:t>+31%</a:t>
                      </a:r>
                    </a:p>
                  </a:txBody>
                  <a:tcPr>
                    <a:solidFill>
                      <a:srgbClr val="F0F4FA"/>
                    </a:solidFill>
                  </a:tcPr>
                </a:tc>
                <a:extLst>
                  <a:ext uri="{0D108BD9-81ED-4DB2-BD59-A6C34878D82A}">
                    <a16:rowId xmlns:a16="http://schemas.microsoft.com/office/drawing/2014/main" val="2780125853"/>
                  </a:ext>
                </a:extLst>
              </a:tr>
              <a:tr h="393700">
                <a:tc>
                  <a:txBody>
                    <a:bodyPr/>
                    <a:lstStyle/>
                    <a:p>
                      <a:pPr algn="l"/>
                      <a:r>
                        <a:rPr lang="ru-RU" sz="1400">
                          <a:solidFill>
                            <a:srgbClr val="1E2761"/>
                          </a:solidFill>
                          <a:latin typeface="Calibri"/>
                          <a:ea typeface="Calibri"/>
                          <a:cs typeface="Calibri"/>
                        </a:rPr>
                        <a:t>Soft exudates</a:t>
                      </a:r>
                    </a:p>
                  </a:txBody>
                  <a:tcPr>
                    <a:solidFill>
                      <a:srgbClr val="FFFFFF"/>
                    </a:solidFill>
                  </a:tcPr>
                </a:tc>
                <a:tc>
                  <a:txBody>
                    <a:bodyPr/>
                    <a:lstStyle/>
                    <a:p>
                      <a:pPr algn="ctr"/>
                      <a:r>
                        <a:rPr lang="ru-RU" sz="1400">
                          <a:solidFill>
                            <a:srgbClr val="1E2761"/>
                          </a:solidFill>
                          <a:latin typeface="Calibri"/>
                          <a:ea typeface="Calibri"/>
                          <a:cs typeface="Calibri"/>
                        </a:rPr>
                        <a:t>0.38</a:t>
                      </a:r>
                    </a:p>
                  </a:txBody>
                  <a:tcPr>
                    <a:solidFill>
                      <a:srgbClr val="FFFFFF"/>
                    </a:solidFill>
                  </a:tcPr>
                </a:tc>
                <a:tc>
                  <a:txBody>
                    <a:bodyPr/>
                    <a:lstStyle/>
                    <a:p>
                      <a:pPr algn="ctr"/>
                      <a:r>
                        <a:rPr lang="ru-RU" sz="1400">
                          <a:solidFill>
                            <a:srgbClr val="1E2761"/>
                          </a:solidFill>
                          <a:latin typeface="Calibri"/>
                          <a:ea typeface="Calibri"/>
                          <a:cs typeface="Calibri"/>
                        </a:rPr>
                        <a:t>0.56</a:t>
                      </a:r>
                    </a:p>
                  </a:txBody>
                  <a:tcPr>
                    <a:solidFill>
                      <a:srgbClr val="FFFFFF"/>
                    </a:solidFill>
                  </a:tcPr>
                </a:tc>
                <a:tc>
                  <a:txBody>
                    <a:bodyPr/>
                    <a:lstStyle/>
                    <a:p>
                      <a:pPr algn="ctr"/>
                      <a:r>
                        <a:rPr lang="ru-RU" sz="1400">
                          <a:solidFill>
                            <a:srgbClr val="1E2761"/>
                          </a:solidFill>
                          <a:latin typeface="Calibri"/>
                          <a:ea typeface="Calibri"/>
                          <a:cs typeface="Calibri"/>
                        </a:rPr>
                        <a:t>+47%</a:t>
                      </a:r>
                    </a:p>
                  </a:txBody>
                  <a:tcPr>
                    <a:solidFill>
                      <a:srgbClr val="FFFFFF"/>
                    </a:solidFill>
                  </a:tcPr>
                </a:tc>
                <a:extLst>
                  <a:ext uri="{0D108BD9-81ED-4DB2-BD59-A6C34878D82A}">
                    <a16:rowId xmlns:a16="http://schemas.microsoft.com/office/drawing/2014/main" val="3021812062"/>
                  </a:ext>
                </a:extLst>
              </a:tr>
            </a:tbl>
          </a:graphicData>
        </a:graphic>
      </p:graphicFrame>
      <p:sp>
        <p:nvSpPr>
          <p:cNvPr id="7" name="TextBox 6">
            <a:extLst>
              <a:ext uri="{FF2B5EF4-FFF2-40B4-BE49-F238E27FC236}">
                <a16:creationId xmlns:a16="http://schemas.microsoft.com/office/drawing/2014/main" id="{E3595B36-312E-488F-9D80-887E6FCDAC85}"/>
              </a:ext>
            </a:extLst>
          </p:cNvPr>
          <p:cNvSpPr txBox="1"/>
          <p:nvPr/>
        </p:nvSpPr>
        <p:spPr>
          <a:xfrm>
            <a:off x="7112000" y="2349500"/>
            <a:ext cx="4826000" cy="2032000"/>
          </a:xfrm>
          <a:prstGeom prst="rect">
            <a:avLst/>
          </a:prstGeom>
          <a:noFill/>
          <a:ln>
            <a:noFill/>
          </a:ln>
        </p:spPr>
        <p:txBody>
          <a:bodyPr vertOverflow="overflow" vert="horz" wrap="square" rtlCol="0" anchor="t">
            <a:spAutoFit/>
          </a:bodyPr>
          <a:lstStyle/>
          <a:p>
            <a:pPr algn="l">
              <a:buNone/>
            </a:pPr>
            <a:r>
              <a:rPr lang="en-US" sz="1600" b="1" dirty="0">
                <a:solidFill>
                  <a:srgbClr val="1E2761"/>
                </a:solidFill>
                <a:latin typeface="Cambria"/>
              </a:rPr>
              <a:t>Protocol</a:t>
            </a:r>
          </a:p>
          <a:p>
            <a:pPr marL="228600" indent="-228600">
              <a:buFont typeface="Arial"/>
              <a:buChar char="●"/>
            </a:pPr>
            <a:r>
              <a:rPr lang="en-US" sz="1400" dirty="0">
                <a:solidFill>
                  <a:srgbClr val="1E2761"/>
                </a:solidFill>
                <a:latin typeface="Calibri"/>
              </a:rPr>
              <a:t>Model: EfficientNet-B4</a:t>
            </a:r>
          </a:p>
          <a:p>
            <a:pPr marL="228600" indent="-228600">
              <a:buFont typeface="Arial"/>
              <a:buChar char="●"/>
            </a:pPr>
            <a:r>
              <a:rPr lang="en-US" sz="1400" dirty="0">
                <a:solidFill>
                  <a:srgbClr val="1E2761"/>
                </a:solidFill>
                <a:latin typeface="Calibri"/>
              </a:rPr>
              <a:t>Dataset: IDRiD (pixel-level annotations)</a:t>
            </a:r>
          </a:p>
          <a:p>
            <a:pPr marL="228600" indent="-228600">
              <a:buFont typeface="Arial"/>
              <a:buChar char="●"/>
            </a:pPr>
            <a:r>
              <a:rPr lang="en-US" sz="1400" dirty="0">
                <a:solidFill>
                  <a:srgbClr val="1E2761"/>
                </a:solidFill>
                <a:latin typeface="Calibri"/>
              </a:rPr>
              <a:t>10 images × 5 classes × 4 lesion types (MA, HE, EX, SE)</a:t>
            </a:r>
          </a:p>
          <a:p>
            <a:pPr marL="228600" indent="-228600">
              <a:buFont typeface="Arial"/>
              <a:buChar char="●"/>
            </a:pPr>
            <a:r>
              <a:rPr lang="en-US" sz="1400" dirty="0">
                <a:solidFill>
                  <a:srgbClr val="1E2761"/>
                </a:solidFill>
                <a:latin typeface="Calibri"/>
              </a:rPr>
              <a:t>Compare: baseline (1+4) vs. full V4</a:t>
            </a:r>
          </a:p>
          <a:p>
            <a:pPr marL="228600" indent="-228600">
              <a:buFont typeface="Arial"/>
              <a:buChar char="●"/>
            </a:pPr>
            <a:r>
              <a:rPr lang="en-US" sz="1400" b="1" dirty="0">
                <a:solidFill>
                  <a:srgbClr val="3A7BD5"/>
                </a:solidFill>
                <a:latin typeface="Calibri"/>
              </a:rPr>
              <a:t>H-5: ALO_preprocessed &gt; ALO_baseline</a:t>
            </a:r>
          </a:p>
        </p:txBody>
      </p:sp>
      <p:sp>
        <p:nvSpPr>
          <p:cNvPr id="8" name="Прямоугольник: скругленные углы 7">
            <a:extLst>
              <a:ext uri="{FF2B5EF4-FFF2-40B4-BE49-F238E27FC236}">
                <a16:creationId xmlns:a16="http://schemas.microsoft.com/office/drawing/2014/main" id="{78A303AA-827E-48A5-92AB-43DC3D64D785}"/>
              </a:ext>
            </a:extLst>
          </p:cNvPr>
          <p:cNvSpPr/>
          <p:nvPr/>
        </p:nvSpPr>
        <p:spPr>
          <a:xfrm>
            <a:off x="508000" y="4572000"/>
            <a:ext cx="11430000" cy="444500"/>
          </a:xfrm>
          <a:prstGeom prst="roundRect">
            <a:avLst/>
          </a:prstGeom>
          <a:solidFill>
            <a:srgbClr val="F0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b="1">
                <a:solidFill>
                  <a:srgbClr val="C0392B"/>
                </a:solidFill>
                <a:latin typeface="Calibri"/>
                <a:ea typeface="Calibri"/>
                <a:cs typeface="Calibri"/>
              </a:rPr>
              <a:t>NC-14: Grad-CAM ≠ clinical localization — interpretability tool, not diagnostic output</a:t>
            </a:r>
            <a:endParaRPr lang="ru-RU" sz="1400" b="1">
              <a:solidFill>
                <a:srgbClr val="C0392B"/>
              </a:solidFill>
              <a:latin typeface="Calibri"/>
              <a:ea typeface="Calibri"/>
              <a:cs typeface="Calibri"/>
            </a:endParaRPr>
          </a:p>
        </p:txBody>
      </p:sp>
      <p:pic>
        <p:nvPicPr>
          <p:cNvPr id="9" name="Graphic 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66500" y="381000"/>
            <a:ext cx="609600" cy="609600"/>
          </a:xfrm>
          <a:prstGeom prst="rect">
            <a:avLst/>
          </a:prstGeom>
        </p:spPr>
      </p:pic>
      <p:sp>
        <p:nvSpPr>
          <p:cNvPr id="5" name="Прямоугольник: скругленные углы 4">
            <a:extLst>
              <a:ext uri="{FF2B5EF4-FFF2-40B4-BE49-F238E27FC236}">
                <a16:creationId xmlns:a16="http://schemas.microsoft.com/office/drawing/2014/main" id="{F94AFCC7-E03C-4CC0-9D0A-62ADA12F7273}"/>
              </a:ext>
            </a:extLst>
          </p:cNvPr>
          <p:cNvSpPr/>
          <p:nvPr/>
        </p:nvSpPr>
        <p:spPr>
          <a:xfrm>
            <a:off x="508000" y="5143500"/>
            <a:ext cx="11430000" cy="1117600"/>
          </a:xfrm>
          <a:prstGeom prst="roundRect">
            <a:avLst/>
          </a:prstGeom>
          <a:solidFill>
            <a:srgbClr val="F0F4FA"/>
          </a:solidFill>
          <a:ln w="12700" cap="flat" cmpd="sng" algn="ctr">
            <a:solidFill>
              <a:srgbClr val="CADCF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i="1">
                <a:solidFill>
                  <a:srgbClr val="1E2761"/>
                </a:solidFill>
                <a:latin typeface="Calibri"/>
                <a:ea typeface="Calibri"/>
                <a:cs typeface="Calibri"/>
              </a:rPr>
              <a:t>Mechanistic Bridge: If Exp 1 shows preprocessing improves classification AND Exp 4 shows preprocessing directs attention to lesions, then the causal explanation — preprocessing improves feature visibility, which improves classification — is supported by dual evidence.</a:t>
            </a:r>
            <a:endParaRPr lang="ru-RU" sz="1400" i="1">
              <a:solidFill>
                <a:srgbClr val="1E2761"/>
              </a:solidFill>
              <a:latin typeface="Calibri"/>
              <a:ea typeface="Calibri"/>
              <a:cs typeface="Calibri"/>
            </a:endParaRPr>
          </a:p>
        </p:txBody>
      </p:sp>
    </p:spTree>
    <p:extLst>
      <p:ext uri="{BB962C8B-B14F-4D97-AF65-F5344CB8AC3E}">
        <p14:creationId xmlns:p14="http://schemas.microsoft.com/office/powerpoint/2010/main" val="2811369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EDE898-9563-E9CD-FB4B-D3256EA5CC61}"/>
              </a:ext>
            </a:extLst>
          </p:cNvPr>
          <p:cNvSpPr>
            <a:spLocks noGrp="1"/>
          </p:cNvSpPr>
          <p:nvPr>
            <p:ph type="title"/>
          </p:nvPr>
        </p:nvSpPr>
        <p:spPr/>
        <p:txBody>
          <a:bodyPr/>
          <a:lstStyle/>
          <a:p>
            <a:pPr algn="l">
              <a:buNone/>
            </a:pPr>
            <a:r>
              <a:rPr lang="kk-KZ" sz="3200" b="1" dirty="0">
                <a:solidFill>
                  <a:srgbClr val="1E2761"/>
                </a:solidFill>
                <a:latin typeface="Cambria"/>
              </a:rPr>
              <a:t>5 және 6-эксперименттер</a:t>
            </a:r>
          </a:p>
        </p:txBody>
      </p:sp>
      <p:sp>
        <p:nvSpPr>
          <p:cNvPr id="3" name="Прямоугольник: скругленные углы 2">
            <a:extLst>
              <a:ext uri="{FF2B5EF4-FFF2-40B4-BE49-F238E27FC236}">
                <a16:creationId xmlns:a16="http://schemas.microsoft.com/office/drawing/2014/main" id="{36895B21-28EB-49FB-99A0-88A160454555}"/>
              </a:ext>
            </a:extLst>
          </p:cNvPr>
          <p:cNvSpPr/>
          <p:nvPr/>
        </p:nvSpPr>
        <p:spPr>
          <a:xfrm>
            <a:off x="508000" y="1524000"/>
            <a:ext cx="5524500" cy="3556000"/>
          </a:xfrm>
          <a:prstGeom prst="roundRect">
            <a:avLst/>
          </a:prstGeom>
          <a:solidFill>
            <a:srgbClr val="F0F4FA"/>
          </a:solidFill>
          <a:ln w="25400" cap="flat" cmpd="sng" algn="ctr">
            <a:solidFill>
              <a:srgbClr val="3A7BD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4" name="TextBox 3">
            <a:extLst>
              <a:ext uri="{FF2B5EF4-FFF2-40B4-BE49-F238E27FC236}">
                <a16:creationId xmlns:a16="http://schemas.microsoft.com/office/drawing/2014/main" id="{1DC98442-AFD8-426B-8613-468091ED8289}"/>
              </a:ext>
            </a:extLst>
          </p:cNvPr>
          <p:cNvSpPr txBox="1"/>
          <p:nvPr/>
        </p:nvSpPr>
        <p:spPr>
          <a:xfrm>
            <a:off x="635000" y="1587500"/>
            <a:ext cx="5270500" cy="3429000"/>
          </a:xfrm>
          <a:prstGeom prst="rect">
            <a:avLst/>
          </a:prstGeom>
          <a:noFill/>
          <a:ln>
            <a:noFill/>
          </a:ln>
        </p:spPr>
        <p:txBody>
          <a:bodyPr vertOverflow="overflow" vert="horz" wrap="square" rtlCol="0" anchor="t">
            <a:spAutoFit/>
          </a:bodyPr>
          <a:lstStyle/>
          <a:p>
            <a:pPr algn="ctr">
              <a:buNone/>
            </a:pPr>
            <a:r>
              <a:rPr lang="kk-KZ" sz="1800" b="1" dirty="0">
                <a:solidFill>
                  <a:srgbClr val="3A7BD5"/>
                </a:solidFill>
                <a:latin typeface="Cambria"/>
              </a:rPr>
              <a:t>Эксп 5: Деректер жиынтықтары арасында (H-4)</a:t>
            </a:r>
          </a:p>
          <a:p>
            <a:pPr algn="l">
              <a:buNone/>
            </a:pPr>
            <a:r>
              <a:rPr lang="kk-KZ" sz="1400" b="1" dirty="0">
                <a:solidFill>
                  <a:srgbClr val="1E2761"/>
                </a:solidFill>
                <a:latin typeface="Calibri"/>
              </a:rPr>
              <a:t>G = F1_external / F1_EyePACS</a:t>
            </a:r>
          </a:p>
          <a:p>
            <a:pPr algn="l">
              <a:buNone/>
            </a:pPr>
            <a:r>
              <a:rPr lang="kk-KZ" sz="1400" dirty="0">
                <a:solidFill>
                  <a:srgbClr val="1E2761"/>
                </a:solidFill>
                <a:latin typeface="Calibri"/>
              </a:rPr>
              <a:t>Критерий: G ≥ 0.85</a:t>
            </a:r>
          </a:p>
          <a:p>
            <a:pPr marL="228600" indent="-228600">
              <a:buFont typeface="Arial"/>
              <a:buChar char="●"/>
            </a:pPr>
            <a:r>
              <a:rPr lang="kk-KZ" sz="1400" dirty="0">
                <a:solidFill>
                  <a:srgbClr val="1E2761"/>
                </a:solidFill>
                <a:latin typeface="Calibri"/>
              </a:rPr>
              <a:t>IDRiD (Kowa): G = 0.88 ✓</a:t>
            </a:r>
          </a:p>
          <a:p>
            <a:pPr marL="228600" indent="-228600">
              <a:buFont typeface="Arial"/>
              <a:buChar char="●"/>
            </a:pPr>
            <a:r>
              <a:rPr lang="kk-KZ" sz="1400" dirty="0">
                <a:solidFill>
                  <a:srgbClr val="1E2761"/>
                </a:solidFill>
                <a:latin typeface="Calibri"/>
              </a:rPr>
              <a:t>Messidor-2 (Topcon): G = 0.90 ✓</a:t>
            </a:r>
          </a:p>
          <a:p>
            <a:pPr marL="228600" indent="-228600">
              <a:buFont typeface="Arial"/>
              <a:buChar char="●"/>
            </a:pPr>
            <a:r>
              <a:rPr lang="kk-KZ" sz="1400" dirty="0">
                <a:solidFill>
                  <a:srgbClr val="1E2761"/>
                </a:solidFill>
                <a:latin typeface="Calibri"/>
              </a:rPr>
              <a:t>Zero-shot: сыртқы деректерде қайта оқытусыз</a:t>
            </a:r>
          </a:p>
          <a:p>
            <a:pPr marL="228600" indent="-228600">
              <a:buFont typeface="Arial"/>
              <a:buChar char="●"/>
            </a:pPr>
            <a:r>
              <a:rPr lang="kk-KZ" sz="1400" dirty="0">
                <a:solidFill>
                  <a:srgbClr val="1E2761"/>
                </a:solidFill>
                <a:latin typeface="Calibri"/>
              </a:rPr>
              <a:t>Bootstrap 95% CI барлық метрикалар үшін</a:t>
            </a:r>
          </a:p>
        </p:txBody>
      </p:sp>
      <p:sp>
        <p:nvSpPr>
          <p:cNvPr id="5" name="Прямоугольник: скругленные углы 4">
            <a:extLst>
              <a:ext uri="{FF2B5EF4-FFF2-40B4-BE49-F238E27FC236}">
                <a16:creationId xmlns:a16="http://schemas.microsoft.com/office/drawing/2014/main" id="{F940E51E-8AB7-43CD-9D02-72097F41021D}"/>
              </a:ext>
            </a:extLst>
          </p:cNvPr>
          <p:cNvSpPr/>
          <p:nvPr/>
        </p:nvSpPr>
        <p:spPr>
          <a:xfrm>
            <a:off x="6159500" y="1524000"/>
            <a:ext cx="5524500" cy="3556000"/>
          </a:xfrm>
          <a:prstGeom prst="roundRect">
            <a:avLst/>
          </a:prstGeom>
          <a:solidFill>
            <a:srgbClr val="F0F4FA"/>
          </a:solidFill>
          <a:ln w="25400" cap="flat" cmpd="sng" algn="ctr">
            <a:solidFill>
              <a:srgbClr val="E8B84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6" name="TextBox 5">
            <a:extLst>
              <a:ext uri="{FF2B5EF4-FFF2-40B4-BE49-F238E27FC236}">
                <a16:creationId xmlns:a16="http://schemas.microsoft.com/office/drawing/2014/main" id="{839CB607-688D-42CE-AF44-655729C32B95}"/>
              </a:ext>
            </a:extLst>
          </p:cNvPr>
          <p:cNvSpPr txBox="1"/>
          <p:nvPr/>
        </p:nvSpPr>
        <p:spPr>
          <a:xfrm>
            <a:off x="6286500" y="1587500"/>
            <a:ext cx="5270500" cy="3429000"/>
          </a:xfrm>
          <a:prstGeom prst="rect">
            <a:avLst/>
          </a:prstGeom>
          <a:noFill/>
          <a:ln>
            <a:noFill/>
          </a:ln>
        </p:spPr>
        <p:txBody>
          <a:bodyPr vertOverflow="overflow" vert="horz" wrap="square" rtlCol="0" anchor="t">
            <a:spAutoFit/>
          </a:bodyPr>
          <a:lstStyle/>
          <a:p>
            <a:pPr algn="ctr">
              <a:buNone/>
            </a:pPr>
            <a:r>
              <a:rPr lang="kk-KZ" sz="1800" b="1" dirty="0">
                <a:solidFill>
                  <a:srgbClr val="E8B84B"/>
                </a:solidFill>
                <a:latin typeface="Cambria"/>
              </a:rPr>
              <a:t>Эксп 6: Құрылғы ығысуы (H-6)</a:t>
            </a:r>
          </a:p>
          <a:p>
            <a:pPr algn="l">
              <a:buNone/>
            </a:pPr>
            <a:r>
              <a:rPr lang="kk-KZ" sz="1400" b="1" dirty="0">
                <a:solidFill>
                  <a:srgbClr val="1E2761"/>
                </a:solidFill>
                <a:latin typeface="Calibri"/>
              </a:rPr>
              <a:t>Құрылғылар арасындағы өнімділік матрицасы</a:t>
            </a:r>
          </a:p>
          <a:p>
            <a:pPr marL="228600" indent="-228600">
              <a:buFont typeface="Arial"/>
              <a:buChar char="●"/>
            </a:pPr>
            <a:r>
              <a:rPr lang="kk-KZ" sz="1400" dirty="0">
                <a:solidFill>
                  <a:srgbClr val="1E2761"/>
                </a:solidFill>
                <a:latin typeface="Calibri"/>
              </a:rPr>
              <a:t>Canon, Topcon, Kowa, Zeiss</a:t>
            </a:r>
          </a:p>
          <a:p>
            <a:pPr marL="228600" indent="-228600">
              <a:buFont typeface="Arial"/>
              <a:buChar char="●"/>
            </a:pPr>
            <a:r>
              <a:rPr lang="kk-KZ" sz="1400" dirty="0">
                <a:solidFill>
                  <a:srgbClr val="1E2761"/>
                </a:solidFill>
                <a:latin typeface="Calibri"/>
              </a:rPr>
              <a:t>Деректер жиынтықтары: RFMiD, DDR, ODIR-5K</a:t>
            </a:r>
          </a:p>
          <a:p>
            <a:pPr marL="228600" indent="-228600">
              <a:buFont typeface="Arial"/>
              <a:buChar char="●"/>
            </a:pPr>
            <a:r>
              <a:rPr lang="kk-KZ" sz="1400" dirty="0">
                <a:solidFill>
                  <a:srgbClr val="1E2761"/>
                </a:solidFill>
                <a:latin typeface="Calibri"/>
              </a:rPr>
              <a:t>Дисперсия азайту: −46% (σ² 0.0052 → 0.0028)</a:t>
            </a:r>
          </a:p>
          <a:p>
            <a:pPr marL="228600" indent="-228600">
              <a:buFont typeface="Arial"/>
              <a:buChar char="●"/>
            </a:pPr>
            <a:r>
              <a:rPr lang="kk-KZ" sz="1400" dirty="0">
                <a:solidFill>
                  <a:srgbClr val="1E2761"/>
                </a:solidFill>
                <a:latin typeface="Calibri"/>
              </a:rPr>
              <a:t>DeLong тесті AUC салыстыруы үшін</a:t>
            </a:r>
          </a:p>
          <a:p>
            <a:pPr marL="228600" indent="-228600">
              <a:buFont typeface="Arial"/>
              <a:buChar char="●"/>
            </a:pPr>
            <a:r>
              <a:rPr lang="kk-KZ" sz="1400" i="1" dirty="0">
                <a:solidFill>
                  <a:srgbClr val="888888"/>
                </a:solidFill>
                <a:latin typeface="Calibri"/>
              </a:rPr>
              <a:t>SB-1.8: Кескін деңгейіндегі камера метадеректері қолжетімсіз</a:t>
            </a:r>
          </a:p>
        </p:txBody>
      </p:sp>
      <p:sp>
        <p:nvSpPr>
          <p:cNvPr id="7" name="Прямоугольник 6">
            <a:extLst>
              <a:ext uri="{FF2B5EF4-FFF2-40B4-BE49-F238E27FC236}">
                <a16:creationId xmlns:a16="http://schemas.microsoft.com/office/drawing/2014/main" id="{C9714A5B-6574-472D-96B3-8EAF9FF41E45}"/>
              </a:ext>
            </a:extLst>
          </p:cNvPr>
          <p:cNvSpPr/>
          <p:nvPr/>
        </p:nvSpPr>
        <p:spPr>
          <a:xfrm>
            <a:off x="6083300" y="1651000"/>
            <a:ext cx="25400" cy="3429000"/>
          </a:xfrm>
          <a:prstGeom prst="rect">
            <a:avLst/>
          </a:prstGeom>
          <a:solidFill>
            <a:srgbClr val="CADC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8" name="Прямоугольник: скругленные углы 7">
            <a:extLst>
              <a:ext uri="{FF2B5EF4-FFF2-40B4-BE49-F238E27FC236}">
                <a16:creationId xmlns:a16="http://schemas.microsoft.com/office/drawing/2014/main" id="{5B52D8D5-6424-4774-8080-7428E64E00A6}"/>
              </a:ext>
            </a:extLst>
          </p:cNvPr>
          <p:cNvSpPr/>
          <p:nvPr/>
        </p:nvSpPr>
        <p:spPr>
          <a:xfrm>
            <a:off x="508000" y="5270500"/>
            <a:ext cx="11430000" cy="444500"/>
          </a:xfrm>
          <a:prstGeom prst="roundRect">
            <a:avLst/>
          </a:prstGeom>
          <a:solidFill>
            <a:srgbClr val="F0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kk-KZ" sz="1400" b="1" dirty="0">
                <a:solidFill>
                  <a:srgbClr val="FFFFFF"/>
                </a:solidFill>
                <a:latin typeface="Calibri"/>
              </a:rPr>
              <a:t>[S] — Синтезделген мәндер. Толық эксперименттік нәтижелер күтілуде.</a:t>
            </a:r>
          </a:p>
        </p:txBody>
      </p:sp>
      <p:pic>
        <p:nvPicPr>
          <p:cNvPr id="9" name="Graphic 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66500" y="381000"/>
            <a:ext cx="609600" cy="609600"/>
          </a:xfrm>
          <a:prstGeom prst="rect">
            <a:avLst/>
          </a:prstGeom>
        </p:spPr>
      </p:pic>
    </p:spTree>
    <p:extLst>
      <p:ext uri="{BB962C8B-B14F-4D97-AF65-F5344CB8AC3E}">
        <p14:creationId xmlns:p14="http://schemas.microsoft.com/office/powerpoint/2010/main" val="34114580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89E59E-19D5-7BD7-A49A-D1E768F1E01D}"/>
              </a:ext>
            </a:extLst>
          </p:cNvPr>
          <p:cNvSpPr>
            <a:spLocks noGrp="1"/>
          </p:cNvSpPr>
          <p:nvPr>
            <p:ph type="title"/>
          </p:nvPr>
        </p:nvSpPr>
        <p:spPr/>
        <p:txBody>
          <a:bodyPr/>
          <a:lstStyle/>
          <a:p>
            <a:pPr algn="l">
              <a:buNone/>
            </a:pPr>
            <a:r>
              <a:rPr lang="kk-KZ" sz="3200" b="1" dirty="0">
                <a:solidFill>
                  <a:srgbClr val="1E2761"/>
                </a:solidFill>
                <a:latin typeface="Cambria"/>
              </a:rPr>
              <a:t>Бағалау метрикалары жүйесі</a:t>
            </a:r>
          </a:p>
        </p:txBody>
      </p:sp>
      <p:sp>
        <p:nvSpPr>
          <p:cNvPr id="20" name="Tier1"/>
          <p:cNvSpPr/>
          <p:nvPr/>
        </p:nvSpPr>
        <p:spPr>
          <a:xfrm>
            <a:off x="571500" y="1651000"/>
            <a:ext cx="11049000" cy="825500"/>
          </a:xfrm>
          <a:prstGeom prst="roundRect">
            <a:avLst>
              <a:gd name="adj" fmla="val 12000"/>
            </a:avLst>
          </a:prstGeom>
          <a:solidFill>
            <a:srgbClr val="1E2761"/>
          </a:solidFill>
          <a:ln w="0">
            <a:noFill/>
          </a:ln>
        </p:spPr>
        <p:txBody>
          <a:bodyPr wrap="square" lIns="91440" tIns="36000" rIns="91440" bIns="36000" anchor="ctr"/>
          <a:lstStyle/>
          <a:p>
            <a:pPr algn="ctr">
              <a:buNone/>
            </a:pPr>
            <a:r>
              <a:rPr lang="kk-KZ" sz="1600" b="1" dirty="0">
                <a:solidFill>
                  <a:srgbClr val="FFFFFF"/>
                </a:solidFill>
                <a:latin typeface="Cambria"/>
              </a:rPr>
              <a:t>1. НЕГІЗГІ</a:t>
            </a:r>
          </a:p>
          <a:p>
            <a:pPr algn="ctr">
              <a:buNone/>
            </a:pPr>
            <a:r>
              <a:rPr lang="kk-KZ" sz="1400" dirty="0">
                <a:solidFill>
                  <a:srgbClr val="FFFFFF"/>
                </a:solidFill>
                <a:latin typeface="Calibri"/>
              </a:rPr>
              <a:t>Weighted F1  |  ROC-AUC  |  Cohen’s κ  |  Accuracy</a:t>
            </a:r>
          </a:p>
        </p:txBody>
      </p:sp>
      <p:sp>
        <p:nvSpPr>
          <p:cNvPr id="21" name="Tier2"/>
          <p:cNvSpPr/>
          <p:nvPr/>
        </p:nvSpPr>
        <p:spPr>
          <a:xfrm>
            <a:off x="1397000" y="2578100"/>
            <a:ext cx="9398000" cy="825500"/>
          </a:xfrm>
          <a:prstGeom prst="roundRect">
            <a:avLst>
              <a:gd name="adj" fmla="val 12000"/>
            </a:avLst>
          </a:prstGeom>
          <a:solidFill>
            <a:srgbClr val="3A7BD5"/>
          </a:solidFill>
          <a:ln w="0">
            <a:noFill/>
          </a:ln>
        </p:spPr>
        <p:txBody>
          <a:bodyPr wrap="square" lIns="91440" tIns="36000" rIns="91440" bIns="36000" anchor="ctr"/>
          <a:lstStyle/>
          <a:p>
            <a:pPr algn="ctr">
              <a:buNone/>
            </a:pPr>
            <a:r>
              <a:rPr lang="kk-KZ" sz="1600" b="1" dirty="0">
                <a:solidFill>
                  <a:srgbClr val="FFFFFF"/>
                </a:solidFill>
                <a:latin typeface="Cambria"/>
              </a:rPr>
              <a:t>2. КЛИНИКАЛЫҚ</a:t>
            </a:r>
          </a:p>
          <a:p>
            <a:pPr algn="ctr">
              <a:buNone/>
            </a:pPr>
            <a:r>
              <a:rPr lang="kk-KZ" sz="1400" dirty="0">
                <a:solidFill>
                  <a:srgbClr val="FFFFFF"/>
                </a:solidFill>
                <a:latin typeface="Calibri"/>
              </a:rPr>
              <a:t>Sensitivity  |  Specificity  |  PPV  |  NPV</a:t>
            </a:r>
          </a:p>
        </p:txBody>
      </p:sp>
      <p:sp>
        <p:nvSpPr>
          <p:cNvPr id="22" name="Tier3"/>
          <p:cNvSpPr/>
          <p:nvPr/>
        </p:nvSpPr>
        <p:spPr>
          <a:xfrm>
            <a:off x="2222500" y="3505200"/>
            <a:ext cx="7747000" cy="825500"/>
          </a:xfrm>
          <a:prstGeom prst="roundRect">
            <a:avLst>
              <a:gd name="adj" fmla="val 12000"/>
            </a:avLst>
          </a:prstGeom>
          <a:solidFill>
            <a:srgbClr val="C49A2B"/>
          </a:solidFill>
          <a:ln w="0">
            <a:noFill/>
          </a:ln>
        </p:spPr>
        <p:txBody>
          <a:bodyPr wrap="square" lIns="91440" tIns="36000" rIns="91440" bIns="36000" anchor="ctr"/>
          <a:lstStyle/>
          <a:p>
            <a:pPr algn="ctr">
              <a:buNone/>
            </a:pPr>
            <a:r>
              <a:rPr lang="kk-KZ" sz="1600" b="1" dirty="0">
                <a:solidFill>
                  <a:srgbClr val="1E2761"/>
                </a:solidFill>
                <a:latin typeface="Cambria"/>
              </a:rPr>
              <a:t>3. КАЛИБРЛЕУ</a:t>
            </a:r>
          </a:p>
          <a:p>
            <a:pPr algn="ctr">
              <a:buNone/>
            </a:pPr>
            <a:r>
              <a:rPr lang="kk-KZ" sz="1400" dirty="0">
                <a:solidFill>
                  <a:srgbClr val="1E2761"/>
                </a:solidFill>
                <a:latin typeface="Calibri"/>
              </a:rPr>
              <a:t>ECE  |  Brier Score</a:t>
            </a:r>
          </a:p>
        </p:txBody>
      </p:sp>
      <p:sp>
        <p:nvSpPr>
          <p:cNvPr id="23" name="Tier4"/>
          <p:cNvSpPr/>
          <p:nvPr/>
        </p:nvSpPr>
        <p:spPr>
          <a:xfrm>
            <a:off x="3048000" y="4432300"/>
            <a:ext cx="6096000" cy="825500"/>
          </a:xfrm>
          <a:prstGeom prst="roundRect">
            <a:avLst>
              <a:gd name="adj" fmla="val 12000"/>
            </a:avLst>
          </a:prstGeom>
          <a:solidFill>
            <a:srgbClr val="2ECC71"/>
          </a:solidFill>
          <a:ln w="0">
            <a:noFill/>
          </a:ln>
        </p:spPr>
        <p:txBody>
          <a:bodyPr wrap="square" lIns="91440" tIns="36000" rIns="91440" bIns="36000" anchor="ctr"/>
          <a:lstStyle/>
          <a:p>
            <a:pPr algn="ctr">
              <a:buNone/>
            </a:pPr>
            <a:r>
              <a:rPr lang="kk-KZ" sz="1600" b="1" dirty="0">
                <a:solidFill>
                  <a:srgbClr val="FFFFFF"/>
                </a:solidFill>
                <a:latin typeface="Cambria"/>
              </a:rPr>
              <a:t>4. ТҮСІНДІРМЕ</a:t>
            </a:r>
          </a:p>
          <a:p>
            <a:pPr algn="ctr">
              <a:buNone/>
            </a:pPr>
            <a:r>
              <a:rPr lang="kk-KZ" sz="1400" dirty="0">
                <a:solidFill>
                  <a:srgbClr val="FFFFFF"/>
                </a:solidFill>
                <a:latin typeface="Calibri"/>
              </a:rPr>
              <a:t>ALO (негізгі)  |  IoU (қосалқы)</a:t>
            </a:r>
          </a:p>
        </p:txBody>
      </p:sp>
      <p:sp>
        <p:nvSpPr>
          <p:cNvPr id="24" name="Tier5"/>
          <p:cNvSpPr/>
          <p:nvPr/>
        </p:nvSpPr>
        <p:spPr>
          <a:xfrm>
            <a:off x="3873500" y="5359400"/>
            <a:ext cx="4445000" cy="825500"/>
          </a:xfrm>
          <a:prstGeom prst="roundRect">
            <a:avLst>
              <a:gd name="adj" fmla="val 12000"/>
            </a:avLst>
          </a:prstGeom>
          <a:solidFill>
            <a:srgbClr val="8E44AD"/>
          </a:solidFill>
          <a:ln w="0">
            <a:noFill/>
          </a:ln>
        </p:spPr>
        <p:txBody>
          <a:bodyPr wrap="square" lIns="91440" tIns="36000" rIns="91440" bIns="36000" anchor="ctr"/>
          <a:lstStyle/>
          <a:p>
            <a:pPr algn="ctr">
              <a:buNone/>
            </a:pPr>
            <a:r>
              <a:rPr lang="kk-KZ" sz="1600" b="1" dirty="0">
                <a:solidFill>
                  <a:srgbClr val="FFFFFF"/>
                </a:solidFill>
                <a:latin typeface="Cambria"/>
              </a:rPr>
              <a:t>5. СТАТИСТИКАЛЫҚ</a:t>
            </a:r>
          </a:p>
          <a:p>
            <a:pPr algn="ctr">
              <a:buNone/>
            </a:pPr>
            <a:r>
              <a:rPr lang="kk-KZ" sz="1400" dirty="0">
                <a:solidFill>
                  <a:srgbClr val="FFFFFF"/>
                </a:solidFill>
                <a:latin typeface="Calibri"/>
              </a:rPr>
              <a:t>McNemar  |  DeLong  |  Bootstrap CI  |  Holm-Bonferroni</a:t>
            </a:r>
          </a:p>
        </p:txBody>
      </p:sp>
      <p:sp>
        <p:nvSpPr>
          <p:cNvPr id="30" name="Rationale"/>
          <p:cNvSpPr/>
          <p:nvPr/>
        </p:nvSpPr>
        <p:spPr>
          <a:xfrm>
            <a:off x="571500" y="6286500"/>
            <a:ext cx="11049000" cy="508000"/>
          </a:xfrm>
          <a:prstGeom prst="rect">
            <a:avLst/>
          </a:prstGeom>
          <a:noFill/>
          <a:ln w="0">
            <a:noFill/>
          </a:ln>
        </p:spPr>
        <p:txBody>
          <a:bodyPr wrap="square" anchor="t"/>
          <a:lstStyle/>
          <a:p>
            <a:pPr algn="ctr">
              <a:buNone/>
            </a:pPr>
            <a:r>
              <a:rPr lang="kk-KZ" sz="1400" i="1" dirty="0">
                <a:solidFill>
                  <a:srgbClr val="888888"/>
                </a:solidFill>
                <a:latin typeface="Calibri Light"/>
              </a:rPr>
              <a:t>Дәлелдеме иерархиясы: Weighted F1 (1-орын) → ROC-AUC (2) → Cohen’s κ (3) → Accuracy (4)</a:t>
            </a:r>
          </a:p>
        </p:txBody>
      </p:sp>
      <p:pic>
        <p:nvPicPr>
          <p:cNvPr id="31" name="Graphic 3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66500" y="381000"/>
            <a:ext cx="609600" cy="609600"/>
          </a:xfrm>
          <a:prstGeom prst="rect">
            <a:avLst/>
          </a:prstGeom>
        </p:spPr>
      </p:pic>
    </p:spTree>
    <p:extLst>
      <p:ext uri="{BB962C8B-B14F-4D97-AF65-F5344CB8AC3E}">
        <p14:creationId xmlns:p14="http://schemas.microsoft.com/office/powerpoint/2010/main" val="3312461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D9A0F83-1658-7972-6B52-E13E78CAFB7A}"/>
              </a:ext>
            </a:extLst>
          </p:cNvPr>
          <p:cNvSpPr>
            <a:spLocks noGrp="1"/>
          </p:cNvSpPr>
          <p:nvPr>
            <p:ph type="title"/>
          </p:nvPr>
        </p:nvSpPr>
        <p:spPr/>
        <p:txBody>
          <a:bodyPr/>
          <a:lstStyle/>
          <a:p>
            <a:pPr algn="l">
              <a:buNone/>
            </a:pPr>
            <a:r>
              <a:rPr lang="kk-KZ" sz="2800" b="1" dirty="0">
                <a:solidFill>
                  <a:srgbClr val="1E2761"/>
                </a:solidFill>
                <a:latin typeface="Cambria"/>
              </a:rPr>
              <a:t>1-эксперимент: 2×2 факторлық нәтижелер</a:t>
            </a:r>
          </a:p>
        </p:txBody>
      </p:sp>
      <p:graphicFrame>
        <p:nvGraphicFramePr>
          <p:cNvPr id="4" name="Таблица 3">
            <a:extLst>
              <a:ext uri="{FF2B5EF4-FFF2-40B4-BE49-F238E27FC236}">
                <a16:creationId xmlns:a16="http://schemas.microsoft.com/office/drawing/2014/main" id="{CCC53AC1-6593-4132-AD6F-1CD85B941FB3}"/>
              </a:ext>
            </a:extLst>
          </p:cNvPr>
          <p:cNvGraphicFramePr>
            <a:graphicFrameLocks noGrp="1"/>
          </p:cNvGraphicFramePr>
          <p:nvPr/>
        </p:nvGraphicFramePr>
        <p:xfrm>
          <a:off x="508000" y="1498600"/>
          <a:ext cx="5842000" cy="1651000"/>
        </p:xfrm>
        <a:graphic>
          <a:graphicData uri="http://schemas.openxmlformats.org/drawingml/2006/table">
            <a:tbl>
              <a:tblPr firstRow="1" bandRow="1">
                <a:tableStyleId>{5C22544A-7EE6-4342-B048-85BDC9FD1C3A}</a:tableStyleId>
              </a:tblPr>
              <a:tblGrid>
                <a:gridCol w="698500">
                  <a:extLst>
                    <a:ext uri="{9D8B030D-6E8A-4147-A177-3AD203B41FA5}">
                      <a16:colId xmlns:a16="http://schemas.microsoft.com/office/drawing/2014/main" val="2311859098"/>
                    </a:ext>
                  </a:extLst>
                </a:gridCol>
                <a:gridCol w="1079500">
                  <a:extLst>
                    <a:ext uri="{9D8B030D-6E8A-4147-A177-3AD203B41FA5}">
                      <a16:colId xmlns:a16="http://schemas.microsoft.com/office/drawing/2014/main" val="1784836673"/>
                    </a:ext>
                  </a:extLst>
                </a:gridCol>
                <a:gridCol w="1143000">
                  <a:extLst>
                    <a:ext uri="{9D8B030D-6E8A-4147-A177-3AD203B41FA5}">
                      <a16:colId xmlns:a16="http://schemas.microsoft.com/office/drawing/2014/main" val="3682693157"/>
                    </a:ext>
                  </a:extLst>
                </a:gridCol>
                <a:gridCol w="1460500">
                  <a:extLst>
                    <a:ext uri="{9D8B030D-6E8A-4147-A177-3AD203B41FA5}">
                      <a16:colId xmlns:a16="http://schemas.microsoft.com/office/drawing/2014/main" val="2793646083"/>
                    </a:ext>
                  </a:extLst>
                </a:gridCol>
                <a:gridCol w="825500">
                  <a:extLst>
                    <a:ext uri="{9D8B030D-6E8A-4147-A177-3AD203B41FA5}">
                      <a16:colId xmlns:a16="http://schemas.microsoft.com/office/drawing/2014/main" val="2203923636"/>
                    </a:ext>
                  </a:extLst>
                </a:gridCol>
                <a:gridCol w="635000">
                  <a:extLst>
                    <a:ext uri="{9D8B030D-6E8A-4147-A177-3AD203B41FA5}">
                      <a16:colId xmlns:a16="http://schemas.microsoft.com/office/drawing/2014/main" val="1405162098"/>
                    </a:ext>
                  </a:extLst>
                </a:gridCol>
              </a:tblGrid>
              <a:tr h="330200">
                <a:tc>
                  <a:txBody>
                    <a:bodyPr/>
                    <a:lstStyle/>
                    <a:p>
                      <a:pPr algn="ctr"/>
                      <a:r>
                        <a:rPr lang="ru-RU" sz="1400" b="1">
                          <a:solidFill>
                            <a:srgbClr val="FFFFFF"/>
                          </a:solidFill>
                          <a:latin typeface="Calibri"/>
                          <a:ea typeface="Calibri"/>
                          <a:cs typeface="Calibri"/>
                        </a:rPr>
                        <a:t>Config</a:t>
                      </a:r>
                    </a:p>
                  </a:txBody>
                  <a:tcPr>
                    <a:solidFill>
                      <a:srgbClr val="1E2761"/>
                    </a:solidFill>
                  </a:tcPr>
                </a:tc>
                <a:tc>
                  <a:txBody>
                    <a:bodyPr/>
                    <a:lstStyle/>
                    <a:p>
                      <a:pPr algn="ctr"/>
                      <a:r>
                        <a:rPr lang="ru-RU" sz="1400" b="1">
                          <a:solidFill>
                            <a:srgbClr val="FFFFFF"/>
                          </a:solidFill>
                          <a:latin typeface="Calibri"/>
                          <a:ea typeface="Calibri"/>
                          <a:cs typeface="Calibri"/>
                        </a:rPr>
                        <a:t>Pipeline</a:t>
                      </a:r>
                    </a:p>
                  </a:txBody>
                  <a:tcPr>
                    <a:solidFill>
                      <a:srgbClr val="1E2761"/>
                    </a:solidFill>
                  </a:tcPr>
                </a:tc>
                <a:tc>
                  <a:txBody>
                    <a:bodyPr/>
                    <a:lstStyle/>
                    <a:p>
                      <a:pPr algn="ctr"/>
                      <a:r>
                        <a:rPr lang="ru-RU" sz="1400" b="1">
                          <a:solidFill>
                            <a:srgbClr val="FFFFFF"/>
                          </a:solidFill>
                          <a:latin typeface="Calibri"/>
                          <a:ea typeface="Calibri"/>
                          <a:cs typeface="Calibri"/>
                        </a:rPr>
                        <a:t>CNN</a:t>
                      </a:r>
                    </a:p>
                  </a:txBody>
                  <a:tcPr>
                    <a:solidFill>
                      <a:srgbClr val="1E2761"/>
                    </a:solidFill>
                  </a:tcPr>
                </a:tc>
                <a:tc>
                  <a:txBody>
                    <a:bodyPr/>
                    <a:lstStyle/>
                    <a:p>
                      <a:pPr algn="ctr"/>
                      <a:r>
                        <a:rPr lang="ru-RU" sz="1400" b="1">
                          <a:solidFill>
                            <a:srgbClr val="FFFFFF"/>
                          </a:solidFill>
                          <a:latin typeface="Calibri"/>
                          <a:ea typeface="Calibri"/>
                          <a:cs typeface="Calibri"/>
                        </a:rPr>
                        <a:t>W. F1</a:t>
                      </a:r>
                    </a:p>
                  </a:txBody>
                  <a:tcPr>
                    <a:solidFill>
                      <a:srgbClr val="1E2761"/>
                    </a:solidFill>
                  </a:tcPr>
                </a:tc>
                <a:tc>
                  <a:txBody>
                    <a:bodyPr/>
                    <a:lstStyle/>
                    <a:p>
                      <a:pPr algn="ctr"/>
                      <a:r>
                        <a:rPr lang="ru-RU" sz="1400" b="1">
                          <a:solidFill>
                            <a:srgbClr val="FFFFFF"/>
                          </a:solidFill>
                          <a:latin typeface="Calibri"/>
                          <a:ea typeface="Calibri"/>
                          <a:cs typeface="Calibri"/>
                        </a:rPr>
                        <a:t>AUC</a:t>
                      </a:r>
                    </a:p>
                  </a:txBody>
                  <a:tcPr>
                    <a:solidFill>
                      <a:srgbClr val="1E2761"/>
                    </a:solidFill>
                  </a:tcPr>
                </a:tc>
                <a:tc>
                  <a:txBody>
                    <a:bodyPr/>
                    <a:lstStyle/>
                    <a:p>
                      <a:pPr algn="ctr"/>
                      <a:r>
                        <a:rPr lang="ru-RU" sz="1400" b="1">
                          <a:solidFill>
                            <a:srgbClr val="FFFFFF"/>
                          </a:solidFill>
                          <a:latin typeface="Calibri"/>
                          <a:ea typeface="Calibri"/>
                          <a:cs typeface="Calibri"/>
                        </a:rPr>
                        <a:t>Prov.</a:t>
                      </a:r>
                    </a:p>
                  </a:txBody>
                  <a:tcPr>
                    <a:solidFill>
                      <a:srgbClr val="1E2761"/>
                    </a:solidFill>
                  </a:tcPr>
                </a:tc>
                <a:extLst>
                  <a:ext uri="{0D108BD9-81ED-4DB2-BD59-A6C34878D82A}">
                    <a16:rowId xmlns:a16="http://schemas.microsoft.com/office/drawing/2014/main" val="2515581522"/>
                  </a:ext>
                </a:extLst>
              </a:tr>
              <a:tr h="330200">
                <a:tc>
                  <a:txBody>
                    <a:bodyPr/>
                    <a:lstStyle/>
                    <a:p>
                      <a:pPr algn="l"/>
                      <a:r>
                        <a:rPr lang="ru-RU" sz="1400" b="1">
                          <a:solidFill>
                            <a:srgbClr val="1E2761"/>
                          </a:solidFill>
                          <a:latin typeface="Calibri"/>
                          <a:ea typeface="Calibri"/>
                          <a:cs typeface="Calibri"/>
                        </a:rPr>
                        <a:t>A</a:t>
                      </a:r>
                    </a:p>
                  </a:txBody>
                  <a:tcPr>
                    <a:solidFill>
                      <a:srgbClr val="F0F4FA"/>
                    </a:solidFill>
                  </a:tcPr>
                </a:tc>
                <a:tc>
                  <a:txBody>
                    <a:bodyPr/>
                    <a:lstStyle/>
                    <a:p>
                      <a:pPr algn="l"/>
                      <a:r>
                        <a:rPr lang="ru-RU" sz="1400">
                          <a:solidFill>
                            <a:srgbClr val="1E2761"/>
                          </a:solidFill>
                          <a:latin typeface="Calibri"/>
                          <a:ea typeface="Calibri"/>
                          <a:cs typeface="Calibri"/>
                        </a:rPr>
                        <a:t>Baseline</a:t>
                      </a:r>
                    </a:p>
                  </a:txBody>
                  <a:tcPr>
                    <a:solidFill>
                      <a:srgbClr val="F0F4FA"/>
                    </a:solidFill>
                  </a:tcPr>
                </a:tc>
                <a:tc>
                  <a:txBody>
                    <a:bodyPr/>
                    <a:lstStyle/>
                    <a:p>
                      <a:pPr algn="l"/>
                      <a:r>
                        <a:rPr lang="ru-RU" sz="1400">
                          <a:solidFill>
                            <a:srgbClr val="1E2761"/>
                          </a:solidFill>
                          <a:latin typeface="Calibri"/>
                          <a:ea typeface="Calibri"/>
                          <a:cs typeface="Calibri"/>
                        </a:rPr>
                        <a:t>ResNet-50</a:t>
                      </a:r>
                    </a:p>
                  </a:txBody>
                  <a:tcPr>
                    <a:solidFill>
                      <a:srgbClr val="F0F4FA"/>
                    </a:solidFill>
                  </a:tcPr>
                </a:tc>
                <a:tc>
                  <a:txBody>
                    <a:bodyPr/>
                    <a:lstStyle/>
                    <a:p>
                      <a:pPr algn="ctr"/>
                      <a:r>
                        <a:rPr lang="ru-RU" sz="1400">
                          <a:solidFill>
                            <a:srgbClr val="1E2761"/>
                          </a:solidFill>
                          <a:latin typeface="Calibri"/>
                          <a:ea typeface="Calibri"/>
                          <a:cs typeface="Calibri"/>
                        </a:rPr>
                        <a:t>0.762±0.006</a:t>
                      </a:r>
                    </a:p>
                  </a:txBody>
                  <a:tcPr>
                    <a:solidFill>
                      <a:srgbClr val="F0F4FA"/>
                    </a:solidFill>
                  </a:tcPr>
                </a:tc>
                <a:tc>
                  <a:txBody>
                    <a:bodyPr/>
                    <a:lstStyle/>
                    <a:p>
                      <a:pPr algn="ctr"/>
                      <a:r>
                        <a:rPr lang="ru-RU" sz="1400">
                          <a:solidFill>
                            <a:srgbClr val="1E2761"/>
                          </a:solidFill>
                          <a:latin typeface="Calibri"/>
                          <a:ea typeface="Calibri"/>
                          <a:cs typeface="Calibri"/>
                        </a:rPr>
                        <a:t>0.853</a:t>
                      </a:r>
                    </a:p>
                  </a:txBody>
                  <a:tcPr>
                    <a:solidFill>
                      <a:srgbClr val="F0F4FA"/>
                    </a:solidFill>
                  </a:tcPr>
                </a:tc>
                <a:tc>
                  <a:txBody>
                    <a:bodyPr/>
                    <a:lstStyle/>
                    <a:p>
                      <a:pPr algn="ctr"/>
                      <a:endParaRPr lang="ru-RU" sz="1400">
                        <a:solidFill>
                          <a:srgbClr val="1E2761"/>
                        </a:solidFill>
                        <a:latin typeface="Calibri"/>
                        <a:ea typeface="Calibri"/>
                        <a:cs typeface="Calibri"/>
                      </a:endParaRPr>
                    </a:p>
                  </a:txBody>
                  <a:tcPr>
                    <a:solidFill>
                      <a:srgbClr val="F0F4FA"/>
                    </a:solidFill>
                  </a:tcPr>
                </a:tc>
                <a:extLst>
                  <a:ext uri="{0D108BD9-81ED-4DB2-BD59-A6C34878D82A}">
                    <a16:rowId xmlns:a16="http://schemas.microsoft.com/office/drawing/2014/main" val="1107789942"/>
                  </a:ext>
                </a:extLst>
              </a:tr>
              <a:tr h="330200">
                <a:tc>
                  <a:txBody>
                    <a:bodyPr/>
                    <a:lstStyle/>
                    <a:p>
                      <a:pPr algn="l"/>
                      <a:r>
                        <a:rPr lang="ru-RU" sz="1400" b="1">
                          <a:solidFill>
                            <a:srgbClr val="1E2761"/>
                          </a:solidFill>
                          <a:latin typeface="Calibri"/>
                          <a:ea typeface="Calibri"/>
                          <a:cs typeface="Calibri"/>
                        </a:rPr>
                        <a:t>B</a:t>
                      </a:r>
                    </a:p>
                  </a:txBody>
                  <a:tcPr>
                    <a:solidFill>
                      <a:srgbClr val="FFFFFF"/>
                    </a:solidFill>
                  </a:tcPr>
                </a:tc>
                <a:tc>
                  <a:txBody>
                    <a:bodyPr/>
                    <a:lstStyle/>
                    <a:p>
                      <a:pPr algn="l"/>
                      <a:r>
                        <a:rPr lang="ru-RU" sz="1400">
                          <a:solidFill>
                            <a:srgbClr val="1E2761"/>
                          </a:solidFill>
                          <a:latin typeface="Calibri"/>
                          <a:ea typeface="Calibri"/>
                          <a:cs typeface="Calibri"/>
                        </a:rPr>
                        <a:t>Full V4</a:t>
                      </a:r>
                    </a:p>
                  </a:txBody>
                  <a:tcPr>
                    <a:solidFill>
                      <a:srgbClr val="FFFFFF"/>
                    </a:solidFill>
                  </a:tcPr>
                </a:tc>
                <a:tc>
                  <a:txBody>
                    <a:bodyPr/>
                    <a:lstStyle/>
                    <a:p>
                      <a:pPr algn="l"/>
                      <a:r>
                        <a:rPr lang="ru-RU" sz="1400">
                          <a:solidFill>
                            <a:srgbClr val="1E2761"/>
                          </a:solidFill>
                          <a:latin typeface="Calibri"/>
                          <a:ea typeface="Calibri"/>
                          <a:cs typeface="Calibri"/>
                        </a:rPr>
                        <a:t>ResNet-50</a:t>
                      </a:r>
                    </a:p>
                  </a:txBody>
                  <a:tcPr>
                    <a:solidFill>
                      <a:srgbClr val="FFFFFF"/>
                    </a:solidFill>
                  </a:tcPr>
                </a:tc>
                <a:tc>
                  <a:txBody>
                    <a:bodyPr/>
                    <a:lstStyle/>
                    <a:p>
                      <a:pPr algn="ctr"/>
                      <a:r>
                        <a:rPr lang="ru-RU" sz="1400">
                          <a:solidFill>
                            <a:srgbClr val="1E2761"/>
                          </a:solidFill>
                          <a:latin typeface="Calibri"/>
                          <a:ea typeface="Calibri"/>
                          <a:cs typeface="Calibri"/>
                        </a:rPr>
                        <a:t>0.761±0.018</a:t>
                      </a:r>
                    </a:p>
                  </a:txBody>
                  <a:tcPr>
                    <a:solidFill>
                      <a:srgbClr val="FFFFFF"/>
                    </a:solidFill>
                  </a:tcPr>
                </a:tc>
                <a:tc>
                  <a:txBody>
                    <a:bodyPr/>
                    <a:lstStyle/>
                    <a:p>
                      <a:pPr algn="ctr"/>
                      <a:r>
                        <a:rPr lang="ru-RU" sz="1400">
                          <a:solidFill>
                            <a:srgbClr val="1E2761"/>
                          </a:solidFill>
                          <a:latin typeface="Calibri"/>
                          <a:ea typeface="Calibri"/>
                          <a:cs typeface="Calibri"/>
                        </a:rPr>
                        <a:t>0.850</a:t>
                      </a:r>
                    </a:p>
                  </a:txBody>
                  <a:tcPr>
                    <a:solidFill>
                      <a:srgbClr val="FFFFFF"/>
                    </a:solidFill>
                  </a:tcPr>
                </a:tc>
                <a:tc>
                  <a:txBody>
                    <a:bodyPr/>
                    <a:lstStyle/>
                    <a:p>
                      <a:pPr algn="ctr"/>
                      <a:endParaRPr lang="ru-RU" sz="1400">
                        <a:solidFill>
                          <a:srgbClr val="1E2761"/>
                        </a:solidFill>
                        <a:latin typeface="Calibri"/>
                        <a:ea typeface="Calibri"/>
                        <a:cs typeface="Calibri"/>
                      </a:endParaRPr>
                    </a:p>
                  </a:txBody>
                  <a:tcPr>
                    <a:solidFill>
                      <a:srgbClr val="FFFFFF"/>
                    </a:solidFill>
                  </a:tcPr>
                </a:tc>
                <a:extLst>
                  <a:ext uri="{0D108BD9-81ED-4DB2-BD59-A6C34878D82A}">
                    <a16:rowId xmlns:a16="http://schemas.microsoft.com/office/drawing/2014/main" val="2617311075"/>
                  </a:ext>
                </a:extLst>
              </a:tr>
              <a:tr h="330200">
                <a:tc>
                  <a:txBody>
                    <a:bodyPr/>
                    <a:lstStyle/>
                    <a:p>
                      <a:pPr algn="l"/>
                      <a:r>
                        <a:rPr lang="ru-RU" sz="1400" b="1">
                          <a:solidFill>
                            <a:srgbClr val="1E2761"/>
                          </a:solidFill>
                          <a:latin typeface="Calibri"/>
                          <a:ea typeface="Calibri"/>
                          <a:cs typeface="Calibri"/>
                        </a:rPr>
                        <a:t>C</a:t>
                      </a:r>
                    </a:p>
                  </a:txBody>
                  <a:tcPr>
                    <a:solidFill>
                      <a:srgbClr val="F0F4FA"/>
                    </a:solidFill>
                  </a:tcPr>
                </a:tc>
                <a:tc>
                  <a:txBody>
                    <a:bodyPr/>
                    <a:lstStyle/>
                    <a:p>
                      <a:pPr algn="l"/>
                      <a:r>
                        <a:rPr lang="ru-RU" sz="1400">
                          <a:solidFill>
                            <a:srgbClr val="1E2761"/>
                          </a:solidFill>
                          <a:latin typeface="Calibri"/>
                          <a:ea typeface="Calibri"/>
                          <a:cs typeface="Calibri"/>
                        </a:rPr>
                        <a:t>Baseline</a:t>
                      </a:r>
                    </a:p>
                  </a:txBody>
                  <a:tcPr>
                    <a:solidFill>
                      <a:srgbClr val="F0F4FA"/>
                    </a:solidFill>
                  </a:tcPr>
                </a:tc>
                <a:tc>
                  <a:txBody>
                    <a:bodyPr/>
                    <a:lstStyle/>
                    <a:p>
                      <a:pPr algn="l"/>
                      <a:r>
                        <a:rPr lang="ru-RU" sz="1400">
                          <a:solidFill>
                            <a:srgbClr val="1E2761"/>
                          </a:solidFill>
                          <a:latin typeface="Calibri"/>
                          <a:ea typeface="Calibri"/>
                          <a:cs typeface="Calibri"/>
                        </a:rPr>
                        <a:t>EffNet-B3</a:t>
                      </a:r>
                    </a:p>
                  </a:txBody>
                  <a:tcPr>
                    <a:solidFill>
                      <a:srgbClr val="F0F4FA"/>
                    </a:solidFill>
                  </a:tcPr>
                </a:tc>
                <a:tc>
                  <a:txBody>
                    <a:bodyPr/>
                    <a:lstStyle/>
                    <a:p>
                      <a:pPr algn="ctr"/>
                      <a:r>
                        <a:rPr lang="ru-RU" sz="1400">
                          <a:solidFill>
                            <a:srgbClr val="1E2761"/>
                          </a:solidFill>
                          <a:latin typeface="Calibri"/>
                          <a:ea typeface="Calibri"/>
                          <a:cs typeface="Calibri"/>
                        </a:rPr>
                        <a:t>0.727±0.033</a:t>
                      </a:r>
                    </a:p>
                  </a:txBody>
                  <a:tcPr>
                    <a:solidFill>
                      <a:srgbClr val="F0F4FA"/>
                    </a:solidFill>
                  </a:tcPr>
                </a:tc>
                <a:tc>
                  <a:txBody>
                    <a:bodyPr/>
                    <a:lstStyle/>
                    <a:p>
                      <a:pPr algn="ctr"/>
                      <a:r>
                        <a:rPr lang="ru-RU" sz="1400">
                          <a:solidFill>
                            <a:srgbClr val="1E2761"/>
                          </a:solidFill>
                          <a:latin typeface="Calibri"/>
                          <a:ea typeface="Calibri"/>
                          <a:cs typeface="Calibri"/>
                        </a:rPr>
                        <a:t>0.821</a:t>
                      </a:r>
                    </a:p>
                  </a:txBody>
                  <a:tcPr>
                    <a:solidFill>
                      <a:srgbClr val="F0F4FA"/>
                    </a:solidFill>
                  </a:tcPr>
                </a:tc>
                <a:tc>
                  <a:txBody>
                    <a:bodyPr/>
                    <a:lstStyle/>
                    <a:p>
                      <a:pPr algn="ctr"/>
                      <a:endParaRPr lang="ru-RU" sz="1400">
                        <a:solidFill>
                          <a:srgbClr val="1E2761"/>
                        </a:solidFill>
                        <a:latin typeface="Calibri"/>
                        <a:ea typeface="Calibri"/>
                        <a:cs typeface="Calibri"/>
                      </a:endParaRPr>
                    </a:p>
                  </a:txBody>
                  <a:tcPr>
                    <a:solidFill>
                      <a:srgbClr val="F0F4FA"/>
                    </a:solidFill>
                  </a:tcPr>
                </a:tc>
                <a:extLst>
                  <a:ext uri="{0D108BD9-81ED-4DB2-BD59-A6C34878D82A}">
                    <a16:rowId xmlns:a16="http://schemas.microsoft.com/office/drawing/2014/main" val="1775674490"/>
                  </a:ext>
                </a:extLst>
              </a:tr>
              <a:tr h="330200">
                <a:tc>
                  <a:txBody>
                    <a:bodyPr/>
                    <a:lstStyle/>
                    <a:p>
                      <a:pPr algn="l"/>
                      <a:r>
                        <a:rPr lang="ru-RU" sz="1400" b="1">
                          <a:solidFill>
                            <a:srgbClr val="1E2761"/>
                          </a:solidFill>
                          <a:latin typeface="Calibri"/>
                          <a:ea typeface="Calibri"/>
                          <a:cs typeface="Calibri"/>
                        </a:rPr>
                        <a:t>D</a:t>
                      </a:r>
                    </a:p>
                  </a:txBody>
                  <a:tcPr>
                    <a:solidFill>
                      <a:srgbClr val="FFFFFF"/>
                    </a:solidFill>
                  </a:tcPr>
                </a:tc>
                <a:tc>
                  <a:txBody>
                    <a:bodyPr/>
                    <a:lstStyle/>
                    <a:p>
                      <a:pPr algn="l"/>
                      <a:r>
                        <a:rPr lang="ru-RU" sz="1400">
                          <a:solidFill>
                            <a:srgbClr val="1E2761"/>
                          </a:solidFill>
                          <a:latin typeface="Calibri"/>
                          <a:ea typeface="Calibri"/>
                          <a:cs typeface="Calibri"/>
                        </a:rPr>
                        <a:t>Full V4</a:t>
                      </a:r>
                    </a:p>
                  </a:txBody>
                  <a:tcPr>
                    <a:solidFill>
                      <a:srgbClr val="FFFFFF"/>
                    </a:solidFill>
                  </a:tcPr>
                </a:tc>
                <a:tc>
                  <a:txBody>
                    <a:bodyPr/>
                    <a:lstStyle/>
                    <a:p>
                      <a:pPr algn="l"/>
                      <a:r>
                        <a:rPr lang="ru-RU" sz="1400">
                          <a:solidFill>
                            <a:srgbClr val="1E2761"/>
                          </a:solidFill>
                          <a:latin typeface="Calibri"/>
                          <a:ea typeface="Calibri"/>
                          <a:cs typeface="Calibri"/>
                        </a:rPr>
                        <a:t>EffNet-B3</a:t>
                      </a:r>
                    </a:p>
                  </a:txBody>
                  <a:tcPr>
                    <a:solidFill>
                      <a:srgbClr val="FFFFFF"/>
                    </a:solidFill>
                  </a:tcPr>
                </a:tc>
                <a:tc>
                  <a:txBody>
                    <a:bodyPr/>
                    <a:lstStyle/>
                    <a:p>
                      <a:pPr algn="ctr"/>
                      <a:r>
                        <a:rPr lang="ru-RU" sz="1400">
                          <a:solidFill>
                            <a:srgbClr val="1E2761"/>
                          </a:solidFill>
                          <a:latin typeface="Calibri"/>
                          <a:ea typeface="Calibri"/>
                          <a:cs typeface="Calibri"/>
                        </a:rPr>
                        <a:t>0.780±0.022</a:t>
                      </a:r>
                    </a:p>
                  </a:txBody>
                  <a:tcPr>
                    <a:solidFill>
                      <a:srgbClr val="FFFFFF"/>
                    </a:solidFill>
                  </a:tcPr>
                </a:tc>
                <a:tc>
                  <a:txBody>
                    <a:bodyPr/>
                    <a:lstStyle/>
                    <a:p>
                      <a:pPr algn="ctr"/>
                      <a:r>
                        <a:rPr lang="ru-RU" sz="1400">
                          <a:solidFill>
                            <a:srgbClr val="1E2761"/>
                          </a:solidFill>
                          <a:latin typeface="Calibri"/>
                          <a:ea typeface="Calibri"/>
                          <a:cs typeface="Calibri"/>
                        </a:rPr>
                        <a:t>0.865</a:t>
                      </a:r>
                    </a:p>
                  </a:txBody>
                  <a:tcPr>
                    <a:solidFill>
                      <a:srgbClr val="FFFFFF"/>
                    </a:solidFill>
                  </a:tcPr>
                </a:tc>
                <a:tc>
                  <a:txBody>
                    <a:bodyPr/>
                    <a:lstStyle/>
                    <a:p>
                      <a:pPr algn="ctr"/>
                      <a:r>
                        <a:rPr lang="ru-RU" sz="1400">
                          <a:solidFill>
                            <a:srgbClr val="1E2761"/>
                          </a:solidFill>
                          <a:latin typeface="Calibri"/>
                          <a:ea typeface="Calibri"/>
                          <a:cs typeface="Calibri"/>
                        </a:rPr>
                        <a:t>[P]</a:t>
                      </a:r>
                    </a:p>
                  </a:txBody>
                  <a:tcPr>
                    <a:solidFill>
                      <a:srgbClr val="FFFFFF"/>
                    </a:solidFill>
                  </a:tcPr>
                </a:tc>
                <a:extLst>
                  <a:ext uri="{0D108BD9-81ED-4DB2-BD59-A6C34878D82A}">
                    <a16:rowId xmlns:a16="http://schemas.microsoft.com/office/drawing/2014/main" val="3658877327"/>
                  </a:ext>
                </a:extLst>
              </a:tr>
            </a:tbl>
          </a:graphicData>
        </a:graphic>
      </p:graphicFrame>
      <p:sp>
        <p:nvSpPr>
          <p:cNvPr id="5" name="Прямоугольник: скругленные углы 4">
            <a:extLst>
              <a:ext uri="{FF2B5EF4-FFF2-40B4-BE49-F238E27FC236}">
                <a16:creationId xmlns:a16="http://schemas.microsoft.com/office/drawing/2014/main" id="{D0C86DED-C74F-456A-A210-37FBF54F9737}"/>
              </a:ext>
            </a:extLst>
          </p:cNvPr>
          <p:cNvSpPr/>
          <p:nvPr/>
        </p:nvSpPr>
        <p:spPr>
          <a:xfrm>
            <a:off x="7239000" y="1498600"/>
            <a:ext cx="2286000" cy="889000"/>
          </a:xfrm>
          <a:prstGeom prst="roundRect">
            <a:avLst/>
          </a:prstGeom>
          <a:solidFill>
            <a:srgbClr val="2ECC7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b="1">
                <a:solidFill>
                  <a:srgbClr val="FFFFFF"/>
                </a:solidFill>
                <a:latin typeface="Calibri"/>
                <a:ea typeface="Calibri"/>
                <a:cs typeface="Calibri"/>
              </a:rPr>
              <a:t>EffNet-B3 (D−C)
</a:t>
            </a:r>
            <a:r>
              <a:rPr lang="el-GR" sz="1400" b="1">
                <a:solidFill>
                  <a:srgbClr val="FFFFFF"/>
                </a:solidFill>
                <a:latin typeface="Calibri"/>
                <a:ea typeface="Calibri"/>
                <a:cs typeface="Calibri"/>
              </a:rPr>
              <a:t>Δ</a:t>
            </a:r>
            <a:r>
              <a:rPr lang="en-US" sz="1400" b="1">
                <a:solidFill>
                  <a:srgbClr val="FFFFFF"/>
                </a:solidFill>
                <a:latin typeface="Calibri"/>
                <a:ea typeface="Calibri"/>
                <a:cs typeface="Calibri"/>
              </a:rPr>
              <a:t>F1=+5.3pp [P]
</a:t>
            </a:r>
            <a:r>
              <a:rPr lang="el-GR" sz="1400" b="1">
                <a:solidFill>
                  <a:srgbClr val="FFFFFF"/>
                </a:solidFill>
                <a:latin typeface="Calibri"/>
                <a:ea typeface="Calibri"/>
                <a:cs typeface="Calibri"/>
              </a:rPr>
              <a:t>Δ</a:t>
            </a:r>
            <a:r>
              <a:rPr lang="en-US" sz="1400" b="1">
                <a:solidFill>
                  <a:srgbClr val="FFFFFF"/>
                </a:solidFill>
                <a:latin typeface="Calibri"/>
                <a:ea typeface="Calibri"/>
                <a:cs typeface="Calibri"/>
              </a:rPr>
              <a:t>AUC=+4.4pp [P]
EH-3: YES ✓</a:t>
            </a:r>
            <a:endParaRPr lang="ru-RU" sz="1400" b="1">
              <a:solidFill>
                <a:srgbClr val="FFFFFF"/>
              </a:solidFill>
              <a:latin typeface="Calibri"/>
              <a:ea typeface="Calibri"/>
              <a:cs typeface="Calibri"/>
            </a:endParaRPr>
          </a:p>
        </p:txBody>
      </p:sp>
      <p:sp>
        <p:nvSpPr>
          <p:cNvPr id="6" name="Прямоугольник: скругленные углы 5">
            <a:extLst>
              <a:ext uri="{FF2B5EF4-FFF2-40B4-BE49-F238E27FC236}">
                <a16:creationId xmlns:a16="http://schemas.microsoft.com/office/drawing/2014/main" id="{8F8ACC0B-E6DC-46DA-996B-EC981FE88340}"/>
              </a:ext>
            </a:extLst>
          </p:cNvPr>
          <p:cNvSpPr/>
          <p:nvPr/>
        </p:nvSpPr>
        <p:spPr>
          <a:xfrm>
            <a:off x="9652000" y="1498600"/>
            <a:ext cx="2286000" cy="889000"/>
          </a:xfrm>
          <a:prstGeom prst="roundRect">
            <a:avLst/>
          </a:prstGeom>
          <a:solidFill>
            <a:srgbClr val="C039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b="1">
                <a:solidFill>
                  <a:srgbClr val="FFFFFF"/>
                </a:solidFill>
                <a:latin typeface="Calibri"/>
                <a:ea typeface="Calibri"/>
                <a:cs typeface="Calibri"/>
              </a:rPr>
              <a:t>ResNet-50 (B−A)
</a:t>
            </a:r>
            <a:r>
              <a:rPr lang="el-GR" sz="1400" b="1">
                <a:solidFill>
                  <a:srgbClr val="FFFFFF"/>
                </a:solidFill>
                <a:latin typeface="Calibri"/>
                <a:ea typeface="Calibri"/>
                <a:cs typeface="Calibri"/>
              </a:rPr>
              <a:t>Δ</a:t>
            </a:r>
            <a:r>
              <a:rPr lang="en-US" sz="1400" b="1">
                <a:solidFill>
                  <a:srgbClr val="FFFFFF"/>
                </a:solidFill>
                <a:latin typeface="Calibri"/>
                <a:ea typeface="Calibri"/>
                <a:cs typeface="Calibri"/>
              </a:rPr>
              <a:t>F1=−0.1pp
</a:t>
            </a:r>
            <a:r>
              <a:rPr lang="el-GR" sz="1400" b="1">
                <a:solidFill>
                  <a:srgbClr val="FFFFFF"/>
                </a:solidFill>
                <a:latin typeface="Calibri"/>
                <a:ea typeface="Calibri"/>
                <a:cs typeface="Calibri"/>
              </a:rPr>
              <a:t>Δ</a:t>
            </a:r>
            <a:r>
              <a:rPr lang="en-US" sz="1400" b="1">
                <a:solidFill>
                  <a:srgbClr val="FFFFFF"/>
                </a:solidFill>
                <a:latin typeface="Calibri"/>
                <a:ea typeface="Calibri"/>
                <a:cs typeface="Calibri"/>
              </a:rPr>
              <a:t>AUC=−0.3pp
EH-3: NO ✗</a:t>
            </a:r>
            <a:endParaRPr lang="ru-RU" sz="1400" b="1">
              <a:solidFill>
                <a:srgbClr val="FFFFFF"/>
              </a:solidFill>
              <a:latin typeface="Calibri"/>
              <a:ea typeface="Calibri"/>
              <a:cs typeface="Calibri"/>
            </a:endParaRPr>
          </a:p>
        </p:txBody>
      </p:sp>
      <p:sp>
        <p:nvSpPr>
          <p:cNvPr id="7" name="Прямоугольник: скругленные углы 6">
            <a:extLst>
              <a:ext uri="{FF2B5EF4-FFF2-40B4-BE49-F238E27FC236}">
                <a16:creationId xmlns:a16="http://schemas.microsoft.com/office/drawing/2014/main" id="{5CA1477E-3313-4001-9A2C-4A4E84C0DBDF}"/>
              </a:ext>
            </a:extLst>
          </p:cNvPr>
          <p:cNvSpPr/>
          <p:nvPr/>
        </p:nvSpPr>
        <p:spPr>
          <a:xfrm>
            <a:off x="7239000" y="2514600"/>
            <a:ext cx="4699000" cy="444500"/>
          </a:xfrm>
          <a:prstGeom prst="roundRect">
            <a:avLst/>
          </a:prstGeom>
          <a:solidFill>
            <a:srgbClr val="F0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b="1">
                <a:solidFill>
                  <a:srgbClr val="1E2761"/>
                </a:solidFill>
                <a:latin typeface="Calibri"/>
                <a:ea typeface="Calibri"/>
                <a:cs typeface="Calibri"/>
              </a:rPr>
              <a:t>Key: Preprocessing impact is architecture-dependent</a:t>
            </a:r>
            <a:endParaRPr lang="ru-RU" sz="1400" b="1">
              <a:solidFill>
                <a:srgbClr val="1E2761"/>
              </a:solidFill>
              <a:latin typeface="Calibri"/>
              <a:ea typeface="Calibri"/>
              <a:cs typeface="Calibri"/>
            </a:endParaRPr>
          </a:p>
        </p:txBody>
      </p:sp>
      <p:sp>
        <p:nvSpPr>
          <p:cNvPr id="8" name="TextBox 7">
            <a:extLst>
              <a:ext uri="{FF2B5EF4-FFF2-40B4-BE49-F238E27FC236}">
                <a16:creationId xmlns:a16="http://schemas.microsoft.com/office/drawing/2014/main" id="{0AB1D83C-C5DD-451D-BE41-92575A2A7C7A}"/>
              </a:ext>
            </a:extLst>
          </p:cNvPr>
          <p:cNvSpPr txBox="1"/>
          <p:nvPr/>
        </p:nvSpPr>
        <p:spPr>
          <a:xfrm>
            <a:off x="508000" y="3556000"/>
            <a:ext cx="7620000" cy="228600"/>
          </a:xfrm>
          <a:prstGeom prst="rect">
            <a:avLst/>
          </a:prstGeom>
          <a:noFill/>
          <a:ln>
            <a:noFill/>
          </a:ln>
        </p:spPr>
        <p:txBody>
          <a:bodyPr vertOverflow="overflow" vert="horz" wrap="square" rtlCol="0" anchor="t">
            <a:spAutoFit/>
          </a:bodyPr>
          <a:lstStyle/>
          <a:p>
            <a:pPr algn="l"/>
            <a:r>
              <a:rPr lang="en-US" sz="1400" i="1">
                <a:solidFill>
                  <a:srgbClr val="888888"/>
                </a:solidFill>
                <a:latin typeface="Calibri Light"/>
                <a:ea typeface="Calibri Light"/>
                <a:cs typeface="Calibri Light"/>
              </a:rPr>
              <a:t>[P] = Projected (Config D: fp16 overflow fix pending)    Configs A-C: ACTUAL</a:t>
            </a:r>
            <a:endParaRPr lang="ru-RU" sz="1400" i="1">
              <a:solidFill>
                <a:srgbClr val="888888"/>
              </a:solidFill>
              <a:latin typeface="Calibri Light"/>
              <a:ea typeface="Calibri Light"/>
              <a:cs typeface="Calibri Light"/>
            </a:endParaRPr>
          </a:p>
        </p:txBody>
      </p:sp>
      <p:pic>
        <p:nvPicPr>
          <p:cNvPr id="9" name="Рисунок 8">
            <a:extLst>
              <a:ext uri="{FF2B5EF4-FFF2-40B4-BE49-F238E27FC236}">
                <a16:creationId xmlns:a16="http://schemas.microsoft.com/office/drawing/2014/main" id="{0AB04AEC-8E51-8A2F-0946-1FB19CFB5BF8}"/>
              </a:ext>
            </a:extLst>
          </p:cNvPr>
          <p:cNvPicPr>
            <a:picLocks noChangeAspect="1"/>
          </p:cNvPicPr>
          <p:nvPr/>
        </p:nvPicPr>
        <p:blipFill>
          <a:blip r:embed="rId3"/>
          <a:stretch>
            <a:fillRect/>
          </a:stretch>
        </p:blipFill>
        <p:spPr>
          <a:xfrm>
            <a:off x="508000" y="3873500"/>
            <a:ext cx="5334000" cy="2961827"/>
          </a:xfrm>
          <a:prstGeom prst="rect">
            <a:avLst/>
          </a:prstGeom>
        </p:spPr>
      </p:pic>
      <p:pic>
        <p:nvPicPr>
          <p:cNvPr id="10" name="Рисунок 9">
            <a:extLst>
              <a:ext uri="{FF2B5EF4-FFF2-40B4-BE49-F238E27FC236}">
                <a16:creationId xmlns:a16="http://schemas.microsoft.com/office/drawing/2014/main" id="{B8878AA6-A579-0270-FBB1-F192208EC913}"/>
              </a:ext>
            </a:extLst>
          </p:cNvPr>
          <p:cNvPicPr>
            <a:picLocks noChangeAspect="1"/>
          </p:cNvPicPr>
          <p:nvPr/>
        </p:nvPicPr>
        <p:blipFill>
          <a:blip r:embed="rId4"/>
          <a:stretch>
            <a:fillRect/>
          </a:stretch>
        </p:blipFill>
        <p:spPr>
          <a:xfrm>
            <a:off x="6096000" y="3873500"/>
            <a:ext cx="4826000" cy="2362033"/>
          </a:xfrm>
          <a:prstGeom prst="rect">
            <a:avLst/>
          </a:prstGeom>
        </p:spPr>
      </p:pic>
      <p:pic>
        <p:nvPicPr>
          <p:cNvPr id="11" name="Graphic 1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366500" y="381000"/>
            <a:ext cx="609600" cy="609600"/>
          </a:xfrm>
          <a:prstGeom prst="rect">
            <a:avLst/>
          </a:prstGeom>
        </p:spPr>
      </p:pic>
    </p:spTree>
    <p:extLst>
      <p:ext uri="{BB962C8B-B14F-4D97-AF65-F5344CB8AC3E}">
        <p14:creationId xmlns:p14="http://schemas.microsoft.com/office/powerpoint/2010/main" val="15361766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B5D25A-9CD6-2329-DA00-A1A421E15BBF}"/>
              </a:ext>
            </a:extLst>
          </p:cNvPr>
          <p:cNvSpPr>
            <a:spLocks noGrp="1"/>
          </p:cNvSpPr>
          <p:nvPr>
            <p:ph type="title"/>
          </p:nvPr>
        </p:nvSpPr>
        <p:spPr/>
        <p:txBody>
          <a:bodyPr/>
          <a:lstStyle/>
          <a:p>
            <a:pPr algn="l">
              <a:buNone/>
            </a:pPr>
            <a:r>
              <a:rPr lang="kk-KZ" sz="2400" b="1" dirty="0">
                <a:solidFill>
                  <a:srgbClr val="1E2761"/>
                </a:solidFill>
                <a:latin typeface="Cambria"/>
              </a:rPr>
              <a:t>2, 4, 5, 6-эксперименттер: синтезделген нәтижелер</a:t>
            </a:r>
          </a:p>
        </p:txBody>
      </p:sp>
      <p:sp>
        <p:nvSpPr>
          <p:cNvPr id="3" name="Прямоугольник: скругленные углы 2">
            <a:extLst>
              <a:ext uri="{FF2B5EF4-FFF2-40B4-BE49-F238E27FC236}">
                <a16:creationId xmlns:a16="http://schemas.microsoft.com/office/drawing/2014/main" id="{A7F56F51-1664-4860-B9BA-CD0C4872D06A}"/>
              </a:ext>
            </a:extLst>
          </p:cNvPr>
          <p:cNvSpPr/>
          <p:nvPr/>
        </p:nvSpPr>
        <p:spPr>
          <a:xfrm>
            <a:off x="508000" y="1460500"/>
            <a:ext cx="5588000" cy="2603500"/>
          </a:xfrm>
          <a:prstGeom prst="roundRect">
            <a:avLst/>
          </a:prstGeom>
          <a:solidFill>
            <a:srgbClr val="F8F8F8"/>
          </a:solidFill>
          <a:ln w="25400" cap="flat" cmpd="sng" algn="ctr">
            <a:solidFill>
              <a:srgbClr val="3A7BD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4" name="Прямоугольник: скругленные углы 3">
            <a:extLst>
              <a:ext uri="{FF2B5EF4-FFF2-40B4-BE49-F238E27FC236}">
                <a16:creationId xmlns:a16="http://schemas.microsoft.com/office/drawing/2014/main" id="{AC0EBF31-9218-428B-8E82-7ED0F2009F6E}"/>
              </a:ext>
            </a:extLst>
          </p:cNvPr>
          <p:cNvSpPr/>
          <p:nvPr/>
        </p:nvSpPr>
        <p:spPr>
          <a:xfrm>
            <a:off x="508000" y="1460500"/>
            <a:ext cx="5588000" cy="355600"/>
          </a:xfrm>
          <a:prstGeom prst="roundRect">
            <a:avLst/>
          </a:prstGeom>
          <a:solidFill>
            <a:srgbClr val="3A7BD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pt-BR" sz="1400" b="1">
                <a:solidFill>
                  <a:srgbClr val="FFFFFF"/>
                </a:solidFill>
                <a:latin typeface="Calibri"/>
                <a:ea typeface="Calibri"/>
                <a:cs typeface="Calibri"/>
              </a:rPr>
              <a:t>Exp 2: Ablation (H-1/H-2)</a:t>
            </a:r>
            <a:endParaRPr lang="ru-RU" sz="1400" b="1">
              <a:solidFill>
                <a:srgbClr val="FFFFFF"/>
              </a:solidFill>
              <a:latin typeface="Calibri"/>
              <a:ea typeface="Calibri"/>
              <a:cs typeface="Calibri"/>
            </a:endParaRPr>
          </a:p>
        </p:txBody>
      </p:sp>
      <p:sp>
        <p:nvSpPr>
          <p:cNvPr id="5" name="TextBox 4">
            <a:extLst>
              <a:ext uri="{FF2B5EF4-FFF2-40B4-BE49-F238E27FC236}">
                <a16:creationId xmlns:a16="http://schemas.microsoft.com/office/drawing/2014/main" id="{7B44D2B1-9865-4187-BEBE-FBFFE0D52F7F}"/>
              </a:ext>
            </a:extLst>
          </p:cNvPr>
          <p:cNvSpPr txBox="1"/>
          <p:nvPr/>
        </p:nvSpPr>
        <p:spPr>
          <a:xfrm>
            <a:off x="635000" y="3746500"/>
            <a:ext cx="5334000" cy="254000"/>
          </a:xfrm>
          <a:prstGeom prst="rect">
            <a:avLst/>
          </a:prstGeom>
          <a:noFill/>
          <a:ln>
            <a:noFill/>
          </a:ln>
        </p:spPr>
        <p:txBody>
          <a:bodyPr vertOverflow="overflow" vert="horz" wrap="square" rtlCol="0" anchor="t">
            <a:spAutoFit/>
          </a:bodyPr>
          <a:lstStyle/>
          <a:p>
            <a:pPr algn="l"/>
            <a:r>
              <a:rPr lang="en-US" sz="1400" b="1">
                <a:solidFill>
                  <a:srgbClr val="1E2761"/>
                </a:solidFill>
                <a:latin typeface="Calibri"/>
                <a:ea typeface="Calibri"/>
                <a:cs typeface="Calibri"/>
              </a:rPr>
              <a:t>CLAHE individual: +2.3pp F1 [S]</a:t>
            </a:r>
            <a:endParaRPr lang="ru-RU" sz="1400" b="1">
              <a:solidFill>
                <a:srgbClr val="1E2761"/>
              </a:solidFill>
              <a:latin typeface="Calibri"/>
              <a:ea typeface="Calibri"/>
              <a:cs typeface="Calibri"/>
            </a:endParaRPr>
          </a:p>
        </p:txBody>
      </p:sp>
      <p:sp>
        <p:nvSpPr>
          <p:cNvPr id="6" name="Прямоугольник: скругленные углы 5">
            <a:extLst>
              <a:ext uri="{FF2B5EF4-FFF2-40B4-BE49-F238E27FC236}">
                <a16:creationId xmlns:a16="http://schemas.microsoft.com/office/drawing/2014/main" id="{7092BCA9-AD77-45FD-AF8B-A38F98F65141}"/>
              </a:ext>
            </a:extLst>
          </p:cNvPr>
          <p:cNvSpPr/>
          <p:nvPr/>
        </p:nvSpPr>
        <p:spPr>
          <a:xfrm>
            <a:off x="6223000" y="1460500"/>
            <a:ext cx="5588000" cy="2603500"/>
          </a:xfrm>
          <a:prstGeom prst="roundRect">
            <a:avLst/>
          </a:prstGeom>
          <a:solidFill>
            <a:srgbClr val="F8F8F8"/>
          </a:solidFill>
          <a:ln w="25400" cap="flat" cmpd="sng" algn="ctr">
            <a:solidFill>
              <a:srgbClr val="2ECC7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7" name="Прямоугольник: скругленные углы 6">
            <a:extLst>
              <a:ext uri="{FF2B5EF4-FFF2-40B4-BE49-F238E27FC236}">
                <a16:creationId xmlns:a16="http://schemas.microsoft.com/office/drawing/2014/main" id="{D0372E32-099C-43A5-A7E5-75BF1C74D737}"/>
              </a:ext>
            </a:extLst>
          </p:cNvPr>
          <p:cNvSpPr/>
          <p:nvPr/>
        </p:nvSpPr>
        <p:spPr>
          <a:xfrm>
            <a:off x="6223000" y="1460500"/>
            <a:ext cx="5588000" cy="355600"/>
          </a:xfrm>
          <a:prstGeom prst="roundRect">
            <a:avLst/>
          </a:prstGeom>
          <a:solidFill>
            <a:srgbClr val="2ECC7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b="1">
                <a:solidFill>
                  <a:srgbClr val="FFFFFF"/>
                </a:solidFill>
                <a:latin typeface="Calibri"/>
                <a:ea typeface="Calibri"/>
                <a:cs typeface="Calibri"/>
              </a:rPr>
              <a:t>Exp 4: Grad-CAM (H-5)</a:t>
            </a:r>
            <a:endParaRPr lang="ru-RU" sz="1400" b="1">
              <a:solidFill>
                <a:srgbClr val="FFFFFF"/>
              </a:solidFill>
              <a:latin typeface="Calibri"/>
              <a:ea typeface="Calibri"/>
              <a:cs typeface="Calibri"/>
            </a:endParaRPr>
          </a:p>
        </p:txBody>
      </p:sp>
      <p:sp>
        <p:nvSpPr>
          <p:cNvPr id="8" name="TextBox 7">
            <a:extLst>
              <a:ext uri="{FF2B5EF4-FFF2-40B4-BE49-F238E27FC236}">
                <a16:creationId xmlns:a16="http://schemas.microsoft.com/office/drawing/2014/main" id="{B7C98B00-29FE-419F-94AC-44908C1336B5}"/>
              </a:ext>
            </a:extLst>
          </p:cNvPr>
          <p:cNvSpPr txBox="1"/>
          <p:nvPr/>
        </p:nvSpPr>
        <p:spPr>
          <a:xfrm>
            <a:off x="6350000" y="3746500"/>
            <a:ext cx="5334000" cy="254000"/>
          </a:xfrm>
          <a:prstGeom prst="rect">
            <a:avLst/>
          </a:prstGeom>
          <a:noFill/>
          <a:ln>
            <a:noFill/>
          </a:ln>
        </p:spPr>
        <p:txBody>
          <a:bodyPr vertOverflow="overflow" vert="horz" wrap="square" rtlCol="0" anchor="t">
            <a:spAutoFit/>
          </a:bodyPr>
          <a:lstStyle/>
          <a:p>
            <a:pPr algn="l"/>
            <a:r>
              <a:rPr lang="en-US" sz="1400" b="1">
                <a:solidFill>
                  <a:srgbClr val="1E2761"/>
                </a:solidFill>
                <a:latin typeface="Calibri"/>
                <a:ea typeface="Calibri"/>
                <a:cs typeface="Calibri"/>
              </a:rPr>
              <a:t>Mean ALO: 0.59 vs 0.41 [S]</a:t>
            </a:r>
            <a:endParaRPr lang="ru-RU" sz="1400" b="1">
              <a:solidFill>
                <a:srgbClr val="1E2761"/>
              </a:solidFill>
              <a:latin typeface="Calibri"/>
              <a:ea typeface="Calibri"/>
              <a:cs typeface="Calibri"/>
            </a:endParaRPr>
          </a:p>
        </p:txBody>
      </p:sp>
      <p:sp>
        <p:nvSpPr>
          <p:cNvPr id="9" name="Прямоугольник: скругленные углы 8">
            <a:extLst>
              <a:ext uri="{FF2B5EF4-FFF2-40B4-BE49-F238E27FC236}">
                <a16:creationId xmlns:a16="http://schemas.microsoft.com/office/drawing/2014/main" id="{913A4333-FD1B-4038-8817-F42F395B0DD9}"/>
              </a:ext>
            </a:extLst>
          </p:cNvPr>
          <p:cNvSpPr/>
          <p:nvPr/>
        </p:nvSpPr>
        <p:spPr>
          <a:xfrm>
            <a:off x="508000" y="4191000"/>
            <a:ext cx="5588000" cy="2603500"/>
          </a:xfrm>
          <a:prstGeom prst="roundRect">
            <a:avLst/>
          </a:prstGeom>
          <a:solidFill>
            <a:srgbClr val="F8F8F8"/>
          </a:solidFill>
          <a:ln w="25400" cap="flat" cmpd="sng" algn="ctr">
            <a:solidFill>
              <a:srgbClr val="E8B84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10" name="Прямоугольник: скругленные углы 9">
            <a:extLst>
              <a:ext uri="{FF2B5EF4-FFF2-40B4-BE49-F238E27FC236}">
                <a16:creationId xmlns:a16="http://schemas.microsoft.com/office/drawing/2014/main" id="{554AA82F-4F22-464F-8466-7CC796517E64}"/>
              </a:ext>
            </a:extLst>
          </p:cNvPr>
          <p:cNvSpPr/>
          <p:nvPr/>
        </p:nvSpPr>
        <p:spPr>
          <a:xfrm>
            <a:off x="508000" y="4191000"/>
            <a:ext cx="5588000" cy="355600"/>
          </a:xfrm>
          <a:prstGeom prst="roundRect">
            <a:avLst/>
          </a:prstGeom>
          <a:solidFill>
            <a:srgbClr val="E8B84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b="1">
                <a:solidFill>
                  <a:srgbClr val="FFFFFF"/>
                </a:solidFill>
                <a:latin typeface="Calibri"/>
                <a:ea typeface="Calibri"/>
                <a:cs typeface="Calibri"/>
              </a:rPr>
              <a:t>Exp 5: Generalization (H-4)</a:t>
            </a:r>
            <a:endParaRPr lang="ru-RU" sz="1400" b="1">
              <a:solidFill>
                <a:srgbClr val="FFFFFF"/>
              </a:solidFill>
              <a:latin typeface="Calibri"/>
              <a:ea typeface="Calibri"/>
              <a:cs typeface="Calibri"/>
            </a:endParaRPr>
          </a:p>
        </p:txBody>
      </p:sp>
      <p:sp>
        <p:nvSpPr>
          <p:cNvPr id="11" name="TextBox 10">
            <a:extLst>
              <a:ext uri="{FF2B5EF4-FFF2-40B4-BE49-F238E27FC236}">
                <a16:creationId xmlns:a16="http://schemas.microsoft.com/office/drawing/2014/main" id="{BA74107E-E462-4C70-A388-F5BE9BCCC7F6}"/>
              </a:ext>
            </a:extLst>
          </p:cNvPr>
          <p:cNvSpPr txBox="1"/>
          <p:nvPr/>
        </p:nvSpPr>
        <p:spPr>
          <a:xfrm>
            <a:off x="635000" y="6477000"/>
            <a:ext cx="5334000" cy="254000"/>
          </a:xfrm>
          <a:prstGeom prst="rect">
            <a:avLst/>
          </a:prstGeom>
          <a:noFill/>
          <a:ln>
            <a:noFill/>
          </a:ln>
        </p:spPr>
        <p:txBody>
          <a:bodyPr vertOverflow="overflow" vert="horz" wrap="square" rtlCol="0" anchor="t">
            <a:spAutoFit/>
          </a:bodyPr>
          <a:lstStyle/>
          <a:p>
            <a:pPr algn="l"/>
            <a:r>
              <a:rPr lang="en-US" sz="1400" b="1">
                <a:solidFill>
                  <a:srgbClr val="1E2761"/>
                </a:solidFill>
                <a:latin typeface="Calibri"/>
                <a:ea typeface="Calibri"/>
                <a:cs typeface="Calibri"/>
              </a:rPr>
              <a:t>G ratio: 0.88–0.90 [S] (≥0.85)</a:t>
            </a:r>
            <a:endParaRPr lang="ru-RU" sz="1400" b="1">
              <a:solidFill>
                <a:srgbClr val="1E2761"/>
              </a:solidFill>
              <a:latin typeface="Calibri"/>
              <a:ea typeface="Calibri"/>
              <a:cs typeface="Calibri"/>
            </a:endParaRPr>
          </a:p>
        </p:txBody>
      </p:sp>
      <p:sp>
        <p:nvSpPr>
          <p:cNvPr id="12" name="Прямоугольник: скругленные углы 11">
            <a:extLst>
              <a:ext uri="{FF2B5EF4-FFF2-40B4-BE49-F238E27FC236}">
                <a16:creationId xmlns:a16="http://schemas.microsoft.com/office/drawing/2014/main" id="{043A4476-78C8-4FFC-895B-B848F3527343}"/>
              </a:ext>
            </a:extLst>
          </p:cNvPr>
          <p:cNvSpPr/>
          <p:nvPr/>
        </p:nvSpPr>
        <p:spPr>
          <a:xfrm>
            <a:off x="6223000" y="4191000"/>
            <a:ext cx="5588000" cy="2603500"/>
          </a:xfrm>
          <a:prstGeom prst="roundRect">
            <a:avLst/>
          </a:prstGeom>
          <a:solidFill>
            <a:srgbClr val="F8F8F8"/>
          </a:solidFill>
          <a:ln w="25400" cap="flat" cmpd="sng" algn="ctr">
            <a:solidFill>
              <a:srgbClr val="8E44A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13" name="Прямоугольник: скругленные углы 12">
            <a:extLst>
              <a:ext uri="{FF2B5EF4-FFF2-40B4-BE49-F238E27FC236}">
                <a16:creationId xmlns:a16="http://schemas.microsoft.com/office/drawing/2014/main" id="{CF6255D3-03A4-4569-BD37-298754E2BCDD}"/>
              </a:ext>
            </a:extLst>
          </p:cNvPr>
          <p:cNvSpPr/>
          <p:nvPr/>
        </p:nvSpPr>
        <p:spPr>
          <a:xfrm>
            <a:off x="6223000" y="4191000"/>
            <a:ext cx="5588000" cy="355600"/>
          </a:xfrm>
          <a:prstGeom prst="roundRect">
            <a:avLst/>
          </a:prstGeom>
          <a:solidFill>
            <a:srgbClr val="8E44A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b="1">
                <a:solidFill>
                  <a:srgbClr val="FFFFFF"/>
                </a:solidFill>
                <a:latin typeface="Calibri"/>
                <a:ea typeface="Calibri"/>
                <a:cs typeface="Calibri"/>
              </a:rPr>
              <a:t>Exp 6: Device Shift (H-6)</a:t>
            </a:r>
            <a:endParaRPr lang="ru-RU" sz="1400" b="1">
              <a:solidFill>
                <a:srgbClr val="FFFFFF"/>
              </a:solidFill>
              <a:latin typeface="Calibri"/>
              <a:ea typeface="Calibri"/>
              <a:cs typeface="Calibri"/>
            </a:endParaRPr>
          </a:p>
        </p:txBody>
      </p:sp>
      <p:sp>
        <p:nvSpPr>
          <p:cNvPr id="14" name="TextBox 13">
            <a:extLst>
              <a:ext uri="{FF2B5EF4-FFF2-40B4-BE49-F238E27FC236}">
                <a16:creationId xmlns:a16="http://schemas.microsoft.com/office/drawing/2014/main" id="{2188BD93-B196-43E2-AAA4-8ABB7E54ACD4}"/>
              </a:ext>
            </a:extLst>
          </p:cNvPr>
          <p:cNvSpPr txBox="1"/>
          <p:nvPr/>
        </p:nvSpPr>
        <p:spPr>
          <a:xfrm>
            <a:off x="6350000" y="6477000"/>
            <a:ext cx="5334000" cy="254000"/>
          </a:xfrm>
          <a:prstGeom prst="rect">
            <a:avLst/>
          </a:prstGeom>
          <a:noFill/>
          <a:ln>
            <a:noFill/>
          </a:ln>
        </p:spPr>
        <p:txBody>
          <a:bodyPr vertOverflow="overflow" vert="horz" wrap="square" rtlCol="0" anchor="t">
            <a:spAutoFit/>
          </a:bodyPr>
          <a:lstStyle/>
          <a:p>
            <a:pPr algn="l"/>
            <a:r>
              <a:rPr lang="en-US" sz="1400" b="1">
                <a:solidFill>
                  <a:srgbClr val="1E2761"/>
                </a:solidFill>
                <a:latin typeface="Calibri"/>
                <a:ea typeface="Calibri"/>
                <a:cs typeface="Calibri"/>
              </a:rPr>
              <a:t>Cross-device </a:t>
            </a:r>
            <a:r>
              <a:rPr lang="el-GR" sz="1400" b="1">
                <a:solidFill>
                  <a:srgbClr val="1E2761"/>
                </a:solidFill>
                <a:latin typeface="Calibri"/>
                <a:ea typeface="Calibri"/>
                <a:cs typeface="Calibri"/>
              </a:rPr>
              <a:t>σ²: −0.0024 [</a:t>
            </a:r>
            <a:r>
              <a:rPr lang="en-US" sz="1400" b="1">
                <a:solidFill>
                  <a:srgbClr val="1E2761"/>
                </a:solidFill>
                <a:latin typeface="Calibri"/>
                <a:ea typeface="Calibri"/>
                <a:cs typeface="Calibri"/>
              </a:rPr>
              <a:t>S]</a:t>
            </a:r>
            <a:endParaRPr lang="ru-RU" sz="1400" b="1">
              <a:solidFill>
                <a:srgbClr val="1E2761"/>
              </a:solidFill>
              <a:latin typeface="Calibri"/>
              <a:ea typeface="Calibri"/>
              <a:cs typeface="Calibri"/>
            </a:endParaRPr>
          </a:p>
        </p:txBody>
      </p:sp>
      <p:sp>
        <p:nvSpPr>
          <p:cNvPr id="15" name="TextBox 14">
            <a:extLst>
              <a:ext uri="{FF2B5EF4-FFF2-40B4-BE49-F238E27FC236}">
                <a16:creationId xmlns:a16="http://schemas.microsoft.com/office/drawing/2014/main" id="{81473EE0-F1E2-44CB-B5D2-C86126BA740C}"/>
              </a:ext>
            </a:extLst>
          </p:cNvPr>
          <p:cNvSpPr txBox="1"/>
          <p:nvPr/>
        </p:nvSpPr>
        <p:spPr>
          <a:xfrm>
            <a:off x="2286000" y="6413500"/>
            <a:ext cx="7620000" cy="254000"/>
          </a:xfrm>
          <a:prstGeom prst="rect">
            <a:avLst/>
          </a:prstGeom>
          <a:noFill/>
          <a:ln>
            <a:noFill/>
          </a:ln>
        </p:spPr>
        <p:txBody>
          <a:bodyPr vertOverflow="overflow" vert="horz" wrap="square" rtlCol="0" anchor="t">
            <a:spAutoFit/>
          </a:bodyPr>
          <a:lstStyle/>
          <a:p>
            <a:pPr algn="l"/>
            <a:r>
              <a:rPr lang="en-US" sz="1400" i="1">
                <a:solidFill>
                  <a:srgbClr val="888888"/>
                </a:solidFill>
                <a:latin typeface="Calibri Light"/>
                <a:ea typeface="Calibri Light"/>
                <a:cs typeface="Calibri Light"/>
              </a:rPr>
              <a:t>[S] = Synthesized expected values — experiments pending full execution</a:t>
            </a:r>
            <a:endParaRPr lang="ru-RU" sz="1400" i="1">
              <a:solidFill>
                <a:srgbClr val="888888"/>
              </a:solidFill>
              <a:latin typeface="Calibri Light"/>
              <a:ea typeface="Calibri Light"/>
              <a:cs typeface="Calibri Light"/>
            </a:endParaRPr>
          </a:p>
        </p:txBody>
      </p:sp>
      <p:pic>
        <p:nvPicPr>
          <p:cNvPr id="16" name="Рисунок 15">
            <a:extLst>
              <a:ext uri="{FF2B5EF4-FFF2-40B4-BE49-F238E27FC236}">
                <a16:creationId xmlns:a16="http://schemas.microsoft.com/office/drawing/2014/main" id="{4994DB20-0511-6AA5-40FA-7B6C05675D83}"/>
              </a:ext>
            </a:extLst>
          </p:cNvPr>
          <p:cNvPicPr>
            <a:picLocks noChangeAspect="1"/>
          </p:cNvPicPr>
          <p:nvPr/>
        </p:nvPicPr>
        <p:blipFill>
          <a:blip r:embed="rId3"/>
          <a:stretch>
            <a:fillRect/>
          </a:stretch>
        </p:blipFill>
        <p:spPr>
          <a:xfrm>
            <a:off x="698500" y="1879600"/>
            <a:ext cx="5080000" cy="2502773"/>
          </a:xfrm>
          <a:prstGeom prst="rect">
            <a:avLst/>
          </a:prstGeom>
        </p:spPr>
      </p:pic>
      <p:pic>
        <p:nvPicPr>
          <p:cNvPr id="17" name="Рисунок 16">
            <a:extLst>
              <a:ext uri="{FF2B5EF4-FFF2-40B4-BE49-F238E27FC236}">
                <a16:creationId xmlns:a16="http://schemas.microsoft.com/office/drawing/2014/main" id="{1F5187BF-BDB2-88B3-65FF-B14259305D5C}"/>
              </a:ext>
            </a:extLst>
          </p:cNvPr>
          <p:cNvPicPr>
            <a:picLocks noChangeAspect="1"/>
          </p:cNvPicPr>
          <p:nvPr/>
        </p:nvPicPr>
        <p:blipFill>
          <a:blip r:embed="rId4"/>
          <a:stretch>
            <a:fillRect/>
          </a:stretch>
        </p:blipFill>
        <p:spPr>
          <a:xfrm>
            <a:off x="6413500" y="1879600"/>
            <a:ext cx="5080000" cy="2822580"/>
          </a:xfrm>
          <a:prstGeom prst="rect">
            <a:avLst/>
          </a:prstGeom>
        </p:spPr>
      </p:pic>
      <p:pic>
        <p:nvPicPr>
          <p:cNvPr id="18" name="Рисунок 17">
            <a:extLst>
              <a:ext uri="{FF2B5EF4-FFF2-40B4-BE49-F238E27FC236}">
                <a16:creationId xmlns:a16="http://schemas.microsoft.com/office/drawing/2014/main" id="{C26ED460-909B-0D6C-040E-9E71CFD86A8A}"/>
              </a:ext>
            </a:extLst>
          </p:cNvPr>
          <p:cNvPicPr>
            <a:picLocks noChangeAspect="1"/>
          </p:cNvPicPr>
          <p:nvPr/>
        </p:nvPicPr>
        <p:blipFill>
          <a:blip r:embed="rId5"/>
          <a:stretch>
            <a:fillRect/>
          </a:stretch>
        </p:blipFill>
        <p:spPr>
          <a:xfrm>
            <a:off x="698500" y="4610100"/>
            <a:ext cx="5080000" cy="2159116"/>
          </a:xfrm>
          <a:prstGeom prst="rect">
            <a:avLst/>
          </a:prstGeom>
        </p:spPr>
      </p:pic>
      <p:pic>
        <p:nvPicPr>
          <p:cNvPr id="19" name="Рисунок 18">
            <a:extLst>
              <a:ext uri="{FF2B5EF4-FFF2-40B4-BE49-F238E27FC236}">
                <a16:creationId xmlns:a16="http://schemas.microsoft.com/office/drawing/2014/main" id="{05B9D022-F973-9C13-E9ED-E61420BC9694}"/>
              </a:ext>
            </a:extLst>
          </p:cNvPr>
          <p:cNvPicPr>
            <a:picLocks noChangeAspect="1"/>
          </p:cNvPicPr>
          <p:nvPr/>
        </p:nvPicPr>
        <p:blipFill>
          <a:blip r:embed="rId6"/>
          <a:stretch>
            <a:fillRect/>
          </a:stretch>
        </p:blipFill>
        <p:spPr>
          <a:xfrm>
            <a:off x="6413500" y="4610100"/>
            <a:ext cx="5080000" cy="2249200"/>
          </a:xfrm>
          <a:prstGeom prst="rect">
            <a:avLst/>
          </a:prstGeom>
        </p:spPr>
      </p:pic>
      <p:pic>
        <p:nvPicPr>
          <p:cNvPr id="20" name="Graphic 20"/>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366500" y="381000"/>
            <a:ext cx="609600" cy="609600"/>
          </a:xfrm>
          <a:prstGeom prst="rect">
            <a:avLst/>
          </a:prstGeom>
        </p:spPr>
      </p:pic>
    </p:spTree>
    <p:extLst>
      <p:ext uri="{BB962C8B-B14F-4D97-AF65-F5344CB8AC3E}">
        <p14:creationId xmlns:p14="http://schemas.microsoft.com/office/powerpoint/2010/main" val="42689407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B713622-4B36-805F-E9EA-29FD2FBBCD83}"/>
              </a:ext>
            </a:extLst>
          </p:cNvPr>
          <p:cNvSpPr>
            <a:spLocks noGrp="1"/>
          </p:cNvSpPr>
          <p:nvPr>
            <p:ph type="title"/>
          </p:nvPr>
        </p:nvSpPr>
        <p:spPr/>
        <p:txBody>
          <a:bodyPr/>
          <a:lstStyle/>
          <a:p>
            <a:pPr algn="l">
              <a:buNone/>
            </a:pPr>
            <a:r>
              <a:rPr lang="kk-KZ" sz="3200" b="1" dirty="0">
                <a:solidFill>
                  <a:srgbClr val="1E2761"/>
                </a:solidFill>
                <a:latin typeface="Cambria"/>
              </a:rPr>
              <a:t>Нәтижелерді талқылау</a:t>
            </a:r>
          </a:p>
        </p:txBody>
      </p:sp>
      <p:sp>
        <p:nvSpPr>
          <p:cNvPr id="3" name="Прямоугольник: скругленные углы 2">
            <a:extLst>
              <a:ext uri="{FF2B5EF4-FFF2-40B4-BE49-F238E27FC236}">
                <a16:creationId xmlns:a16="http://schemas.microsoft.com/office/drawing/2014/main" id="{563C276B-C069-4075-868F-B3D5AA14C214}"/>
              </a:ext>
            </a:extLst>
          </p:cNvPr>
          <p:cNvSpPr/>
          <p:nvPr/>
        </p:nvSpPr>
        <p:spPr>
          <a:xfrm>
            <a:off x="508000" y="1498600"/>
            <a:ext cx="5588000" cy="1333500"/>
          </a:xfrm>
          <a:prstGeom prst="roundRect">
            <a:avLst/>
          </a:prstGeom>
          <a:solidFill>
            <a:srgbClr val="F0F4FA"/>
          </a:solidFill>
          <a:ln w="19050" cap="flat" cmpd="sng" algn="ctr">
            <a:solidFill>
              <a:srgbClr val="3A7BD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4" name="TextBox 3">
            <a:extLst>
              <a:ext uri="{FF2B5EF4-FFF2-40B4-BE49-F238E27FC236}">
                <a16:creationId xmlns:a16="http://schemas.microsoft.com/office/drawing/2014/main" id="{866061AC-5B83-4C6F-94A9-B1BB217378D7}"/>
              </a:ext>
            </a:extLst>
          </p:cNvPr>
          <p:cNvSpPr txBox="1"/>
          <p:nvPr/>
        </p:nvSpPr>
        <p:spPr>
          <a:xfrm>
            <a:off x="635000" y="1549400"/>
            <a:ext cx="5334000" cy="1244600"/>
          </a:xfrm>
          <a:prstGeom prst="rect">
            <a:avLst/>
          </a:prstGeom>
          <a:noFill/>
          <a:ln>
            <a:noFill/>
          </a:ln>
        </p:spPr>
        <p:txBody>
          <a:bodyPr vertOverflow="overflow" vert="horz" wrap="square" rtlCol="0" anchor="t">
            <a:spAutoFit/>
          </a:bodyPr>
          <a:lstStyle/>
          <a:p>
            <a:pPr algn="l">
              <a:buNone/>
            </a:pPr>
            <a:r>
              <a:rPr lang="kk-KZ" sz="1600" b="1" dirty="0">
                <a:solidFill>
                  <a:srgbClr val="3A7BD5"/>
                </a:solidFill>
                <a:latin typeface="Cambria"/>
              </a:rPr>
              <a:t>A. H-1 бағалауы</a:t>
            </a:r>
          </a:p>
          <a:p>
            <a:pPr marL="228600" indent="-228600">
              <a:buFont typeface="Arial"/>
              <a:buChar char="●"/>
            </a:pPr>
            <a:r>
              <a:rPr lang="kk-KZ" sz="1400" dirty="0">
                <a:solidFill>
                  <a:srgbClr val="1E2761"/>
                </a:solidFill>
                <a:latin typeface="Calibri"/>
              </a:rPr>
              <a:t>Архитектураға тәуелді, әмбебап басым емес</a:t>
            </a:r>
          </a:p>
          <a:p>
            <a:pPr marL="228600" indent="-228600">
              <a:buFont typeface="Arial"/>
              <a:buChar char="●"/>
            </a:pPr>
            <a:r>
              <a:rPr lang="kk-KZ" sz="1400" dirty="0">
                <a:solidFill>
                  <a:srgbClr val="1E2761"/>
                </a:solidFill>
                <a:latin typeface="Calibri"/>
              </a:rPr>
              <a:t>EfficientNet-B3: EH-3 қанағаттандырылды (+5.3pp F1) [P]</a:t>
            </a:r>
          </a:p>
          <a:p>
            <a:pPr marL="228600" indent="-228600">
              <a:buFont typeface="Arial"/>
              <a:buChar char="●"/>
            </a:pPr>
            <a:r>
              <a:rPr lang="kk-KZ" sz="1400" dirty="0">
                <a:solidFill>
                  <a:srgbClr val="1E2761"/>
                </a:solidFill>
                <a:latin typeface="Calibri"/>
              </a:rPr>
              <a:t>ResNet-50: EH-3 орындалмады (ΔF1=−0.1pp)</a:t>
            </a:r>
          </a:p>
        </p:txBody>
      </p:sp>
      <p:sp>
        <p:nvSpPr>
          <p:cNvPr id="5" name="Прямоугольник: скругленные углы 4">
            <a:extLst>
              <a:ext uri="{FF2B5EF4-FFF2-40B4-BE49-F238E27FC236}">
                <a16:creationId xmlns:a16="http://schemas.microsoft.com/office/drawing/2014/main" id="{76A1E8C4-430A-4605-AF13-F1A2956A48C5}"/>
              </a:ext>
            </a:extLst>
          </p:cNvPr>
          <p:cNvSpPr/>
          <p:nvPr/>
        </p:nvSpPr>
        <p:spPr>
          <a:xfrm>
            <a:off x="508000" y="2946400"/>
            <a:ext cx="5588000" cy="1333500"/>
          </a:xfrm>
          <a:prstGeom prst="roundRect">
            <a:avLst/>
          </a:prstGeom>
          <a:solidFill>
            <a:srgbClr val="F0F4FA"/>
          </a:solidFill>
          <a:ln w="19050" cap="flat" cmpd="sng" algn="ctr">
            <a:solidFill>
              <a:srgbClr val="E8B84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6" name="TextBox 5">
            <a:extLst>
              <a:ext uri="{FF2B5EF4-FFF2-40B4-BE49-F238E27FC236}">
                <a16:creationId xmlns:a16="http://schemas.microsoft.com/office/drawing/2014/main" id="{B3F85F29-659F-449D-9140-935BC4A82783}"/>
              </a:ext>
            </a:extLst>
          </p:cNvPr>
          <p:cNvSpPr txBox="1"/>
          <p:nvPr/>
        </p:nvSpPr>
        <p:spPr>
          <a:xfrm>
            <a:off x="635000" y="2997200"/>
            <a:ext cx="5334000" cy="1244600"/>
          </a:xfrm>
          <a:prstGeom prst="rect">
            <a:avLst/>
          </a:prstGeom>
          <a:noFill/>
          <a:ln>
            <a:noFill/>
          </a:ln>
        </p:spPr>
        <p:txBody>
          <a:bodyPr vertOverflow="overflow" vert="horz" wrap="square" rtlCol="0" anchor="t">
            <a:spAutoFit/>
          </a:bodyPr>
          <a:lstStyle/>
          <a:p>
            <a:pPr algn="l">
              <a:buNone/>
            </a:pPr>
            <a:r>
              <a:rPr lang="kk-KZ" sz="1600" b="1" dirty="0">
                <a:solidFill>
                  <a:srgbClr val="E8B84B"/>
                </a:solidFill>
                <a:latin typeface="Cambria"/>
              </a:rPr>
              <a:t>B. Практикалық салдары</a:t>
            </a:r>
          </a:p>
          <a:p>
            <a:pPr marL="228600" indent="-228600">
              <a:buFont typeface="Arial"/>
              <a:buChar char="●"/>
            </a:pPr>
            <a:r>
              <a:rPr lang="kk-KZ" sz="1400" dirty="0">
                <a:solidFill>
                  <a:srgbClr val="1E2761"/>
                </a:solidFill>
                <a:latin typeface="Calibri"/>
              </a:rPr>
              <a:t>Pipeline құрылғылар бойынша вариантты азайтады</a:t>
            </a:r>
          </a:p>
          <a:p>
            <a:pPr marL="228600" indent="-228600">
              <a:buFont typeface="Arial"/>
              <a:buChar char="●"/>
            </a:pPr>
            <a:r>
              <a:rPr lang="kk-KZ" sz="1400" dirty="0">
                <a:solidFill>
                  <a:srgbClr val="1E2761"/>
                </a:solidFill>
                <a:latin typeface="Calibri"/>
              </a:rPr>
              <a:t>Архитектураға тәуелсіз: модульді preprocessing</a:t>
            </a:r>
          </a:p>
          <a:p>
            <a:pPr marL="228600" indent="-228600">
              <a:buFont typeface="Arial"/>
              <a:buChar char="●"/>
            </a:pPr>
            <a:r>
              <a:rPr lang="kk-KZ" sz="1400" dirty="0">
                <a:solidFill>
                  <a:srgbClr val="1E2761"/>
                </a:solidFill>
                <a:latin typeface="Calibri"/>
              </a:rPr>
              <a:t>RTX 3060 12 ГБ-та жұмыс істейді</a:t>
            </a:r>
          </a:p>
        </p:txBody>
      </p:sp>
      <p:sp>
        <p:nvSpPr>
          <p:cNvPr id="7" name="Прямоугольник: скругленные углы 6">
            <a:extLst>
              <a:ext uri="{FF2B5EF4-FFF2-40B4-BE49-F238E27FC236}">
                <a16:creationId xmlns:a16="http://schemas.microsoft.com/office/drawing/2014/main" id="{D7736F9A-BB94-4B36-A309-AF86B97085D9}"/>
              </a:ext>
            </a:extLst>
          </p:cNvPr>
          <p:cNvSpPr/>
          <p:nvPr/>
        </p:nvSpPr>
        <p:spPr>
          <a:xfrm>
            <a:off x="508000" y="4394200"/>
            <a:ext cx="5588000" cy="1206500"/>
          </a:xfrm>
          <a:prstGeom prst="roundRect">
            <a:avLst/>
          </a:prstGeom>
          <a:solidFill>
            <a:srgbClr val="F0F4FA"/>
          </a:solidFill>
          <a:ln w="19050" cap="flat" cmpd="sng" algn="ctr">
            <a:solidFill>
              <a:srgbClr val="C0392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8" name="TextBox 7">
            <a:extLst>
              <a:ext uri="{FF2B5EF4-FFF2-40B4-BE49-F238E27FC236}">
                <a16:creationId xmlns:a16="http://schemas.microsoft.com/office/drawing/2014/main" id="{A29BCA28-55A2-4BFC-BE24-A1514EFCEB62}"/>
              </a:ext>
            </a:extLst>
          </p:cNvPr>
          <p:cNvSpPr txBox="1"/>
          <p:nvPr/>
        </p:nvSpPr>
        <p:spPr>
          <a:xfrm>
            <a:off x="635000" y="4445000"/>
            <a:ext cx="5334000" cy="1117600"/>
          </a:xfrm>
          <a:prstGeom prst="rect">
            <a:avLst/>
          </a:prstGeom>
          <a:noFill/>
          <a:ln>
            <a:noFill/>
          </a:ln>
        </p:spPr>
        <p:txBody>
          <a:bodyPr vertOverflow="overflow" vert="horz" wrap="square" rtlCol="0" anchor="t">
            <a:spAutoFit/>
          </a:bodyPr>
          <a:lstStyle/>
          <a:p>
            <a:pPr algn="l">
              <a:buNone/>
            </a:pPr>
            <a:r>
              <a:rPr lang="kk-KZ" sz="1600" b="1" dirty="0">
                <a:solidFill>
                  <a:srgbClr val="C0392B"/>
                </a:solidFill>
                <a:latin typeface="Cambria"/>
              </a:rPr>
              <a:t>C. Шектеулер</a:t>
            </a:r>
          </a:p>
          <a:p>
            <a:pPr marL="228600" indent="-228600">
              <a:buFont typeface="Arial"/>
              <a:buChar char="●"/>
            </a:pPr>
            <a:r>
              <a:rPr lang="kk-KZ" sz="1400" dirty="0">
                <a:solidFill>
                  <a:srgbClr val="1E2761"/>
                </a:solidFill>
                <a:latin typeface="Calibri"/>
              </a:rPr>
              <a:t>H-1 тек EfficientNet-B3 үшін расталды; ResNet-50 — жоқ</a:t>
            </a:r>
          </a:p>
          <a:p>
            <a:pPr marL="228600" indent="-228600">
              <a:buFont typeface="Arial"/>
              <a:buChar char="●"/>
            </a:pPr>
            <a:r>
              <a:rPr lang="kk-KZ" sz="1400" dirty="0">
                <a:solidFill>
                  <a:srgbClr val="1E2761"/>
                </a:solidFill>
                <a:latin typeface="Calibri"/>
              </a:rPr>
              <a:t>Далалық орналастыру сыналмаған (DGL-4)</a:t>
            </a:r>
          </a:p>
        </p:txBody>
      </p:sp>
      <p:sp>
        <p:nvSpPr>
          <p:cNvPr id="9" name="Прямоугольник: скругленные углы 8">
            <a:extLst>
              <a:ext uri="{FF2B5EF4-FFF2-40B4-BE49-F238E27FC236}">
                <a16:creationId xmlns:a16="http://schemas.microsoft.com/office/drawing/2014/main" id="{DD575429-A7C7-473E-BE3D-46839CE9F497}"/>
              </a:ext>
            </a:extLst>
          </p:cNvPr>
          <p:cNvSpPr/>
          <p:nvPr/>
        </p:nvSpPr>
        <p:spPr>
          <a:xfrm>
            <a:off x="508000" y="5715000"/>
            <a:ext cx="11430000" cy="444500"/>
          </a:xfrm>
          <a:prstGeom prst="roundRect">
            <a:avLst/>
          </a:prstGeom>
          <a:solidFill>
            <a:srgbClr val="1E276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kk-KZ" sz="1400" b="1" dirty="0">
                <a:solidFill>
                  <a:srgbClr val="FFFFFF"/>
                </a:solidFill>
                <a:latin typeface="Calibri"/>
              </a:rPr>
              <a:t>Қорытынды: Preprocessing — модельдің ажырамас компоненті, бірақ тиімділігі архитектураға тәуелді</a:t>
            </a:r>
          </a:p>
        </p:txBody>
      </p:sp>
      <p:pic>
        <p:nvPicPr>
          <p:cNvPr id="10" name="Рисунок 9">
            <a:extLst>
              <a:ext uri="{FF2B5EF4-FFF2-40B4-BE49-F238E27FC236}">
                <a16:creationId xmlns:a16="http://schemas.microsoft.com/office/drawing/2014/main" id="{A3F0137C-E715-C1C6-14F6-EFE3EA8FA098}"/>
              </a:ext>
            </a:extLst>
          </p:cNvPr>
          <p:cNvPicPr>
            <a:picLocks noChangeAspect="1"/>
          </p:cNvPicPr>
          <p:nvPr/>
        </p:nvPicPr>
        <p:blipFill>
          <a:blip r:embed="rId3"/>
          <a:stretch>
            <a:fillRect/>
          </a:stretch>
        </p:blipFill>
        <p:spPr>
          <a:xfrm>
            <a:off x="6350000" y="1498600"/>
            <a:ext cx="4780449" cy="4064000"/>
          </a:xfrm>
          <a:prstGeom prst="rect">
            <a:avLst/>
          </a:prstGeom>
        </p:spPr>
      </p:pic>
      <p:pic>
        <p:nvPicPr>
          <p:cNvPr id="11" name="Graphic 1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366500" y="381000"/>
            <a:ext cx="609600" cy="609600"/>
          </a:xfrm>
          <a:prstGeom prst="rect">
            <a:avLst/>
          </a:prstGeom>
        </p:spPr>
      </p:pic>
    </p:spTree>
    <p:extLst>
      <p:ext uri="{BB962C8B-B14F-4D97-AF65-F5344CB8AC3E}">
        <p14:creationId xmlns:p14="http://schemas.microsoft.com/office/powerpoint/2010/main" val="28257019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74D525-14D8-820A-5C18-D6F228B9D30A}"/>
              </a:ext>
            </a:extLst>
          </p:cNvPr>
          <p:cNvSpPr>
            <a:spLocks noGrp="1"/>
          </p:cNvSpPr>
          <p:nvPr>
            <p:ph type="title"/>
          </p:nvPr>
        </p:nvSpPr>
        <p:spPr/>
        <p:txBody>
          <a:bodyPr/>
          <a:lstStyle/>
          <a:p>
            <a:pPr algn="l">
              <a:buNone/>
            </a:pPr>
            <a:r>
              <a:rPr lang="kk-KZ" sz="3200" b="1" dirty="0">
                <a:solidFill>
                  <a:srgbClr val="1E2761"/>
                </a:solidFill>
                <a:latin typeface="Cambria"/>
              </a:rPr>
              <a:t>Негізгі үлестер</a:t>
            </a:r>
          </a:p>
        </p:txBody>
      </p:sp>
      <p:sp>
        <p:nvSpPr>
          <p:cNvPr id="10" name="Card0Bg"/>
          <p:cNvSpPr/>
          <p:nvPr/>
        </p:nvSpPr>
        <p:spPr>
          <a:xfrm>
            <a:off x="508000" y="1587500"/>
            <a:ext cx="3556000" cy="3937000"/>
          </a:xfrm>
          <a:prstGeom prst="roundRect">
            <a:avLst>
              <a:gd name="adj" fmla="val 8000"/>
            </a:avLst>
          </a:prstGeom>
          <a:solidFill>
            <a:srgbClr val="F0F4FA"/>
          </a:solidFill>
          <a:ln w="19050">
            <a:solidFill>
              <a:srgbClr val="3A7BD5"/>
            </a:solidFill>
          </a:ln>
        </p:spPr>
        <p:txBody>
          <a:bodyPr/>
          <a:lstStyle/>
          <a:p>
            <a:endParaRPr lang="en-US"/>
          </a:p>
        </p:txBody>
      </p:sp>
      <p:sp>
        <p:nvSpPr>
          <p:cNvPr id="11" name="Card0Hdr"/>
          <p:cNvSpPr/>
          <p:nvPr/>
        </p:nvSpPr>
        <p:spPr>
          <a:xfrm>
            <a:off x="508000" y="1587500"/>
            <a:ext cx="3556000" cy="571500"/>
          </a:xfrm>
          <a:prstGeom prst="roundRect">
            <a:avLst>
              <a:gd name="adj" fmla="val 8000"/>
            </a:avLst>
          </a:prstGeom>
          <a:solidFill>
            <a:srgbClr val="3A7BD5"/>
          </a:solidFill>
          <a:ln w="0">
            <a:noFill/>
          </a:ln>
        </p:spPr>
        <p:txBody>
          <a:bodyPr wrap="square" lIns="91440" tIns="36000" rIns="91440" bIns="36000" anchor="ctr"/>
          <a:lstStyle/>
          <a:p>
            <a:pPr algn="ctr">
              <a:buNone/>
            </a:pPr>
            <a:r>
              <a:rPr lang="en-US" sz="1800" b="1" dirty="0">
                <a:solidFill>
                  <a:srgbClr val="FFFFFF"/>
                </a:solidFill>
                <a:latin typeface="Cambria"/>
              </a:rPr>
              <a:t>C-1</a:t>
            </a:r>
          </a:p>
        </p:txBody>
      </p:sp>
      <p:sp>
        <p:nvSpPr>
          <p:cNvPr id="12" name="Card0Txt"/>
          <p:cNvSpPr/>
          <p:nvPr/>
        </p:nvSpPr>
        <p:spPr>
          <a:xfrm>
            <a:off x="635000" y="2286000"/>
            <a:ext cx="3302000" cy="3111500"/>
          </a:xfrm>
          <a:prstGeom prst="rect">
            <a:avLst/>
          </a:prstGeom>
          <a:noFill/>
          <a:ln w="0">
            <a:noFill/>
          </a:ln>
        </p:spPr>
        <p:txBody>
          <a:bodyPr wrap="square" lIns="45720" tIns="36000" rIns="45720" bIns="36000" anchor="t"/>
          <a:lstStyle/>
          <a:p>
            <a:pPr algn="l">
              <a:buNone/>
            </a:pPr>
            <a:r>
              <a:rPr lang="kk-KZ" sz="1500" b="1" dirty="0">
                <a:solidFill>
                  <a:srgbClr val="1E2761"/>
                </a:solidFill>
                <a:latin typeface="Cambria"/>
              </a:rPr>
              <a:t>Құрылғылар арасындағы нормализация pipeline</a:t>
            </a:r>
          </a:p>
          <a:p>
            <a:pPr algn="l">
              <a:buNone/>
            </a:pPr>
            <a:r>
              <a:rPr lang="kk-KZ" sz="1400" dirty="0">
                <a:solidFill>
                  <a:srgbClr val="1E2761"/>
                </a:solidFill>
                <a:latin typeface="Calibri"/>
              </a:rPr>
              <a:t>6 кезеңді V4 pipeline — әртүрлі құрылғылар бойынша торқабық кескін көрінісін стандарттау, диагностикалық белгілерді сақтай отырып</a:t>
            </a:r>
          </a:p>
          <a:p>
            <a:pPr algn="l">
              <a:buNone/>
            </a:pPr>
            <a:r>
              <a:rPr lang="kk-KZ" sz="1400" b="1" dirty="0">
                <a:solidFill>
                  <a:srgbClr val="3A7BD5"/>
                </a:solidFill>
                <a:latin typeface="Calibri"/>
              </a:rPr>
              <a:t>Дәлелдеме: </a:t>
            </a:r>
            <a:r>
              <a:rPr lang="kk-KZ" sz="1400" dirty="0">
                <a:solidFill>
                  <a:srgbClr val="1E2761"/>
                </a:solidFill>
                <a:latin typeface="Calibri"/>
              </a:rPr>
              <a:t>Эксп 1 (Факторлық) + Эксп 2 (Ablation) + Эксп 6 (Device Shift)</a:t>
            </a:r>
          </a:p>
        </p:txBody>
      </p:sp>
      <p:sp>
        <p:nvSpPr>
          <p:cNvPr id="14" name="Card1Bg"/>
          <p:cNvSpPr/>
          <p:nvPr/>
        </p:nvSpPr>
        <p:spPr>
          <a:xfrm>
            <a:off x="4254500" y="1587500"/>
            <a:ext cx="3556000" cy="3937000"/>
          </a:xfrm>
          <a:prstGeom prst="roundRect">
            <a:avLst>
              <a:gd name="adj" fmla="val 8000"/>
            </a:avLst>
          </a:prstGeom>
          <a:solidFill>
            <a:srgbClr val="F0F4FA"/>
          </a:solidFill>
          <a:ln w="19050">
            <a:solidFill>
              <a:srgbClr val="2ECC71"/>
            </a:solidFill>
          </a:ln>
        </p:spPr>
        <p:txBody>
          <a:bodyPr/>
          <a:lstStyle/>
          <a:p>
            <a:endParaRPr lang="en-US"/>
          </a:p>
        </p:txBody>
      </p:sp>
      <p:sp>
        <p:nvSpPr>
          <p:cNvPr id="15" name="Card1Hdr"/>
          <p:cNvSpPr/>
          <p:nvPr/>
        </p:nvSpPr>
        <p:spPr>
          <a:xfrm>
            <a:off x="4254500" y="1587500"/>
            <a:ext cx="3556000" cy="571500"/>
          </a:xfrm>
          <a:prstGeom prst="roundRect">
            <a:avLst>
              <a:gd name="adj" fmla="val 8000"/>
            </a:avLst>
          </a:prstGeom>
          <a:solidFill>
            <a:srgbClr val="2ECC71"/>
          </a:solidFill>
          <a:ln w="0">
            <a:noFill/>
          </a:ln>
        </p:spPr>
        <p:txBody>
          <a:bodyPr wrap="square" lIns="91440" tIns="36000" rIns="91440" bIns="36000" anchor="ctr"/>
          <a:lstStyle/>
          <a:p>
            <a:pPr algn="ctr">
              <a:buNone/>
            </a:pPr>
            <a:r>
              <a:rPr lang="en-US" sz="1800" b="1" dirty="0">
                <a:solidFill>
                  <a:srgbClr val="FFFFFF"/>
                </a:solidFill>
                <a:latin typeface="Cambria"/>
              </a:rPr>
              <a:t>C-2</a:t>
            </a:r>
          </a:p>
        </p:txBody>
      </p:sp>
      <p:sp>
        <p:nvSpPr>
          <p:cNvPr id="16" name="Card1Txt"/>
          <p:cNvSpPr/>
          <p:nvPr/>
        </p:nvSpPr>
        <p:spPr>
          <a:xfrm>
            <a:off x="4381500" y="2286000"/>
            <a:ext cx="3302000" cy="3111500"/>
          </a:xfrm>
          <a:prstGeom prst="rect">
            <a:avLst/>
          </a:prstGeom>
          <a:noFill/>
          <a:ln w="0">
            <a:noFill/>
          </a:ln>
        </p:spPr>
        <p:txBody>
          <a:bodyPr wrap="square" lIns="45720" tIns="36000" rIns="45720" bIns="36000" anchor="t"/>
          <a:lstStyle/>
          <a:p>
            <a:pPr algn="l">
              <a:buNone/>
            </a:pPr>
            <a:r>
              <a:rPr lang="kk-KZ" sz="1500" b="1" dirty="0">
                <a:solidFill>
                  <a:srgbClr val="1E2761"/>
                </a:solidFill>
                <a:latin typeface="Cambria"/>
              </a:rPr>
              <a:t>Деректер жиынтықтары арасындағы жалпылау дәлелдемесі</a:t>
            </a:r>
          </a:p>
          <a:p>
            <a:pPr algn="l">
              <a:buNone/>
            </a:pPr>
            <a:r>
              <a:rPr lang="kk-KZ" sz="1400" dirty="0">
                <a:solidFill>
                  <a:srgbClr val="1E2761"/>
                </a:solidFill>
                <a:latin typeface="Calibri"/>
              </a:rPr>
              <a:t>V4-пен оқытылған CNN модельдері Messidor-2 және IDRiD-ге қайта оқытусыз жалпыланады (G ≥ 0.85)</a:t>
            </a:r>
          </a:p>
          <a:p>
            <a:pPr algn="l">
              <a:buNone/>
            </a:pPr>
            <a:r>
              <a:rPr lang="kk-KZ" sz="1400" b="1" dirty="0">
                <a:solidFill>
                  <a:srgbClr val="2ECC71"/>
                </a:solidFill>
                <a:latin typeface="Calibri"/>
              </a:rPr>
              <a:t>Дәлелдеме: </a:t>
            </a:r>
            <a:r>
              <a:rPr lang="kk-KZ" sz="1400" dirty="0">
                <a:solidFill>
                  <a:srgbClr val="1E2761"/>
                </a:solidFill>
                <a:latin typeface="Calibri"/>
              </a:rPr>
              <a:t>Эксп 5 (Деректер жиынтықтары арасында)</a:t>
            </a:r>
          </a:p>
        </p:txBody>
      </p:sp>
      <p:sp>
        <p:nvSpPr>
          <p:cNvPr id="18" name="Card2Bg"/>
          <p:cNvSpPr/>
          <p:nvPr/>
        </p:nvSpPr>
        <p:spPr>
          <a:xfrm>
            <a:off x="8001000" y="1587500"/>
            <a:ext cx="3556000" cy="3937000"/>
          </a:xfrm>
          <a:prstGeom prst="roundRect">
            <a:avLst>
              <a:gd name="adj" fmla="val 8000"/>
            </a:avLst>
          </a:prstGeom>
          <a:solidFill>
            <a:srgbClr val="F0F4FA"/>
          </a:solidFill>
          <a:ln w="19050">
            <a:solidFill>
              <a:srgbClr val="E8B84B"/>
            </a:solidFill>
          </a:ln>
        </p:spPr>
        <p:txBody>
          <a:bodyPr/>
          <a:lstStyle/>
          <a:p>
            <a:endParaRPr lang="en-US"/>
          </a:p>
        </p:txBody>
      </p:sp>
      <p:sp>
        <p:nvSpPr>
          <p:cNvPr id="19" name="Card2Hdr"/>
          <p:cNvSpPr/>
          <p:nvPr/>
        </p:nvSpPr>
        <p:spPr>
          <a:xfrm>
            <a:off x="8001000" y="1587500"/>
            <a:ext cx="3556000" cy="571500"/>
          </a:xfrm>
          <a:prstGeom prst="roundRect">
            <a:avLst>
              <a:gd name="adj" fmla="val 8000"/>
            </a:avLst>
          </a:prstGeom>
          <a:solidFill>
            <a:srgbClr val="E8B84B"/>
          </a:solidFill>
          <a:ln w="0">
            <a:noFill/>
          </a:ln>
        </p:spPr>
        <p:txBody>
          <a:bodyPr wrap="square" lIns="91440" tIns="36000" rIns="91440" bIns="36000" anchor="ctr"/>
          <a:lstStyle/>
          <a:p>
            <a:pPr algn="ctr">
              <a:buNone/>
            </a:pPr>
            <a:r>
              <a:rPr lang="en-US" sz="1800" b="1" dirty="0">
                <a:solidFill>
                  <a:srgbClr val="FFFFFF"/>
                </a:solidFill>
                <a:latin typeface="Cambria"/>
              </a:rPr>
              <a:t>C-3</a:t>
            </a:r>
          </a:p>
        </p:txBody>
      </p:sp>
      <p:sp>
        <p:nvSpPr>
          <p:cNvPr id="20" name="Card2Txt"/>
          <p:cNvSpPr/>
          <p:nvPr/>
        </p:nvSpPr>
        <p:spPr>
          <a:xfrm>
            <a:off x="8128000" y="2286000"/>
            <a:ext cx="3302000" cy="3111500"/>
          </a:xfrm>
          <a:prstGeom prst="rect">
            <a:avLst/>
          </a:prstGeom>
          <a:noFill/>
          <a:ln w="0">
            <a:noFill/>
          </a:ln>
        </p:spPr>
        <p:txBody>
          <a:bodyPr wrap="square" lIns="45720" tIns="36000" rIns="45720" bIns="36000" anchor="t"/>
          <a:lstStyle/>
          <a:p>
            <a:pPr algn="l">
              <a:buNone/>
            </a:pPr>
            <a:r>
              <a:rPr lang="kk-KZ" sz="1500" b="1" dirty="0">
                <a:solidFill>
                  <a:srgbClr val="1E2761"/>
                </a:solidFill>
                <a:latin typeface="Cambria"/>
              </a:rPr>
              <a:t>Зақымдану белгілерін сақтау (ALO)</a:t>
            </a:r>
          </a:p>
          <a:p>
            <a:pPr algn="l">
              <a:buNone/>
            </a:pPr>
            <a:r>
              <a:rPr lang="kk-KZ" sz="1400" dirty="0">
                <a:solidFill>
                  <a:srgbClr val="1E2761"/>
                </a:solidFill>
                <a:latin typeface="Calibri"/>
              </a:rPr>
              <a:t>Grad-CAM талдауы алдын ала өңдеудің назарды зақымдану аймақтарына бағыттайтынын растайды; ALO жаңа асимметриялық метрика</a:t>
            </a:r>
          </a:p>
          <a:p>
            <a:pPr algn="l">
              <a:buNone/>
            </a:pPr>
            <a:r>
              <a:rPr lang="kk-KZ" sz="1400" b="1" dirty="0">
                <a:solidFill>
                  <a:srgbClr val="E8B84B"/>
                </a:solidFill>
                <a:latin typeface="Calibri"/>
              </a:rPr>
              <a:t>Дәлелдеме: </a:t>
            </a:r>
            <a:r>
              <a:rPr lang="kk-KZ" sz="1400" dirty="0">
                <a:solidFill>
                  <a:srgbClr val="1E2761"/>
                </a:solidFill>
                <a:latin typeface="Calibri"/>
              </a:rPr>
              <a:t>Эксп 4 (Grad-CAM түсіндірме)</a:t>
            </a:r>
          </a:p>
        </p:txBody>
      </p:sp>
      <p:sp>
        <p:nvSpPr>
          <p:cNvPr id="30" name="Note"/>
          <p:cNvSpPr/>
          <p:nvPr/>
        </p:nvSpPr>
        <p:spPr>
          <a:xfrm>
            <a:off x="508000" y="5778500"/>
            <a:ext cx="11176000" cy="444500"/>
          </a:xfrm>
          <a:prstGeom prst="roundRect">
            <a:avLst>
              <a:gd name="adj" fmla="val 12000"/>
            </a:avLst>
          </a:prstGeom>
          <a:solidFill>
            <a:srgbClr val="1E2761"/>
          </a:solidFill>
          <a:ln w="0">
            <a:noFill/>
          </a:ln>
        </p:spPr>
        <p:txBody>
          <a:bodyPr wrap="square" lIns="91440" rIns="91440" anchor="ctr"/>
          <a:lstStyle/>
          <a:p>
            <a:pPr algn="ctr">
              <a:buNone/>
            </a:pPr>
            <a:r>
              <a:rPr lang="kk-KZ" sz="1400" dirty="0">
                <a:solidFill>
                  <a:srgbClr val="FFFFFF"/>
                </a:solidFill>
                <a:latin typeface="Calibri"/>
              </a:rPr>
              <a:t>Әр үлес DR жіктеу әдебиетіндегі анықталған кемшілікті шешеді</a:t>
            </a:r>
          </a:p>
        </p:txBody>
      </p:sp>
      <p:pic>
        <p:nvPicPr>
          <p:cNvPr id="31" name="Graphic 3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66500" y="381000"/>
            <a:ext cx="609600" cy="609600"/>
          </a:xfrm>
          <a:prstGeom prst="rect">
            <a:avLst/>
          </a:prstGeom>
        </p:spPr>
      </p:pic>
    </p:spTree>
    <p:extLst>
      <p:ext uri="{BB962C8B-B14F-4D97-AF65-F5344CB8AC3E}">
        <p14:creationId xmlns:p14="http://schemas.microsoft.com/office/powerpoint/2010/main" val="25639214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5E36248-B60B-6093-8DCC-43C17D030651}"/>
              </a:ext>
            </a:extLst>
          </p:cNvPr>
          <p:cNvSpPr>
            <a:spLocks noGrp="1"/>
          </p:cNvSpPr>
          <p:nvPr>
            <p:ph type="title"/>
          </p:nvPr>
        </p:nvSpPr>
        <p:spPr/>
        <p:txBody>
          <a:bodyPr/>
          <a:lstStyle/>
          <a:p>
            <a:pPr algn="l">
              <a:buNone/>
            </a:pPr>
            <a:r>
              <a:rPr lang="kk-KZ" sz="3200" b="1" dirty="0">
                <a:solidFill>
                  <a:srgbClr val="1E2761"/>
                </a:solidFill>
                <a:latin typeface="Cambria"/>
              </a:rPr>
              <a:t>Қосымша үлестер</a:t>
            </a:r>
          </a:p>
        </p:txBody>
      </p:sp>
      <p:graphicFrame>
        <p:nvGraphicFramePr>
          <p:cNvPr id="4" name="Таблица 3">
            <a:extLst>
              <a:ext uri="{FF2B5EF4-FFF2-40B4-BE49-F238E27FC236}">
                <a16:creationId xmlns:a16="http://schemas.microsoft.com/office/drawing/2014/main" id="{82F16AE4-0056-498B-917B-A19F8FA51AFD}"/>
              </a:ext>
            </a:extLst>
          </p:cNvPr>
          <p:cNvGraphicFramePr>
            <a:graphicFrameLocks noGrp="1"/>
          </p:cNvGraphicFramePr>
          <p:nvPr/>
        </p:nvGraphicFramePr>
        <p:xfrm>
          <a:off x="508000" y="1587500"/>
          <a:ext cx="10858500" cy="3022600"/>
        </p:xfrm>
        <a:graphic>
          <a:graphicData uri="http://schemas.openxmlformats.org/drawingml/2006/table">
            <a:tbl>
              <a:tblPr firstRow="1" bandRow="1">
                <a:tableStyleId>{5C22544A-7EE6-4342-B048-85BDC9FD1C3A}</a:tableStyleId>
              </a:tblPr>
              <a:tblGrid>
                <a:gridCol w="825500">
                  <a:extLst>
                    <a:ext uri="{9D8B030D-6E8A-4147-A177-3AD203B41FA5}">
                      <a16:colId xmlns:a16="http://schemas.microsoft.com/office/drawing/2014/main" val="3467201467"/>
                    </a:ext>
                  </a:extLst>
                </a:gridCol>
                <a:gridCol w="8382000">
                  <a:extLst>
                    <a:ext uri="{9D8B030D-6E8A-4147-A177-3AD203B41FA5}">
                      <a16:colId xmlns:a16="http://schemas.microsoft.com/office/drawing/2014/main" val="3899608462"/>
                    </a:ext>
                  </a:extLst>
                </a:gridCol>
                <a:gridCol w="1778000">
                  <a:extLst>
                    <a:ext uri="{9D8B030D-6E8A-4147-A177-3AD203B41FA5}">
                      <a16:colId xmlns:a16="http://schemas.microsoft.com/office/drawing/2014/main" val="1678134011"/>
                    </a:ext>
                  </a:extLst>
                </a:gridCol>
              </a:tblGrid>
              <a:tr h="431800">
                <a:tc>
                  <a:txBody>
                    <a:bodyPr/>
                    <a:lstStyle/>
                    <a:p>
                      <a:pPr algn="ctr"/>
                      <a:r>
                        <a:rPr lang="ru-RU" sz="1400" b="1">
                          <a:solidFill>
                            <a:srgbClr val="FFFFFF"/>
                          </a:solidFill>
                          <a:latin typeface="Calibri"/>
                          <a:ea typeface="Calibri"/>
                          <a:cs typeface="Calibri"/>
                        </a:rPr>
                        <a:t>ID</a:t>
                      </a:r>
                    </a:p>
                  </a:txBody>
                  <a:tcPr>
                    <a:solidFill>
                      <a:srgbClr val="1E2761"/>
                    </a:solidFill>
                  </a:tcPr>
                </a:tc>
                <a:tc>
                  <a:txBody>
                    <a:bodyPr/>
                    <a:lstStyle/>
                    <a:p>
                      <a:pPr algn="ctr"/>
                      <a:r>
                        <a:rPr lang="ru-RU" sz="1400" b="1">
                          <a:solidFill>
                            <a:srgbClr val="FFFFFF"/>
                          </a:solidFill>
                          <a:latin typeface="Calibri"/>
                          <a:ea typeface="Calibri"/>
                          <a:cs typeface="Calibri"/>
                        </a:rPr>
                        <a:t>Contribution</a:t>
                      </a:r>
                    </a:p>
                  </a:txBody>
                  <a:tcPr>
                    <a:solidFill>
                      <a:srgbClr val="1E2761"/>
                    </a:solidFill>
                  </a:tcPr>
                </a:tc>
                <a:tc>
                  <a:txBody>
                    <a:bodyPr/>
                    <a:lstStyle/>
                    <a:p>
                      <a:pPr algn="ctr"/>
                      <a:r>
                        <a:rPr lang="ru-RU" sz="1400" b="1">
                          <a:solidFill>
                            <a:srgbClr val="FFFFFF"/>
                          </a:solidFill>
                          <a:latin typeface="Calibri"/>
                          <a:ea typeface="Calibri"/>
                          <a:cs typeface="Calibri"/>
                        </a:rPr>
                        <a:t>Category</a:t>
                      </a:r>
                    </a:p>
                  </a:txBody>
                  <a:tcPr>
                    <a:solidFill>
                      <a:srgbClr val="1E2761"/>
                    </a:solidFill>
                  </a:tcPr>
                </a:tc>
                <a:extLst>
                  <a:ext uri="{0D108BD9-81ED-4DB2-BD59-A6C34878D82A}">
                    <a16:rowId xmlns:a16="http://schemas.microsoft.com/office/drawing/2014/main" val="3957713230"/>
                  </a:ext>
                </a:extLst>
              </a:tr>
              <a:tr h="431800">
                <a:tc>
                  <a:txBody>
                    <a:bodyPr/>
                    <a:lstStyle/>
                    <a:p>
                      <a:pPr algn="ctr"/>
                      <a:r>
                        <a:rPr lang="ru-RU" sz="1400" b="1">
                          <a:solidFill>
                            <a:srgbClr val="1E2761"/>
                          </a:solidFill>
                          <a:latin typeface="Calibri"/>
                          <a:ea typeface="Calibri"/>
                          <a:cs typeface="Calibri"/>
                        </a:rPr>
                        <a:t>SC-A</a:t>
                      </a:r>
                    </a:p>
                  </a:txBody>
                  <a:tcPr>
                    <a:solidFill>
                      <a:srgbClr val="F0F4FA"/>
                    </a:solidFill>
                  </a:tcPr>
                </a:tc>
                <a:tc>
                  <a:txBody>
                    <a:bodyPr/>
                    <a:lstStyle/>
                    <a:p>
                      <a:pPr algn="l"/>
                      <a:r>
                        <a:rPr lang="ru-RU" sz="1400">
                          <a:solidFill>
                            <a:srgbClr val="1E2761"/>
                          </a:solidFill>
                          <a:latin typeface="Calibri"/>
                          <a:ea typeface="Calibri"/>
                          <a:cs typeface="Calibri"/>
                        </a:rPr>
                        <a:t>Adaptive CLAHE: dual-constraint clip limit in LAB space + stochastic gating</a:t>
                      </a:r>
                    </a:p>
                  </a:txBody>
                  <a:tcPr>
                    <a:solidFill>
                      <a:srgbClr val="F0F4FA"/>
                    </a:solidFill>
                  </a:tcPr>
                </a:tc>
                <a:tc>
                  <a:txBody>
                    <a:bodyPr/>
                    <a:lstStyle/>
                    <a:p>
                      <a:pPr algn="l"/>
                      <a:r>
                        <a:rPr lang="ru-RU" sz="1400">
                          <a:solidFill>
                            <a:srgbClr val="1E2761"/>
                          </a:solidFill>
                          <a:latin typeface="Calibri"/>
                          <a:ea typeface="Calibri"/>
                          <a:cs typeface="Calibri"/>
                        </a:rPr>
                        <a:t>Methodology</a:t>
                      </a:r>
                    </a:p>
                  </a:txBody>
                  <a:tcPr>
                    <a:solidFill>
                      <a:srgbClr val="F0F4FA"/>
                    </a:solidFill>
                  </a:tcPr>
                </a:tc>
                <a:extLst>
                  <a:ext uri="{0D108BD9-81ED-4DB2-BD59-A6C34878D82A}">
                    <a16:rowId xmlns:a16="http://schemas.microsoft.com/office/drawing/2014/main" val="3083976749"/>
                  </a:ext>
                </a:extLst>
              </a:tr>
              <a:tr h="431800">
                <a:tc>
                  <a:txBody>
                    <a:bodyPr/>
                    <a:lstStyle/>
                    <a:p>
                      <a:pPr algn="ctr"/>
                      <a:r>
                        <a:rPr lang="ru-RU" sz="1400" b="1">
                          <a:solidFill>
                            <a:srgbClr val="1E2761"/>
                          </a:solidFill>
                          <a:latin typeface="Calibri"/>
                          <a:ea typeface="Calibri"/>
                          <a:cs typeface="Calibri"/>
                        </a:rPr>
                        <a:t>SC-D</a:t>
                      </a:r>
                    </a:p>
                  </a:txBody>
                  <a:tcPr>
                    <a:solidFill>
                      <a:srgbClr val="FFFFFF"/>
                    </a:solidFill>
                  </a:tcPr>
                </a:tc>
                <a:tc>
                  <a:txBody>
                    <a:bodyPr/>
                    <a:lstStyle/>
                    <a:p>
                      <a:pPr algn="l"/>
                      <a:r>
                        <a:rPr lang="ru-RU" sz="1400">
                          <a:solidFill>
                            <a:srgbClr val="1E2761"/>
                          </a:solidFill>
                          <a:latin typeface="Calibri"/>
                          <a:ea typeface="Calibri"/>
                          <a:cs typeface="Calibri"/>
                        </a:rPr>
                        <a:t>Flat-field illumination normalization via Gaussian blur subtraction</a:t>
                      </a:r>
                    </a:p>
                  </a:txBody>
                  <a:tcPr>
                    <a:solidFill>
                      <a:srgbClr val="FFFFFF"/>
                    </a:solidFill>
                  </a:tcPr>
                </a:tc>
                <a:tc>
                  <a:txBody>
                    <a:bodyPr/>
                    <a:lstStyle/>
                    <a:p>
                      <a:pPr algn="l"/>
                      <a:r>
                        <a:rPr lang="ru-RU" sz="1400">
                          <a:solidFill>
                            <a:srgbClr val="1E2761"/>
                          </a:solidFill>
                          <a:latin typeface="Calibri"/>
                          <a:ea typeface="Calibri"/>
                          <a:cs typeface="Calibri"/>
                        </a:rPr>
                        <a:t>Methodology</a:t>
                      </a:r>
                    </a:p>
                  </a:txBody>
                  <a:tcPr>
                    <a:solidFill>
                      <a:srgbClr val="FFFFFF"/>
                    </a:solidFill>
                  </a:tcPr>
                </a:tc>
                <a:extLst>
                  <a:ext uri="{0D108BD9-81ED-4DB2-BD59-A6C34878D82A}">
                    <a16:rowId xmlns:a16="http://schemas.microsoft.com/office/drawing/2014/main" val="1735643693"/>
                  </a:ext>
                </a:extLst>
              </a:tr>
              <a:tr h="431800">
                <a:tc>
                  <a:txBody>
                    <a:bodyPr/>
                    <a:lstStyle/>
                    <a:p>
                      <a:pPr algn="ctr"/>
                      <a:r>
                        <a:rPr lang="ru-RU" sz="1400" b="1">
                          <a:solidFill>
                            <a:srgbClr val="1E2761"/>
                          </a:solidFill>
                          <a:latin typeface="Calibri"/>
                          <a:ea typeface="Calibri"/>
                          <a:cs typeface="Calibri"/>
                        </a:rPr>
                        <a:t>SC-F</a:t>
                      </a:r>
                    </a:p>
                  </a:txBody>
                  <a:tcPr>
                    <a:solidFill>
                      <a:srgbClr val="F0F4FA"/>
                    </a:solidFill>
                  </a:tcPr>
                </a:tc>
                <a:tc>
                  <a:txBody>
                    <a:bodyPr/>
                    <a:lstStyle/>
                    <a:p>
                      <a:pPr algn="l"/>
                      <a:r>
                        <a:rPr lang="ru-RU" sz="1400">
                          <a:solidFill>
                            <a:srgbClr val="1E2761"/>
                          </a:solidFill>
                          <a:latin typeface="Calibri"/>
                          <a:ea typeface="Calibri"/>
                          <a:cs typeface="Calibri"/>
                        </a:rPr>
                        <a:t>OD-Fovea rotation normalization with confidence-based fallback</a:t>
                      </a:r>
                    </a:p>
                  </a:txBody>
                  <a:tcPr>
                    <a:solidFill>
                      <a:srgbClr val="F0F4FA"/>
                    </a:solidFill>
                  </a:tcPr>
                </a:tc>
                <a:tc>
                  <a:txBody>
                    <a:bodyPr/>
                    <a:lstStyle/>
                    <a:p>
                      <a:pPr algn="l"/>
                      <a:r>
                        <a:rPr lang="ru-RU" sz="1400">
                          <a:solidFill>
                            <a:srgbClr val="1E2761"/>
                          </a:solidFill>
                          <a:latin typeface="Calibri"/>
                          <a:ea typeface="Calibri"/>
                          <a:cs typeface="Calibri"/>
                        </a:rPr>
                        <a:t>Methodology</a:t>
                      </a:r>
                    </a:p>
                  </a:txBody>
                  <a:tcPr>
                    <a:solidFill>
                      <a:srgbClr val="F0F4FA"/>
                    </a:solidFill>
                  </a:tcPr>
                </a:tc>
                <a:extLst>
                  <a:ext uri="{0D108BD9-81ED-4DB2-BD59-A6C34878D82A}">
                    <a16:rowId xmlns:a16="http://schemas.microsoft.com/office/drawing/2014/main" val="3284387361"/>
                  </a:ext>
                </a:extLst>
              </a:tr>
              <a:tr h="431800">
                <a:tc>
                  <a:txBody>
                    <a:bodyPr/>
                    <a:lstStyle/>
                    <a:p>
                      <a:pPr algn="ctr"/>
                      <a:r>
                        <a:rPr lang="ru-RU" sz="1400" b="1">
                          <a:solidFill>
                            <a:srgbClr val="1E2761"/>
                          </a:solidFill>
                          <a:latin typeface="Calibri"/>
                          <a:ea typeface="Calibri"/>
                          <a:cs typeface="Calibri"/>
                        </a:rPr>
                        <a:t>SC-B</a:t>
                      </a:r>
                    </a:p>
                  </a:txBody>
                  <a:tcPr>
                    <a:solidFill>
                      <a:srgbClr val="FFFFFF"/>
                    </a:solidFill>
                  </a:tcPr>
                </a:tc>
                <a:tc>
                  <a:txBody>
                    <a:bodyPr/>
                    <a:lstStyle/>
                    <a:p>
                      <a:pPr algn="l"/>
                      <a:r>
                        <a:rPr lang="ru-RU" sz="1400">
                          <a:solidFill>
                            <a:srgbClr val="1E2761"/>
                          </a:solidFill>
                          <a:latin typeface="Calibri"/>
                          <a:ea typeface="Calibri"/>
                          <a:cs typeface="Calibri"/>
                        </a:rPr>
                        <a:t>CLAHE clip limit sensitivity characterization on IDRiD (Exp 2)</a:t>
                      </a:r>
                    </a:p>
                  </a:txBody>
                  <a:tcPr>
                    <a:solidFill>
                      <a:srgbClr val="FFFFFF"/>
                    </a:solidFill>
                  </a:tcPr>
                </a:tc>
                <a:tc>
                  <a:txBody>
                    <a:bodyPr/>
                    <a:lstStyle/>
                    <a:p>
                      <a:pPr algn="l"/>
                      <a:r>
                        <a:rPr lang="ru-RU" sz="1400">
                          <a:solidFill>
                            <a:srgbClr val="1E2761"/>
                          </a:solidFill>
                          <a:latin typeface="Calibri"/>
                          <a:ea typeface="Calibri"/>
                          <a:cs typeface="Calibri"/>
                        </a:rPr>
                        <a:t>Evaluation</a:t>
                      </a:r>
                    </a:p>
                  </a:txBody>
                  <a:tcPr>
                    <a:solidFill>
                      <a:srgbClr val="FFFFFF"/>
                    </a:solidFill>
                  </a:tcPr>
                </a:tc>
                <a:extLst>
                  <a:ext uri="{0D108BD9-81ED-4DB2-BD59-A6C34878D82A}">
                    <a16:rowId xmlns:a16="http://schemas.microsoft.com/office/drawing/2014/main" val="3285656910"/>
                  </a:ext>
                </a:extLst>
              </a:tr>
              <a:tr h="431800">
                <a:tc>
                  <a:txBody>
                    <a:bodyPr/>
                    <a:lstStyle/>
                    <a:p>
                      <a:pPr algn="ctr"/>
                      <a:r>
                        <a:rPr lang="ru-RU" sz="1400" b="1">
                          <a:solidFill>
                            <a:srgbClr val="1E2761"/>
                          </a:solidFill>
                          <a:latin typeface="Calibri"/>
                          <a:ea typeface="Calibri"/>
                          <a:cs typeface="Calibri"/>
                        </a:rPr>
                        <a:t>SC-C</a:t>
                      </a:r>
                    </a:p>
                  </a:txBody>
                  <a:tcPr>
                    <a:solidFill>
                      <a:srgbClr val="F0F4FA"/>
                    </a:solidFill>
                  </a:tcPr>
                </a:tc>
                <a:tc>
                  <a:txBody>
                    <a:bodyPr/>
                    <a:lstStyle/>
                    <a:p>
                      <a:pPr algn="l"/>
                      <a:r>
                        <a:rPr lang="ru-RU" sz="1400">
                          <a:solidFill>
                            <a:srgbClr val="1E2761"/>
                          </a:solidFill>
                          <a:latin typeface="Calibri"/>
                          <a:ea typeface="Calibri"/>
                          <a:cs typeface="Calibri"/>
                        </a:rPr>
                        <a:t>Cross-device robustness matrix: Canon/Topcon/Kowa/Zeiss (Exp 6)</a:t>
                      </a:r>
                    </a:p>
                  </a:txBody>
                  <a:tcPr>
                    <a:solidFill>
                      <a:srgbClr val="F0F4FA"/>
                    </a:solidFill>
                  </a:tcPr>
                </a:tc>
                <a:tc>
                  <a:txBody>
                    <a:bodyPr/>
                    <a:lstStyle/>
                    <a:p>
                      <a:pPr algn="l"/>
                      <a:r>
                        <a:rPr lang="ru-RU" sz="1400">
                          <a:solidFill>
                            <a:srgbClr val="1E2761"/>
                          </a:solidFill>
                          <a:latin typeface="Calibri"/>
                          <a:ea typeface="Calibri"/>
                          <a:cs typeface="Calibri"/>
                        </a:rPr>
                        <a:t>Evaluation</a:t>
                      </a:r>
                    </a:p>
                  </a:txBody>
                  <a:tcPr>
                    <a:solidFill>
                      <a:srgbClr val="F0F4FA"/>
                    </a:solidFill>
                  </a:tcPr>
                </a:tc>
                <a:extLst>
                  <a:ext uri="{0D108BD9-81ED-4DB2-BD59-A6C34878D82A}">
                    <a16:rowId xmlns:a16="http://schemas.microsoft.com/office/drawing/2014/main" val="2941141326"/>
                  </a:ext>
                </a:extLst>
              </a:tr>
              <a:tr h="431800">
                <a:tc>
                  <a:txBody>
                    <a:bodyPr/>
                    <a:lstStyle/>
                    <a:p>
                      <a:pPr algn="ctr"/>
                      <a:r>
                        <a:rPr lang="ru-RU" sz="1400" b="1">
                          <a:solidFill>
                            <a:srgbClr val="1E2761"/>
                          </a:solidFill>
                          <a:latin typeface="Calibri"/>
                          <a:ea typeface="Calibri"/>
                          <a:cs typeface="Calibri"/>
                        </a:rPr>
                        <a:t>SC-E</a:t>
                      </a:r>
                    </a:p>
                  </a:txBody>
                  <a:tcPr>
                    <a:solidFill>
                      <a:srgbClr val="FFFFFF"/>
                    </a:solidFill>
                  </a:tcPr>
                </a:tc>
                <a:tc>
                  <a:txBody>
                    <a:bodyPr/>
                    <a:lstStyle/>
                    <a:p>
                      <a:pPr algn="l"/>
                      <a:r>
                        <a:rPr lang="ru-RU" sz="1400">
                          <a:solidFill>
                            <a:srgbClr val="1E2761"/>
                          </a:solidFill>
                          <a:latin typeface="Calibri"/>
                          <a:ea typeface="Calibri"/>
                          <a:cs typeface="Calibri"/>
                        </a:rPr>
                        <a:t>Per-patient binocular fusion model (PatientHead architecture)</a:t>
                      </a:r>
                    </a:p>
                  </a:txBody>
                  <a:tcPr>
                    <a:solidFill>
                      <a:srgbClr val="FFFFFF"/>
                    </a:solidFill>
                  </a:tcPr>
                </a:tc>
                <a:tc>
                  <a:txBody>
                    <a:bodyPr/>
                    <a:lstStyle/>
                    <a:p>
                      <a:pPr algn="l"/>
                      <a:r>
                        <a:rPr lang="ru-RU" sz="1400">
                          <a:solidFill>
                            <a:srgbClr val="1E2761"/>
                          </a:solidFill>
                          <a:latin typeface="Calibri"/>
                          <a:ea typeface="Calibri"/>
                          <a:cs typeface="Calibri"/>
                        </a:rPr>
                        <a:t>Explainability</a:t>
                      </a:r>
                    </a:p>
                  </a:txBody>
                  <a:tcPr>
                    <a:solidFill>
                      <a:srgbClr val="FFFFFF"/>
                    </a:solidFill>
                  </a:tcPr>
                </a:tc>
                <a:extLst>
                  <a:ext uri="{0D108BD9-81ED-4DB2-BD59-A6C34878D82A}">
                    <a16:rowId xmlns:a16="http://schemas.microsoft.com/office/drawing/2014/main" val="4076088981"/>
                  </a:ext>
                </a:extLst>
              </a:tr>
            </a:tbl>
          </a:graphicData>
        </a:graphic>
      </p:graphicFrame>
      <p:sp>
        <p:nvSpPr>
          <p:cNvPr id="5" name="TextBox 4">
            <a:extLst>
              <a:ext uri="{FF2B5EF4-FFF2-40B4-BE49-F238E27FC236}">
                <a16:creationId xmlns:a16="http://schemas.microsoft.com/office/drawing/2014/main" id="{7BD46A6A-820A-4820-8238-9DBE7B36493A}"/>
              </a:ext>
            </a:extLst>
          </p:cNvPr>
          <p:cNvSpPr txBox="1"/>
          <p:nvPr/>
        </p:nvSpPr>
        <p:spPr>
          <a:xfrm>
            <a:off x="2159000" y="4762500"/>
            <a:ext cx="7874000" cy="279400"/>
          </a:xfrm>
          <a:prstGeom prst="rect">
            <a:avLst/>
          </a:prstGeom>
          <a:noFill/>
          <a:ln>
            <a:noFill/>
          </a:ln>
        </p:spPr>
        <p:txBody>
          <a:bodyPr vertOverflow="overflow" vert="horz" wrap="square" rtlCol="0" anchor="t">
            <a:spAutoFit/>
          </a:bodyPr>
          <a:lstStyle/>
          <a:p>
            <a:pPr algn="ctr">
              <a:buNone/>
            </a:pPr>
            <a:r>
              <a:rPr lang="kk-KZ" sz="1400" i="1" dirty="0">
                <a:solidFill>
                  <a:srgbClr val="888888"/>
                </a:solidFill>
                <a:latin typeface="Calibri Light"/>
              </a:rPr>
              <a:t>Әдістеме (3) + Бағалау (2) + Түсіндірме (1) = 6 қосымша үлес</a:t>
            </a:r>
          </a:p>
        </p:txBody>
      </p:sp>
      <p:pic>
        <p:nvPicPr>
          <p:cNvPr id="6" name="Graphic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66500" y="381000"/>
            <a:ext cx="609600" cy="609600"/>
          </a:xfrm>
          <a:prstGeom prst="rect">
            <a:avLst/>
          </a:prstGeom>
        </p:spPr>
      </p:pic>
    </p:spTree>
    <p:extLst>
      <p:ext uri="{BB962C8B-B14F-4D97-AF65-F5344CB8AC3E}">
        <p14:creationId xmlns:p14="http://schemas.microsoft.com/office/powerpoint/2010/main" val="3801199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6C7A3F-F8B0-D83E-764B-0E17F1479F0A}"/>
              </a:ext>
            </a:extLst>
          </p:cNvPr>
          <p:cNvSpPr>
            <a:spLocks noGrp="1"/>
          </p:cNvSpPr>
          <p:nvPr>
            <p:ph type="title"/>
          </p:nvPr>
        </p:nvSpPr>
        <p:spPr/>
        <p:txBody>
          <a:bodyPr/>
          <a:lstStyle/>
          <a:p>
            <a:pPr algn="l">
              <a:buNone/>
            </a:pPr>
            <a:r>
              <a:rPr lang="kk-KZ" sz="3200" b="1" dirty="0">
                <a:solidFill>
                  <a:srgbClr val="1E2761"/>
                </a:solidFill>
                <a:latin typeface="Cambria"/>
              </a:rPr>
              <a:t>Негізгі эксперименттік тұжырымдар</a:t>
            </a:r>
          </a:p>
        </p:txBody>
      </p:sp>
      <p:sp>
        <p:nvSpPr>
          <p:cNvPr id="21" name="Row0"/>
          <p:cNvSpPr/>
          <p:nvPr/>
        </p:nvSpPr>
        <p:spPr>
          <a:xfrm>
            <a:off x="1270000" y="1587500"/>
            <a:ext cx="10668000" cy="698500"/>
          </a:xfrm>
          <a:prstGeom prst="roundRect">
            <a:avLst>
              <a:gd name="adj" fmla="val 10000"/>
            </a:avLst>
          </a:prstGeom>
          <a:solidFill>
            <a:srgbClr val="F0F4FA"/>
          </a:solidFill>
          <a:ln w="0">
            <a:noFill/>
          </a:ln>
        </p:spPr>
        <p:txBody>
          <a:bodyPr wrap="square" lIns="91440" tIns="36000" rIns="91440" bIns="36000" anchor="ctr"/>
          <a:lstStyle/>
          <a:p>
            <a:pPr algn="l">
              <a:buNone/>
            </a:pPr>
            <a:r>
              <a:rPr lang="kk-KZ" sz="1600" b="1" dirty="0">
                <a:solidFill>
                  <a:srgbClr val="1E2761"/>
                </a:solidFill>
                <a:latin typeface="Cambria"/>
              </a:rPr>
              <a:t>H-1: Алдын ала өңдеу басымдығы</a:t>
            </a:r>
          </a:p>
          <a:p>
            <a:pPr algn="l">
              <a:buNone/>
            </a:pPr>
            <a:r>
              <a:rPr lang="kk-KZ" sz="1400" dirty="0">
                <a:solidFill>
                  <a:srgbClr val="1E2761"/>
                </a:solidFill>
                <a:latin typeface="Calibri"/>
              </a:rPr>
              <a:t>Архитектураға тәуелді: EfficientNet-B3 ΔF1=+5.3pp [P]; ResNet-50 орындалмады</a:t>
            </a:r>
          </a:p>
        </p:txBody>
      </p:sp>
      <p:sp>
        <p:nvSpPr>
          <p:cNvPr id="20" name="Status0"/>
          <p:cNvSpPr/>
          <p:nvPr/>
        </p:nvSpPr>
        <p:spPr>
          <a:xfrm>
            <a:off x="635000" y="1651000"/>
            <a:ext cx="508000" cy="508000"/>
          </a:xfrm>
          <a:prstGeom prst="ellipse">
            <a:avLst/>
          </a:prstGeom>
          <a:solidFill>
            <a:srgbClr val="2ECC71"/>
          </a:solidFill>
          <a:ln w="0">
            <a:noFill/>
          </a:ln>
        </p:spPr>
        <p:txBody>
          <a:bodyPr wrap="none" lIns="0" tIns="0" rIns="0" bIns="0" anchor="ctr"/>
          <a:lstStyle/>
          <a:p>
            <a:pPr algn="ctr">
              <a:buNone/>
            </a:pPr>
            <a:r>
              <a:rPr lang="en-US" sz="2000" b="1" dirty="0">
                <a:solidFill>
                  <a:srgbClr val="FFFFFF"/>
                </a:solidFill>
                <a:latin typeface="Calibri"/>
              </a:rPr>
              <a:t>✓</a:t>
            </a:r>
          </a:p>
        </p:txBody>
      </p:sp>
      <p:sp>
        <p:nvSpPr>
          <p:cNvPr id="24" name="Row1"/>
          <p:cNvSpPr/>
          <p:nvPr/>
        </p:nvSpPr>
        <p:spPr>
          <a:xfrm>
            <a:off x="1270000" y="2362200"/>
            <a:ext cx="10668000" cy="698500"/>
          </a:xfrm>
          <a:prstGeom prst="roundRect">
            <a:avLst>
              <a:gd name="adj" fmla="val 10000"/>
            </a:avLst>
          </a:prstGeom>
          <a:solidFill>
            <a:srgbClr val="F0F4FA"/>
          </a:solidFill>
          <a:ln w="0">
            <a:noFill/>
          </a:ln>
        </p:spPr>
        <p:txBody>
          <a:bodyPr wrap="square" lIns="91440" tIns="36000" rIns="91440" bIns="36000" anchor="ctr"/>
          <a:lstStyle/>
          <a:p>
            <a:pPr algn="l">
              <a:buNone/>
            </a:pPr>
            <a:r>
              <a:rPr lang="kk-KZ" sz="1600" b="1" dirty="0">
                <a:solidFill>
                  <a:srgbClr val="1E2761"/>
                </a:solidFill>
                <a:latin typeface="Cambria"/>
              </a:rPr>
              <a:t>H-2: CLAHE сезімталдығы</a:t>
            </a:r>
            <a:r>
              <a:rPr lang="kk-KZ" sz="1400" dirty="0">
                <a:solidFill>
                  <a:srgbClr val="C0392B"/>
                </a:solidFill>
                <a:latin typeface="Calibri"/>
              </a:rPr>
              <a:t>  [S]</a:t>
            </a:r>
          </a:p>
          <a:p>
            <a:pPr algn="l">
              <a:buNone/>
            </a:pPr>
            <a:r>
              <a:rPr lang="kk-KZ" sz="1400" dirty="0">
                <a:solidFill>
                  <a:srgbClr val="1E2761"/>
                </a:solidFill>
                <a:latin typeface="Calibri"/>
              </a:rPr>
              <a:t>Сезімталдық профилі анықталады; жергілікті оптимум clip_factor=2.0–2.5 [S]</a:t>
            </a:r>
          </a:p>
        </p:txBody>
      </p:sp>
      <p:sp>
        <p:nvSpPr>
          <p:cNvPr id="23" name="Status1"/>
          <p:cNvSpPr/>
          <p:nvPr/>
        </p:nvSpPr>
        <p:spPr>
          <a:xfrm>
            <a:off x="635000" y="2425700"/>
            <a:ext cx="508000" cy="508000"/>
          </a:xfrm>
          <a:prstGeom prst="ellipse">
            <a:avLst/>
          </a:prstGeom>
          <a:solidFill>
            <a:srgbClr val="E8B84B"/>
          </a:solidFill>
          <a:ln w="0">
            <a:noFill/>
          </a:ln>
        </p:spPr>
        <p:txBody>
          <a:bodyPr wrap="none" lIns="0" tIns="0" rIns="0" bIns="0" anchor="ctr"/>
          <a:lstStyle/>
          <a:p>
            <a:pPr algn="ctr">
              <a:buNone/>
            </a:pPr>
            <a:r>
              <a:rPr lang="en-US" sz="2000" b="1" dirty="0">
                <a:solidFill>
                  <a:srgbClr val="FFFFFF"/>
                </a:solidFill>
                <a:latin typeface="Calibri"/>
              </a:rPr>
              <a:t>~</a:t>
            </a:r>
          </a:p>
        </p:txBody>
      </p:sp>
      <p:sp>
        <p:nvSpPr>
          <p:cNvPr id="27" name="Row2"/>
          <p:cNvSpPr/>
          <p:nvPr/>
        </p:nvSpPr>
        <p:spPr>
          <a:xfrm>
            <a:off x="1270000" y="3136900"/>
            <a:ext cx="10668000" cy="698500"/>
          </a:xfrm>
          <a:prstGeom prst="roundRect">
            <a:avLst>
              <a:gd name="adj" fmla="val 10000"/>
            </a:avLst>
          </a:prstGeom>
          <a:solidFill>
            <a:srgbClr val="F0F4FA"/>
          </a:solidFill>
          <a:ln w="0">
            <a:noFill/>
          </a:ln>
        </p:spPr>
        <p:txBody>
          <a:bodyPr wrap="square" lIns="91440" tIns="36000" rIns="91440" bIns="36000" anchor="ctr"/>
          <a:lstStyle/>
          <a:p>
            <a:pPr algn="l">
              <a:buNone/>
            </a:pPr>
            <a:r>
              <a:rPr lang="kk-KZ" sz="1600" b="1" dirty="0">
                <a:solidFill>
                  <a:srgbClr val="1E2761"/>
                </a:solidFill>
                <a:latin typeface="Cambria"/>
              </a:rPr>
              <a:t>H-4: Деректер жиынтықтары арасындағы жалпылау</a:t>
            </a:r>
            <a:r>
              <a:rPr lang="kk-KZ" sz="1400" dirty="0">
                <a:solidFill>
                  <a:srgbClr val="C0392B"/>
                </a:solidFill>
                <a:latin typeface="Calibri"/>
              </a:rPr>
              <a:t>  [S]</a:t>
            </a:r>
          </a:p>
          <a:p>
            <a:pPr algn="l">
              <a:buNone/>
            </a:pPr>
            <a:r>
              <a:rPr lang="kk-KZ" sz="1400" dirty="0">
                <a:solidFill>
                  <a:srgbClr val="1E2761"/>
                </a:solidFill>
                <a:latin typeface="Calibri"/>
              </a:rPr>
              <a:t>G ≥ 0.85 қол жеткізілді: IDRiD (0.88), Messidor-2 (0.90) [S]</a:t>
            </a:r>
          </a:p>
        </p:txBody>
      </p:sp>
      <p:sp>
        <p:nvSpPr>
          <p:cNvPr id="26" name="Status2"/>
          <p:cNvSpPr/>
          <p:nvPr/>
        </p:nvSpPr>
        <p:spPr>
          <a:xfrm>
            <a:off x="635000" y="3200400"/>
            <a:ext cx="508000" cy="508000"/>
          </a:xfrm>
          <a:prstGeom prst="ellipse">
            <a:avLst/>
          </a:prstGeom>
          <a:solidFill>
            <a:srgbClr val="2ECC71"/>
          </a:solidFill>
          <a:ln w="0">
            <a:noFill/>
          </a:ln>
        </p:spPr>
        <p:txBody>
          <a:bodyPr wrap="none" lIns="0" tIns="0" rIns="0" bIns="0" anchor="ctr"/>
          <a:lstStyle/>
          <a:p>
            <a:pPr algn="ctr">
              <a:buNone/>
            </a:pPr>
            <a:r>
              <a:rPr lang="en-US" sz="2000" b="1" dirty="0">
                <a:solidFill>
                  <a:srgbClr val="FFFFFF"/>
                </a:solidFill>
                <a:latin typeface="Calibri"/>
              </a:rPr>
              <a:t>✓</a:t>
            </a:r>
          </a:p>
        </p:txBody>
      </p:sp>
      <p:sp>
        <p:nvSpPr>
          <p:cNvPr id="30" name="Row3"/>
          <p:cNvSpPr/>
          <p:nvPr/>
        </p:nvSpPr>
        <p:spPr>
          <a:xfrm>
            <a:off x="1270000" y="3911600"/>
            <a:ext cx="10668000" cy="698500"/>
          </a:xfrm>
          <a:prstGeom prst="roundRect">
            <a:avLst>
              <a:gd name="adj" fmla="val 10000"/>
            </a:avLst>
          </a:prstGeom>
          <a:solidFill>
            <a:srgbClr val="F0F4FA"/>
          </a:solidFill>
          <a:ln w="0">
            <a:noFill/>
          </a:ln>
        </p:spPr>
        <p:txBody>
          <a:bodyPr wrap="square" lIns="91440" tIns="36000" rIns="91440" bIns="36000" anchor="ctr"/>
          <a:lstStyle/>
          <a:p>
            <a:pPr algn="l">
              <a:buNone/>
            </a:pPr>
            <a:r>
              <a:rPr lang="kk-KZ" sz="1600" b="1" dirty="0">
                <a:solidFill>
                  <a:srgbClr val="1E2761"/>
                </a:solidFill>
                <a:latin typeface="Cambria"/>
              </a:rPr>
              <a:t>H-5: Түсіндірме (ALO)</a:t>
            </a:r>
            <a:r>
              <a:rPr lang="kk-KZ" sz="1400" dirty="0">
                <a:solidFill>
                  <a:srgbClr val="C0392B"/>
                </a:solidFill>
                <a:latin typeface="Calibri"/>
              </a:rPr>
              <a:t>  [S]</a:t>
            </a:r>
          </a:p>
          <a:p>
            <a:pPr algn="l">
              <a:buNone/>
            </a:pPr>
            <a:r>
              <a:rPr lang="kk-KZ" sz="1400" dirty="0">
                <a:solidFill>
                  <a:srgbClr val="1E2761"/>
                </a:solidFill>
                <a:latin typeface="Calibri"/>
              </a:rPr>
              <a:t>ALO жақсаруы +31–61% барлық 4 зақымдану түрі бойынша [S]</a:t>
            </a:r>
          </a:p>
        </p:txBody>
      </p:sp>
      <p:sp>
        <p:nvSpPr>
          <p:cNvPr id="29" name="Status3"/>
          <p:cNvSpPr/>
          <p:nvPr/>
        </p:nvSpPr>
        <p:spPr>
          <a:xfrm>
            <a:off x="635000" y="3975100"/>
            <a:ext cx="508000" cy="508000"/>
          </a:xfrm>
          <a:prstGeom prst="ellipse">
            <a:avLst/>
          </a:prstGeom>
          <a:solidFill>
            <a:srgbClr val="2ECC71"/>
          </a:solidFill>
          <a:ln w="0">
            <a:noFill/>
          </a:ln>
        </p:spPr>
        <p:txBody>
          <a:bodyPr wrap="none" lIns="0" tIns="0" rIns="0" bIns="0" anchor="ctr"/>
          <a:lstStyle/>
          <a:p>
            <a:pPr algn="ctr">
              <a:buNone/>
            </a:pPr>
            <a:r>
              <a:rPr lang="en-US" sz="2000" b="1" dirty="0">
                <a:solidFill>
                  <a:srgbClr val="FFFFFF"/>
                </a:solidFill>
                <a:latin typeface="Calibri"/>
              </a:rPr>
              <a:t>✓</a:t>
            </a:r>
          </a:p>
        </p:txBody>
      </p:sp>
      <p:sp>
        <p:nvSpPr>
          <p:cNvPr id="33" name="Row4"/>
          <p:cNvSpPr/>
          <p:nvPr/>
        </p:nvSpPr>
        <p:spPr>
          <a:xfrm>
            <a:off x="1270000" y="4686300"/>
            <a:ext cx="10668000" cy="698500"/>
          </a:xfrm>
          <a:prstGeom prst="roundRect">
            <a:avLst>
              <a:gd name="adj" fmla="val 10000"/>
            </a:avLst>
          </a:prstGeom>
          <a:solidFill>
            <a:srgbClr val="F0F4FA"/>
          </a:solidFill>
          <a:ln w="0">
            <a:noFill/>
          </a:ln>
        </p:spPr>
        <p:txBody>
          <a:bodyPr wrap="square" lIns="91440" tIns="36000" rIns="91440" bIns="36000" anchor="ctr"/>
          <a:lstStyle/>
          <a:p>
            <a:pPr algn="l">
              <a:buNone/>
            </a:pPr>
            <a:r>
              <a:rPr lang="kk-KZ" sz="1600" b="1" dirty="0">
                <a:solidFill>
                  <a:srgbClr val="1E2761"/>
                </a:solidFill>
                <a:latin typeface="Cambria"/>
              </a:rPr>
              <a:t>H-6: Құрылғы тұрақтылығы</a:t>
            </a:r>
            <a:r>
              <a:rPr lang="kk-KZ" sz="1400" dirty="0">
                <a:solidFill>
                  <a:srgbClr val="C0392B"/>
                </a:solidFill>
                <a:latin typeface="Calibri"/>
              </a:rPr>
              <a:t>  [S]</a:t>
            </a:r>
          </a:p>
          <a:p>
            <a:pPr algn="l">
              <a:buNone/>
            </a:pPr>
            <a:r>
              <a:rPr lang="kk-KZ" sz="1400" dirty="0">
                <a:solidFill>
                  <a:srgbClr val="1E2761"/>
                </a:solidFill>
                <a:latin typeface="Calibri"/>
              </a:rPr>
              <a:t>Құрылғылар арасындағы дисперсия −46% [S]</a:t>
            </a:r>
          </a:p>
        </p:txBody>
      </p:sp>
      <p:sp>
        <p:nvSpPr>
          <p:cNvPr id="32" name="Status4"/>
          <p:cNvSpPr/>
          <p:nvPr/>
        </p:nvSpPr>
        <p:spPr>
          <a:xfrm>
            <a:off x="635000" y="4749800"/>
            <a:ext cx="508000" cy="508000"/>
          </a:xfrm>
          <a:prstGeom prst="ellipse">
            <a:avLst/>
          </a:prstGeom>
          <a:solidFill>
            <a:srgbClr val="2ECC71"/>
          </a:solidFill>
          <a:ln w="0">
            <a:noFill/>
          </a:ln>
        </p:spPr>
        <p:txBody>
          <a:bodyPr wrap="none" lIns="0" tIns="0" rIns="0" bIns="0" anchor="ctr"/>
          <a:lstStyle/>
          <a:p>
            <a:pPr algn="ctr">
              <a:buNone/>
            </a:pPr>
            <a:r>
              <a:rPr lang="en-US" sz="2000" b="1" dirty="0">
                <a:solidFill>
                  <a:srgbClr val="FFFFFF"/>
                </a:solidFill>
                <a:latin typeface="Calibri"/>
              </a:rPr>
              <a:t>✓</a:t>
            </a:r>
          </a:p>
        </p:txBody>
      </p:sp>
      <p:sp>
        <p:nvSpPr>
          <p:cNvPr id="36" name="Row5"/>
          <p:cNvSpPr/>
          <p:nvPr/>
        </p:nvSpPr>
        <p:spPr>
          <a:xfrm>
            <a:off x="1270000" y="5461000"/>
            <a:ext cx="10668000" cy="698500"/>
          </a:xfrm>
          <a:prstGeom prst="roundRect">
            <a:avLst>
              <a:gd name="adj" fmla="val 10000"/>
            </a:avLst>
          </a:prstGeom>
          <a:solidFill>
            <a:srgbClr val="EEEEEE"/>
          </a:solidFill>
          <a:ln w="0">
            <a:noFill/>
          </a:ln>
        </p:spPr>
        <p:txBody>
          <a:bodyPr wrap="square" lIns="91440" tIns="36000" rIns="91440" bIns="36000" anchor="ctr"/>
          <a:lstStyle/>
          <a:p>
            <a:pPr algn="l">
              <a:buNone/>
            </a:pPr>
            <a:r>
              <a:rPr lang="kk-KZ" sz="1600" b="1" dirty="0">
                <a:solidFill>
                  <a:srgbClr val="888888"/>
                </a:solidFill>
                <a:latin typeface="Cambria"/>
              </a:rPr>
              <a:t>H-3: АЛЫНЫП ТАСТАЛДЫ</a:t>
            </a:r>
          </a:p>
          <a:p>
            <a:pPr algn="l">
              <a:buNone/>
            </a:pPr>
            <a:r>
              <a:rPr lang="kk-KZ" sz="1400" strike="sngStrike" dirty="0">
                <a:solidFill>
                  <a:srgbClr val="888888"/>
                </a:solidFill>
                <a:latin typeface="Calibri"/>
              </a:rPr>
              <a:t>Екі кезеңді Fine-Tuning — V3 көлемін қысқарту кезінде алынып тасталды</a:t>
            </a:r>
          </a:p>
        </p:txBody>
      </p:sp>
      <p:sp>
        <p:nvSpPr>
          <p:cNvPr id="35" name="Status5"/>
          <p:cNvSpPr/>
          <p:nvPr/>
        </p:nvSpPr>
        <p:spPr>
          <a:xfrm>
            <a:off x="635000" y="5524500"/>
            <a:ext cx="508000" cy="508000"/>
          </a:xfrm>
          <a:prstGeom prst="ellipse">
            <a:avLst/>
          </a:prstGeom>
          <a:solidFill>
            <a:srgbClr val="C0392B"/>
          </a:solidFill>
          <a:ln w="0">
            <a:noFill/>
          </a:ln>
        </p:spPr>
        <p:txBody>
          <a:bodyPr wrap="none" lIns="0" tIns="0" rIns="0" bIns="0" anchor="ctr"/>
          <a:lstStyle/>
          <a:p>
            <a:pPr algn="ctr">
              <a:buNone/>
            </a:pPr>
            <a:r>
              <a:rPr lang="en-US" sz="2000" b="1" dirty="0">
                <a:solidFill>
                  <a:srgbClr val="FFFFFF"/>
                </a:solidFill>
                <a:latin typeface="Calibri"/>
              </a:rPr>
              <a:t>✗</a:t>
            </a:r>
          </a:p>
        </p:txBody>
      </p:sp>
      <p:sp>
        <p:nvSpPr>
          <p:cNvPr id="50" name="Legend"/>
          <p:cNvSpPr/>
          <p:nvPr/>
        </p:nvSpPr>
        <p:spPr>
          <a:xfrm>
            <a:off x="1270000" y="6299200"/>
            <a:ext cx="10668000" cy="279400"/>
          </a:xfrm>
          <a:prstGeom prst="rect">
            <a:avLst/>
          </a:prstGeom>
          <a:noFill/>
          <a:ln w="0">
            <a:noFill/>
          </a:ln>
        </p:spPr>
        <p:txBody>
          <a:bodyPr wrap="square" anchor="t"/>
          <a:lstStyle/>
          <a:p>
            <a:pPr algn="ctr">
              <a:buNone/>
            </a:pPr>
            <a:r>
              <a:rPr lang="kk-KZ" sz="1400" i="1" dirty="0">
                <a:solidFill>
                  <a:srgbClr val="888888"/>
                </a:solidFill>
                <a:latin typeface="Calibri Light"/>
              </a:rPr>
              <a:t>[P] = Болжамды    [S] = Синтезделген    ~ = Толық нәтижелер күтілуде</a:t>
            </a:r>
          </a:p>
        </p:txBody>
      </p:sp>
      <p:pic>
        <p:nvPicPr>
          <p:cNvPr id="51" name="Graphic 5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66500" y="381000"/>
            <a:ext cx="609600" cy="609600"/>
          </a:xfrm>
          <a:prstGeom prst="rect">
            <a:avLst/>
          </a:prstGeom>
        </p:spPr>
      </p:pic>
    </p:spTree>
    <p:extLst>
      <p:ext uri="{BB962C8B-B14F-4D97-AF65-F5344CB8AC3E}">
        <p14:creationId xmlns:p14="http://schemas.microsoft.com/office/powerpoint/2010/main" val="9459234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169482E-40CA-E150-73A5-D905E07B599C}"/>
              </a:ext>
            </a:extLst>
          </p:cNvPr>
          <p:cNvSpPr>
            <a:spLocks noGrp="1"/>
          </p:cNvSpPr>
          <p:nvPr>
            <p:ph type="title"/>
          </p:nvPr>
        </p:nvSpPr>
        <p:spPr/>
        <p:txBody>
          <a:bodyPr/>
          <a:lstStyle/>
          <a:p>
            <a:pPr algn="l">
              <a:buNone/>
            </a:pPr>
            <a:r>
              <a:rPr lang="kk-KZ" sz="2800" b="1" dirty="0">
                <a:solidFill>
                  <a:srgbClr val="1E2761"/>
                </a:solidFill>
                <a:latin typeface="Cambria"/>
              </a:rPr>
              <a:t>Теориялық және практикалық маңыздылығы</a:t>
            </a:r>
          </a:p>
        </p:txBody>
      </p:sp>
      <p:sp>
        <p:nvSpPr>
          <p:cNvPr id="3" name="Прямоугольник: скругленные углы 2">
            <a:extLst>
              <a:ext uri="{FF2B5EF4-FFF2-40B4-BE49-F238E27FC236}">
                <a16:creationId xmlns:a16="http://schemas.microsoft.com/office/drawing/2014/main" id="{49849D4B-8E88-439E-9D49-C813F3E48D0C}"/>
              </a:ext>
            </a:extLst>
          </p:cNvPr>
          <p:cNvSpPr/>
          <p:nvPr/>
        </p:nvSpPr>
        <p:spPr>
          <a:xfrm>
            <a:off x="508000" y="1524000"/>
            <a:ext cx="5524500" cy="3683000"/>
          </a:xfrm>
          <a:prstGeom prst="roundRect">
            <a:avLst/>
          </a:prstGeom>
          <a:solidFill>
            <a:srgbClr val="F0F4FA"/>
          </a:solidFill>
          <a:ln w="25400" cap="flat" cmpd="sng" algn="ctr">
            <a:solidFill>
              <a:srgbClr val="3A7BD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4" name="TextBox 3">
            <a:extLst>
              <a:ext uri="{FF2B5EF4-FFF2-40B4-BE49-F238E27FC236}">
                <a16:creationId xmlns:a16="http://schemas.microsoft.com/office/drawing/2014/main" id="{55CB5359-4816-4FF4-A291-0AFAE032CA26}"/>
              </a:ext>
            </a:extLst>
          </p:cNvPr>
          <p:cNvSpPr txBox="1"/>
          <p:nvPr/>
        </p:nvSpPr>
        <p:spPr>
          <a:xfrm>
            <a:off x="635000" y="1587500"/>
            <a:ext cx="5270500" cy="3556000"/>
          </a:xfrm>
          <a:prstGeom prst="rect">
            <a:avLst/>
          </a:prstGeom>
          <a:noFill/>
          <a:ln>
            <a:noFill/>
          </a:ln>
        </p:spPr>
        <p:txBody>
          <a:bodyPr vertOverflow="overflow" vert="horz" wrap="square" rtlCol="0" anchor="t">
            <a:spAutoFit/>
          </a:bodyPr>
          <a:lstStyle/>
          <a:p>
            <a:pPr algn="ctr">
              <a:buNone/>
            </a:pPr>
            <a:r>
              <a:rPr lang="kk-KZ" sz="1800" b="1" dirty="0">
                <a:solidFill>
                  <a:srgbClr val="3A7BD5"/>
                </a:solidFill>
                <a:latin typeface="Cambria"/>
              </a:rPr>
              <a:t>Теориялық</a:t>
            </a:r>
          </a:p>
          <a:p>
            <a:pPr marL="228600" indent="-228600">
              <a:buFont typeface="Arial"/>
              <a:buChar char="●"/>
            </a:pPr>
            <a:r>
              <a:rPr lang="kk-KZ" sz="1400" b="1" dirty="0">
                <a:solidFill>
                  <a:srgbClr val="1E2761"/>
                </a:solidFill>
                <a:latin typeface="Calibri"/>
              </a:rPr>
              <a:t>Алдын ала өңдеу модель компоненті ретінде</a:t>
            </a:r>
            <a:r>
              <a:rPr lang="kk-KZ" sz="1400" dirty="0">
                <a:solidFill>
                  <a:srgbClr val="1E2761"/>
                </a:solidFill>
                <a:latin typeface="Calibri"/>
              </a:rPr>
              <a:t>: модель = preprocessing + CNN формализациясы</a:t>
            </a:r>
          </a:p>
          <a:p>
            <a:pPr marL="228600" indent="-228600">
              <a:buFont typeface="Arial"/>
              <a:buChar char="●"/>
            </a:pPr>
            <a:r>
              <a:rPr lang="kk-KZ" sz="1400" b="1" dirty="0">
                <a:solidFill>
                  <a:srgbClr val="1E2761"/>
                </a:solidFill>
                <a:latin typeface="Calibri"/>
              </a:rPr>
              <a:t>ALO метрикасы</a:t>
            </a:r>
            <a:r>
              <a:rPr lang="kk-KZ" sz="1400" dirty="0">
                <a:solidFill>
                  <a:srgbClr val="1E2761"/>
                </a:solidFill>
                <a:latin typeface="Calibri"/>
              </a:rPr>
              <a:t>: зақымдану назарына арналған жаңа асимметриялық түсіндірме метрикасы</a:t>
            </a:r>
          </a:p>
          <a:p>
            <a:pPr marL="228600" indent="-228600">
              <a:buFont typeface="Arial"/>
              <a:buChar char="●"/>
            </a:pPr>
            <a:r>
              <a:rPr lang="kk-KZ" sz="1400" b="1" dirty="0">
                <a:solidFill>
                  <a:srgbClr val="1E2761"/>
                </a:solidFill>
                <a:latin typeface="Calibri"/>
              </a:rPr>
              <a:t>Қос шектеулі CLAHE</a:t>
            </a:r>
            <a:r>
              <a:rPr lang="kk-KZ" sz="1400" dirty="0">
                <a:solidFill>
                  <a:srgbClr val="1E2761"/>
                </a:solidFill>
                <a:latin typeface="Calibri"/>
              </a:rPr>
              <a:t>: clip limit формуляциясы мен сезімталдық сипаттамасы</a:t>
            </a:r>
          </a:p>
          <a:p>
            <a:pPr marL="228600" indent="-228600">
              <a:buFont typeface="Arial"/>
              <a:buChar char="●"/>
            </a:pPr>
            <a:r>
              <a:rPr lang="kk-KZ" sz="1400" b="1" dirty="0">
                <a:solidFill>
                  <a:srgbClr val="1E2761"/>
                </a:solidFill>
                <a:latin typeface="Calibri"/>
              </a:rPr>
              <a:t>Нормализация–жалпылау байланысы</a:t>
            </a:r>
            <a:r>
              <a:rPr lang="kk-KZ" sz="1400" dirty="0">
                <a:solidFill>
                  <a:srgbClr val="1E2761"/>
                </a:solidFill>
                <a:latin typeface="Calibri"/>
              </a:rPr>
              <a:t>: алдын ала өңдеу Domain Shift-ті азайтады</a:t>
            </a:r>
          </a:p>
        </p:txBody>
      </p:sp>
      <p:sp>
        <p:nvSpPr>
          <p:cNvPr id="5" name="Прямоугольник: скругленные углы 4">
            <a:extLst>
              <a:ext uri="{FF2B5EF4-FFF2-40B4-BE49-F238E27FC236}">
                <a16:creationId xmlns:a16="http://schemas.microsoft.com/office/drawing/2014/main" id="{F99E2214-87D3-4B95-8FE7-8FC22DEB4210}"/>
              </a:ext>
            </a:extLst>
          </p:cNvPr>
          <p:cNvSpPr/>
          <p:nvPr/>
        </p:nvSpPr>
        <p:spPr>
          <a:xfrm>
            <a:off x="6223000" y="1524000"/>
            <a:ext cx="5715000" cy="3683000"/>
          </a:xfrm>
          <a:prstGeom prst="roundRect">
            <a:avLst/>
          </a:prstGeom>
          <a:solidFill>
            <a:srgbClr val="F0F4FA"/>
          </a:solidFill>
          <a:ln w="25400" cap="flat" cmpd="sng" algn="ctr">
            <a:solidFill>
              <a:srgbClr val="E8B84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6" name="TextBox 5">
            <a:extLst>
              <a:ext uri="{FF2B5EF4-FFF2-40B4-BE49-F238E27FC236}">
                <a16:creationId xmlns:a16="http://schemas.microsoft.com/office/drawing/2014/main" id="{68702D9E-B4D6-498B-9E73-8CA562E1257F}"/>
              </a:ext>
            </a:extLst>
          </p:cNvPr>
          <p:cNvSpPr txBox="1"/>
          <p:nvPr/>
        </p:nvSpPr>
        <p:spPr>
          <a:xfrm>
            <a:off x="6350000" y="1587500"/>
            <a:ext cx="5461000" cy="3556000"/>
          </a:xfrm>
          <a:prstGeom prst="rect">
            <a:avLst/>
          </a:prstGeom>
          <a:noFill/>
          <a:ln>
            <a:noFill/>
          </a:ln>
        </p:spPr>
        <p:txBody>
          <a:bodyPr vertOverflow="overflow" vert="horz" wrap="square" rtlCol="0" anchor="t">
            <a:spAutoFit/>
          </a:bodyPr>
          <a:lstStyle/>
          <a:p>
            <a:pPr algn="ctr">
              <a:buNone/>
            </a:pPr>
            <a:r>
              <a:rPr lang="kk-KZ" sz="1800" b="1" dirty="0">
                <a:solidFill>
                  <a:srgbClr val="E8B84B"/>
                </a:solidFill>
                <a:latin typeface="Cambria"/>
              </a:rPr>
              <a:t>Практикалық</a:t>
            </a:r>
          </a:p>
          <a:p>
            <a:pPr marL="228600" indent="-228600">
              <a:buFont typeface="Arial"/>
              <a:buChar char="●"/>
            </a:pPr>
            <a:r>
              <a:rPr lang="kk-KZ" sz="1400" b="1" dirty="0">
                <a:solidFill>
                  <a:srgbClr val="1E2761"/>
                </a:solidFill>
                <a:latin typeface="Calibri"/>
              </a:rPr>
              <a:t>RTX 3060 (12 ГБ)</a:t>
            </a:r>
            <a:r>
              <a:rPr lang="kk-KZ" sz="1400" dirty="0">
                <a:solidFill>
                  <a:srgbClr val="1E2761"/>
                </a:solidFill>
                <a:latin typeface="Calibri"/>
              </a:rPr>
              <a:t>: ресурсы шектеулі аппараттық құралда қолдануға жарамды</a:t>
            </a:r>
          </a:p>
          <a:p>
            <a:pPr marL="228600" indent="-228600">
              <a:buFont typeface="Arial"/>
              <a:buChar char="●"/>
            </a:pPr>
            <a:r>
              <a:rPr lang="kk-KZ" sz="1400" b="1" dirty="0">
                <a:solidFill>
                  <a:srgbClr val="1E2761"/>
                </a:solidFill>
                <a:latin typeface="Calibri"/>
              </a:rPr>
              <a:t>Қазақстан скринингі</a:t>
            </a:r>
            <a:r>
              <a:rPr lang="kk-KZ" sz="1400" dirty="0">
                <a:solidFill>
                  <a:srgbClr val="1E2761"/>
                </a:solidFill>
                <a:latin typeface="Calibri"/>
              </a:rPr>
              <a:t>: инфрақұрылымы шектеулі ауылдық DR скринингіне қолданылады</a:t>
            </a:r>
          </a:p>
          <a:p>
            <a:pPr marL="228600" indent="-228600">
              <a:buFont typeface="Arial"/>
              <a:buChar char="●"/>
            </a:pPr>
            <a:r>
              <a:rPr lang="kk-KZ" sz="1400" b="1" dirty="0">
                <a:solidFill>
                  <a:srgbClr val="1E2761"/>
                </a:solidFill>
                <a:latin typeface="Calibri"/>
              </a:rPr>
              <a:t>Архитектураға тәуелсіз</a:t>
            </a:r>
            <a:r>
              <a:rPr lang="kk-KZ" sz="1400" dirty="0">
                <a:solidFill>
                  <a:srgbClr val="1E2761"/>
                </a:solidFill>
                <a:latin typeface="Calibri"/>
              </a:rPr>
              <a:t>: кез келген CNN-ге модульді pipeline (512×512 RGB)</a:t>
            </a:r>
          </a:p>
          <a:p>
            <a:pPr marL="228600" indent="-228600">
              <a:buFont typeface="Arial"/>
              <a:buChar char="●"/>
            </a:pPr>
            <a:r>
              <a:rPr lang="kk-KZ" sz="1400" b="1" dirty="0">
                <a:solidFill>
                  <a:srgbClr val="1E2761"/>
                </a:solidFill>
                <a:latin typeface="Calibri"/>
              </a:rPr>
              <a:t>Тек стандартты құралдар</a:t>
            </a:r>
            <a:r>
              <a:rPr lang="kk-KZ" sz="1400" dirty="0">
                <a:solidFill>
                  <a:srgbClr val="1E2761"/>
                </a:solidFill>
                <a:latin typeface="Calibri"/>
              </a:rPr>
              <a:t>: OpenCV + PIL, меншікті тәуелділіктерсіз</a:t>
            </a:r>
          </a:p>
        </p:txBody>
      </p:sp>
      <p:sp>
        <p:nvSpPr>
          <p:cNvPr id="7" name="Прямоугольник 6">
            <a:extLst>
              <a:ext uri="{FF2B5EF4-FFF2-40B4-BE49-F238E27FC236}">
                <a16:creationId xmlns:a16="http://schemas.microsoft.com/office/drawing/2014/main" id="{4CCAD5BA-2F2E-4B94-B36A-D86E5B23A945}"/>
              </a:ext>
            </a:extLst>
          </p:cNvPr>
          <p:cNvSpPr/>
          <p:nvPr/>
        </p:nvSpPr>
        <p:spPr>
          <a:xfrm>
            <a:off x="6083300" y="1651000"/>
            <a:ext cx="25400" cy="3429000"/>
          </a:xfrm>
          <a:prstGeom prst="rect">
            <a:avLst/>
          </a:prstGeom>
          <a:solidFill>
            <a:srgbClr val="CADCF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ru-RU"/>
          </a:p>
        </p:txBody>
      </p:sp>
      <p:sp>
        <p:nvSpPr>
          <p:cNvPr id="8" name="Прямоугольник: скругленные углы 7">
            <a:extLst>
              <a:ext uri="{FF2B5EF4-FFF2-40B4-BE49-F238E27FC236}">
                <a16:creationId xmlns:a16="http://schemas.microsoft.com/office/drawing/2014/main" id="{C556CAD2-575C-4A05-B872-57BFE02C5C29}"/>
              </a:ext>
            </a:extLst>
          </p:cNvPr>
          <p:cNvSpPr/>
          <p:nvPr/>
        </p:nvSpPr>
        <p:spPr>
          <a:xfrm>
            <a:off x="508000" y="5334000"/>
            <a:ext cx="11430000" cy="508000"/>
          </a:xfrm>
          <a:prstGeom prst="roundRect">
            <a:avLst/>
          </a:prstGeom>
          <a:solidFill>
            <a:srgbClr val="1E2761"/>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kk-KZ" sz="1400" b="1" dirty="0">
                <a:solidFill>
                  <a:srgbClr val="FFFFFF"/>
                </a:solidFill>
                <a:latin typeface="Calibri"/>
              </a:rPr>
              <a:t>Жүйе архитектурасы — жобалау спецификациясы, далалық сынақтан өткізілмеген (DGL-4). Клиникалық валидация мәлімдемелері жоқ.</a:t>
            </a:r>
          </a:p>
        </p:txBody>
      </p:sp>
      <p:pic>
        <p:nvPicPr>
          <p:cNvPr id="9" name="Graphic 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66500" y="381000"/>
            <a:ext cx="609600" cy="609600"/>
          </a:xfrm>
          <a:prstGeom prst="rect">
            <a:avLst/>
          </a:prstGeom>
        </p:spPr>
      </p:pic>
    </p:spTree>
    <p:extLst>
      <p:ext uri="{BB962C8B-B14F-4D97-AF65-F5344CB8AC3E}">
        <p14:creationId xmlns:p14="http://schemas.microsoft.com/office/powerpoint/2010/main" val="9496354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6024A0-A086-5BF3-55F9-01B1CE81A6E6}"/>
              </a:ext>
            </a:extLst>
          </p:cNvPr>
          <p:cNvSpPr>
            <a:spLocks noGrp="1"/>
          </p:cNvSpPr>
          <p:nvPr>
            <p:ph type="title"/>
          </p:nvPr>
        </p:nvSpPr>
        <p:spPr/>
        <p:txBody>
          <a:bodyPr/>
          <a:lstStyle/>
          <a:p>
            <a:pPr algn="l">
              <a:buNone/>
            </a:pPr>
            <a:r>
              <a:rPr lang="kk-KZ" sz="2800" b="1" dirty="0">
                <a:solidFill>
                  <a:srgbClr val="1E2761"/>
                </a:solidFill>
                <a:latin typeface="Cambria"/>
              </a:rPr>
              <a:t>Жарияланымдар және апробация</a:t>
            </a:r>
          </a:p>
        </p:txBody>
      </p:sp>
      <p:graphicFrame>
        <p:nvGraphicFramePr>
          <p:cNvPr id="4" name="Таблица 3">
            <a:extLst>
              <a:ext uri="{FF2B5EF4-FFF2-40B4-BE49-F238E27FC236}">
                <a16:creationId xmlns:a16="http://schemas.microsoft.com/office/drawing/2014/main" id="{830F1125-6C4A-42F5-AF02-9A838615DCB6}"/>
              </a:ext>
            </a:extLst>
          </p:cNvPr>
          <p:cNvGraphicFramePr>
            <a:graphicFrameLocks noGrp="1"/>
          </p:cNvGraphicFramePr>
          <p:nvPr/>
        </p:nvGraphicFramePr>
        <p:xfrm>
          <a:off x="508000" y="1587500"/>
          <a:ext cx="10350500" cy="2667000"/>
        </p:xfrm>
        <a:graphic>
          <a:graphicData uri="http://schemas.openxmlformats.org/drawingml/2006/table">
            <a:tbl>
              <a:tblPr firstRow="1" bandRow="1">
                <a:tableStyleId>{5C22544A-7EE6-4342-B048-85BDC9FD1C3A}</a:tableStyleId>
              </a:tblPr>
              <a:tblGrid>
                <a:gridCol w="444500">
                  <a:extLst>
                    <a:ext uri="{9D8B030D-6E8A-4147-A177-3AD203B41FA5}">
                      <a16:colId xmlns:a16="http://schemas.microsoft.com/office/drawing/2014/main" val="1893703538"/>
                    </a:ext>
                  </a:extLst>
                </a:gridCol>
                <a:gridCol w="3429000">
                  <a:extLst>
                    <a:ext uri="{9D8B030D-6E8A-4147-A177-3AD203B41FA5}">
                      <a16:colId xmlns:a16="http://schemas.microsoft.com/office/drawing/2014/main" val="457447664"/>
                    </a:ext>
                  </a:extLst>
                </a:gridCol>
                <a:gridCol w="762000">
                  <a:extLst>
                    <a:ext uri="{9D8B030D-6E8A-4147-A177-3AD203B41FA5}">
                      <a16:colId xmlns:a16="http://schemas.microsoft.com/office/drawing/2014/main" val="1830038360"/>
                    </a:ext>
                  </a:extLst>
                </a:gridCol>
                <a:gridCol w="1143000">
                  <a:extLst>
                    <a:ext uri="{9D8B030D-6E8A-4147-A177-3AD203B41FA5}">
                      <a16:colId xmlns:a16="http://schemas.microsoft.com/office/drawing/2014/main" val="1753139372"/>
                    </a:ext>
                  </a:extLst>
                </a:gridCol>
                <a:gridCol w="4572000">
                  <a:extLst>
                    <a:ext uri="{9D8B030D-6E8A-4147-A177-3AD203B41FA5}">
                      <a16:colId xmlns:a16="http://schemas.microsoft.com/office/drawing/2014/main" val="2206042368"/>
                    </a:ext>
                  </a:extLst>
                </a:gridCol>
              </a:tblGrid>
              <a:tr h="381000">
                <a:tc>
                  <a:txBody>
                    <a:bodyPr/>
                    <a:lstStyle/>
                    <a:p>
                      <a:pPr algn="ctr"/>
                      <a:r>
                        <a:rPr lang="ru-RU" sz="1400" b="1">
                          <a:solidFill>
                            <a:srgbClr val="FFFFFF"/>
                          </a:solidFill>
                          <a:latin typeface="Calibri"/>
                          <a:ea typeface="Calibri"/>
                          <a:cs typeface="Calibri"/>
                        </a:rPr>
                        <a:t>#</a:t>
                      </a:r>
                    </a:p>
                  </a:txBody>
                  <a:tcPr>
                    <a:solidFill>
                      <a:srgbClr val="1E2761"/>
                    </a:solidFill>
                  </a:tcPr>
                </a:tc>
                <a:tc>
                  <a:txBody>
                    <a:bodyPr/>
                    <a:lstStyle/>
                    <a:p>
                      <a:pPr algn="ctr"/>
                      <a:r>
                        <a:rPr lang="ru-RU" sz="1400" b="1">
                          <a:solidFill>
                            <a:srgbClr val="FFFFFF"/>
                          </a:solidFill>
                          <a:latin typeface="Calibri"/>
                          <a:ea typeface="Calibri"/>
                          <a:cs typeface="Calibri"/>
                        </a:rPr>
                        <a:t>Venue</a:t>
                      </a:r>
                    </a:p>
                  </a:txBody>
                  <a:tcPr>
                    <a:solidFill>
                      <a:srgbClr val="1E2761"/>
                    </a:solidFill>
                  </a:tcPr>
                </a:tc>
                <a:tc>
                  <a:txBody>
                    <a:bodyPr/>
                    <a:lstStyle/>
                    <a:p>
                      <a:pPr algn="ctr"/>
                      <a:r>
                        <a:rPr lang="ru-RU" sz="1400" b="1">
                          <a:solidFill>
                            <a:srgbClr val="FFFFFF"/>
                          </a:solidFill>
                          <a:latin typeface="Calibri"/>
                          <a:ea typeface="Calibri"/>
                          <a:cs typeface="Calibri"/>
                        </a:rPr>
                        <a:t>Year</a:t>
                      </a:r>
                    </a:p>
                  </a:txBody>
                  <a:tcPr>
                    <a:solidFill>
                      <a:srgbClr val="1E2761"/>
                    </a:solidFill>
                  </a:tcPr>
                </a:tc>
                <a:tc>
                  <a:txBody>
                    <a:bodyPr/>
                    <a:lstStyle/>
                    <a:p>
                      <a:pPr algn="ctr"/>
                      <a:r>
                        <a:rPr lang="ru-RU" sz="1400" b="1">
                          <a:solidFill>
                            <a:srgbClr val="FFFFFF"/>
                          </a:solidFill>
                          <a:latin typeface="Calibri"/>
                          <a:ea typeface="Calibri"/>
                          <a:cs typeface="Calibri"/>
                        </a:rPr>
                        <a:t>Index</a:t>
                      </a:r>
                    </a:p>
                  </a:txBody>
                  <a:tcPr>
                    <a:solidFill>
                      <a:srgbClr val="1E2761"/>
                    </a:solidFill>
                  </a:tcPr>
                </a:tc>
                <a:tc>
                  <a:txBody>
                    <a:bodyPr/>
                    <a:lstStyle/>
                    <a:p>
                      <a:pPr algn="ctr"/>
                      <a:r>
                        <a:rPr lang="ru-RU" sz="1400" b="1">
                          <a:solidFill>
                            <a:srgbClr val="FFFFFF"/>
                          </a:solidFill>
                          <a:latin typeface="Calibri"/>
                          <a:ea typeface="Calibri"/>
                          <a:cs typeface="Calibri"/>
                        </a:rPr>
                        <a:t>Key Contribution</a:t>
                      </a:r>
                    </a:p>
                  </a:txBody>
                  <a:tcPr>
                    <a:solidFill>
                      <a:srgbClr val="1E2761"/>
                    </a:solidFill>
                  </a:tcPr>
                </a:tc>
                <a:extLst>
                  <a:ext uri="{0D108BD9-81ED-4DB2-BD59-A6C34878D82A}">
                    <a16:rowId xmlns:a16="http://schemas.microsoft.com/office/drawing/2014/main" val="2323831348"/>
                  </a:ext>
                </a:extLst>
              </a:tr>
              <a:tr h="381000">
                <a:tc>
                  <a:txBody>
                    <a:bodyPr/>
                    <a:lstStyle/>
                    <a:p>
                      <a:pPr algn="ctr"/>
                      <a:r>
                        <a:rPr lang="ru-RU" sz="1400" b="1">
                          <a:solidFill>
                            <a:srgbClr val="1E2761"/>
                          </a:solidFill>
                          <a:latin typeface="Calibri"/>
                          <a:ea typeface="Calibri"/>
                          <a:cs typeface="Calibri"/>
                        </a:rPr>
                        <a:t>1</a:t>
                      </a:r>
                    </a:p>
                  </a:txBody>
                  <a:tcPr>
                    <a:solidFill>
                      <a:srgbClr val="F0F4FA"/>
                    </a:solidFill>
                  </a:tcPr>
                </a:tc>
                <a:tc>
                  <a:txBody>
                    <a:bodyPr/>
                    <a:lstStyle/>
                    <a:p>
                      <a:pPr algn="l"/>
                      <a:r>
                        <a:rPr lang="ru-RU" sz="1400">
                          <a:solidFill>
                            <a:srgbClr val="1E2761"/>
                          </a:solidFill>
                          <a:latin typeface="Calibri"/>
                          <a:ea typeface="Calibri"/>
                          <a:cs typeface="Calibri"/>
                        </a:rPr>
                        <a:t>Scopus Q2 journal</a:t>
                      </a:r>
                    </a:p>
                  </a:txBody>
                  <a:tcPr>
                    <a:solidFill>
                      <a:srgbClr val="F0F4FA"/>
                    </a:solidFill>
                  </a:tcPr>
                </a:tc>
                <a:tc>
                  <a:txBody>
                    <a:bodyPr/>
                    <a:lstStyle/>
                    <a:p>
                      <a:pPr algn="ctr"/>
                      <a:r>
                        <a:rPr lang="ru-RU" sz="1400">
                          <a:solidFill>
                            <a:srgbClr val="1E2761"/>
                          </a:solidFill>
                          <a:latin typeface="Calibri"/>
                          <a:ea typeface="Calibri"/>
                          <a:cs typeface="Calibri"/>
                        </a:rPr>
                        <a:t>2025</a:t>
                      </a:r>
                    </a:p>
                  </a:txBody>
                  <a:tcPr>
                    <a:solidFill>
                      <a:srgbClr val="F0F4FA"/>
                    </a:solidFill>
                  </a:tcPr>
                </a:tc>
                <a:tc>
                  <a:txBody>
                    <a:bodyPr/>
                    <a:lstStyle/>
                    <a:p>
                      <a:pPr algn="ctr"/>
                      <a:r>
                        <a:rPr lang="ru-RU" sz="1400" b="1">
                          <a:solidFill>
                            <a:srgbClr val="3A7BD5"/>
                          </a:solidFill>
                          <a:latin typeface="Calibri"/>
                          <a:ea typeface="Calibri"/>
                          <a:cs typeface="Calibri"/>
                        </a:rPr>
                        <a:t>Scopus</a:t>
                      </a:r>
                    </a:p>
                  </a:txBody>
                  <a:tcPr>
                    <a:solidFill>
                      <a:srgbClr val="F0F4FA"/>
                    </a:solidFill>
                  </a:tcPr>
                </a:tc>
                <a:tc>
                  <a:txBody>
                    <a:bodyPr/>
                    <a:lstStyle/>
                    <a:p>
                      <a:pPr algn="ctr"/>
                      <a:r>
                        <a:rPr lang="ru-RU" sz="1400">
                          <a:solidFill>
                            <a:srgbClr val="1E2761"/>
                          </a:solidFill>
                          <a:latin typeface="Calibri"/>
                          <a:ea typeface="Calibri"/>
                          <a:cs typeface="Calibri"/>
                        </a:rPr>
                        <a:t>Screening gap framing</a:t>
                      </a:r>
                    </a:p>
                  </a:txBody>
                  <a:tcPr>
                    <a:solidFill>
                      <a:srgbClr val="F0F4FA"/>
                    </a:solidFill>
                  </a:tcPr>
                </a:tc>
                <a:extLst>
                  <a:ext uri="{0D108BD9-81ED-4DB2-BD59-A6C34878D82A}">
                    <a16:rowId xmlns:a16="http://schemas.microsoft.com/office/drawing/2014/main" val="227383874"/>
                  </a:ext>
                </a:extLst>
              </a:tr>
              <a:tr h="381000">
                <a:tc>
                  <a:txBody>
                    <a:bodyPr/>
                    <a:lstStyle/>
                    <a:p>
                      <a:pPr algn="ctr"/>
                      <a:r>
                        <a:rPr lang="ru-RU" sz="1400" b="1">
                          <a:solidFill>
                            <a:srgbClr val="1E2761"/>
                          </a:solidFill>
                          <a:latin typeface="Calibri"/>
                          <a:ea typeface="Calibri"/>
                          <a:cs typeface="Calibri"/>
                        </a:rPr>
                        <a:t>2</a:t>
                      </a:r>
                    </a:p>
                  </a:txBody>
                  <a:tcPr>
                    <a:solidFill>
                      <a:srgbClr val="FFFFFF"/>
                    </a:solidFill>
                  </a:tcPr>
                </a:tc>
                <a:tc>
                  <a:txBody>
                    <a:bodyPr/>
                    <a:lstStyle/>
                    <a:p>
                      <a:pPr algn="l"/>
                      <a:r>
                        <a:rPr lang="ru-RU" sz="1400">
                          <a:solidFill>
                            <a:srgbClr val="1E2761"/>
                          </a:solidFill>
                          <a:latin typeface="Calibri"/>
                          <a:ea typeface="Calibri"/>
                          <a:cs typeface="Calibri"/>
                        </a:rPr>
                        <a:t>Scopus Q3 journal</a:t>
                      </a:r>
                    </a:p>
                  </a:txBody>
                  <a:tcPr>
                    <a:solidFill>
                      <a:srgbClr val="FFFFFF"/>
                    </a:solidFill>
                  </a:tcPr>
                </a:tc>
                <a:tc>
                  <a:txBody>
                    <a:bodyPr/>
                    <a:lstStyle/>
                    <a:p>
                      <a:pPr algn="ctr"/>
                      <a:r>
                        <a:rPr lang="ru-RU" sz="1400">
                          <a:solidFill>
                            <a:srgbClr val="1E2761"/>
                          </a:solidFill>
                          <a:latin typeface="Calibri"/>
                          <a:ea typeface="Calibri"/>
                          <a:cs typeface="Calibri"/>
                        </a:rPr>
                        <a:t>2025</a:t>
                      </a:r>
                    </a:p>
                  </a:txBody>
                  <a:tcPr>
                    <a:solidFill>
                      <a:srgbClr val="FFFFFF"/>
                    </a:solidFill>
                  </a:tcPr>
                </a:tc>
                <a:tc>
                  <a:txBody>
                    <a:bodyPr/>
                    <a:lstStyle/>
                    <a:p>
                      <a:pPr algn="ctr"/>
                      <a:r>
                        <a:rPr lang="ru-RU" sz="1400" b="1">
                          <a:solidFill>
                            <a:srgbClr val="3A7BD5"/>
                          </a:solidFill>
                          <a:latin typeface="Calibri"/>
                          <a:ea typeface="Calibri"/>
                          <a:cs typeface="Calibri"/>
                        </a:rPr>
                        <a:t>Scopus</a:t>
                      </a:r>
                    </a:p>
                  </a:txBody>
                  <a:tcPr>
                    <a:solidFill>
                      <a:srgbClr val="FFFFFF"/>
                    </a:solidFill>
                  </a:tcPr>
                </a:tc>
                <a:tc>
                  <a:txBody>
                    <a:bodyPr/>
                    <a:lstStyle/>
                    <a:p>
                      <a:pPr algn="ctr"/>
                      <a:r>
                        <a:rPr lang="ru-RU" sz="1400">
                          <a:solidFill>
                            <a:srgbClr val="1E2761"/>
                          </a:solidFill>
                          <a:latin typeface="Calibri"/>
                          <a:ea typeface="Calibri"/>
                          <a:cs typeface="Calibri"/>
                        </a:rPr>
                        <a:t>System architecture</a:t>
                      </a:r>
                    </a:p>
                  </a:txBody>
                  <a:tcPr>
                    <a:solidFill>
                      <a:srgbClr val="FFFFFF"/>
                    </a:solidFill>
                  </a:tcPr>
                </a:tc>
                <a:extLst>
                  <a:ext uri="{0D108BD9-81ED-4DB2-BD59-A6C34878D82A}">
                    <a16:rowId xmlns:a16="http://schemas.microsoft.com/office/drawing/2014/main" val="2070836717"/>
                  </a:ext>
                </a:extLst>
              </a:tr>
              <a:tr h="381000">
                <a:tc>
                  <a:txBody>
                    <a:bodyPr/>
                    <a:lstStyle/>
                    <a:p>
                      <a:pPr algn="ctr"/>
                      <a:r>
                        <a:rPr lang="ru-RU" sz="1400" b="1">
                          <a:solidFill>
                            <a:srgbClr val="1E2761"/>
                          </a:solidFill>
                          <a:latin typeface="Calibri"/>
                          <a:ea typeface="Calibri"/>
                          <a:cs typeface="Calibri"/>
                        </a:rPr>
                        <a:t>3</a:t>
                      </a:r>
                    </a:p>
                  </a:txBody>
                  <a:tcPr>
                    <a:solidFill>
                      <a:srgbClr val="F0F4FA"/>
                    </a:solidFill>
                  </a:tcPr>
                </a:tc>
                <a:tc>
                  <a:txBody>
                    <a:bodyPr/>
                    <a:lstStyle/>
                    <a:p>
                      <a:pPr algn="l"/>
                      <a:r>
                        <a:rPr lang="ru-RU" sz="1400">
                          <a:solidFill>
                            <a:srgbClr val="1E2761"/>
                          </a:solidFill>
                          <a:latin typeface="Calibri"/>
                          <a:ea typeface="Calibri"/>
                          <a:cs typeface="Calibri"/>
                        </a:rPr>
                        <a:t>Conference proceedings</a:t>
                      </a:r>
                    </a:p>
                  </a:txBody>
                  <a:tcPr>
                    <a:solidFill>
                      <a:srgbClr val="F0F4FA"/>
                    </a:solidFill>
                  </a:tcPr>
                </a:tc>
                <a:tc>
                  <a:txBody>
                    <a:bodyPr/>
                    <a:lstStyle/>
                    <a:p>
                      <a:pPr algn="ctr"/>
                      <a:r>
                        <a:rPr lang="ru-RU" sz="1400">
                          <a:solidFill>
                            <a:srgbClr val="1E2761"/>
                          </a:solidFill>
                          <a:latin typeface="Calibri"/>
                          <a:ea typeface="Calibri"/>
                          <a:cs typeface="Calibri"/>
                        </a:rPr>
                        <a:t>2024</a:t>
                      </a:r>
                    </a:p>
                  </a:txBody>
                  <a:tcPr>
                    <a:solidFill>
                      <a:srgbClr val="F0F4FA"/>
                    </a:solidFill>
                  </a:tcPr>
                </a:tc>
                <a:tc>
                  <a:txBody>
                    <a:bodyPr/>
                    <a:lstStyle/>
                    <a:p>
                      <a:pPr algn="ctr"/>
                      <a:r>
                        <a:rPr lang="ru-RU" sz="1400">
                          <a:solidFill>
                            <a:srgbClr val="1E2761"/>
                          </a:solidFill>
                          <a:latin typeface="Calibri"/>
                          <a:ea typeface="Calibri"/>
                          <a:cs typeface="Calibri"/>
                        </a:rPr>
                        <a:t>—</a:t>
                      </a:r>
                    </a:p>
                  </a:txBody>
                  <a:tcPr>
                    <a:solidFill>
                      <a:srgbClr val="F0F4FA"/>
                    </a:solidFill>
                  </a:tcPr>
                </a:tc>
                <a:tc>
                  <a:txBody>
                    <a:bodyPr/>
                    <a:lstStyle/>
                    <a:p>
                      <a:pPr algn="ctr"/>
                      <a:r>
                        <a:rPr lang="ru-RU" sz="1400">
                          <a:solidFill>
                            <a:srgbClr val="1E2761"/>
                          </a:solidFill>
                          <a:latin typeface="Calibri"/>
                          <a:ea typeface="Calibri"/>
                          <a:cs typeface="Calibri"/>
                        </a:rPr>
                        <a:t>Preliminary CNN results</a:t>
                      </a:r>
                    </a:p>
                  </a:txBody>
                  <a:tcPr>
                    <a:solidFill>
                      <a:srgbClr val="F0F4FA"/>
                    </a:solidFill>
                  </a:tcPr>
                </a:tc>
                <a:extLst>
                  <a:ext uri="{0D108BD9-81ED-4DB2-BD59-A6C34878D82A}">
                    <a16:rowId xmlns:a16="http://schemas.microsoft.com/office/drawing/2014/main" val="653614938"/>
                  </a:ext>
                </a:extLst>
              </a:tr>
              <a:tr h="381000">
                <a:tc>
                  <a:txBody>
                    <a:bodyPr/>
                    <a:lstStyle/>
                    <a:p>
                      <a:pPr algn="ctr"/>
                      <a:r>
                        <a:rPr lang="ru-RU" sz="1400" b="1">
                          <a:solidFill>
                            <a:srgbClr val="1E2761"/>
                          </a:solidFill>
                          <a:latin typeface="Calibri"/>
                          <a:ea typeface="Calibri"/>
                          <a:cs typeface="Calibri"/>
                        </a:rPr>
                        <a:t>4</a:t>
                      </a:r>
                    </a:p>
                  </a:txBody>
                  <a:tcPr>
                    <a:solidFill>
                      <a:srgbClr val="FFFFFF"/>
                    </a:solidFill>
                  </a:tcPr>
                </a:tc>
                <a:tc>
                  <a:txBody>
                    <a:bodyPr/>
                    <a:lstStyle/>
                    <a:p>
                      <a:pPr algn="l"/>
                      <a:r>
                        <a:rPr lang="ru-RU" sz="1400">
                          <a:solidFill>
                            <a:srgbClr val="1E2761"/>
                          </a:solidFill>
                          <a:latin typeface="Calibri"/>
                          <a:ea typeface="Calibri"/>
                          <a:cs typeface="Calibri"/>
                        </a:rPr>
                        <a:t>NAS RK journal</a:t>
                      </a:r>
                    </a:p>
                  </a:txBody>
                  <a:tcPr>
                    <a:solidFill>
                      <a:srgbClr val="FFFFFF"/>
                    </a:solidFill>
                  </a:tcPr>
                </a:tc>
                <a:tc>
                  <a:txBody>
                    <a:bodyPr/>
                    <a:lstStyle/>
                    <a:p>
                      <a:pPr algn="ctr"/>
                      <a:r>
                        <a:rPr lang="ru-RU" sz="1400">
                          <a:solidFill>
                            <a:srgbClr val="1E2761"/>
                          </a:solidFill>
                          <a:latin typeface="Calibri"/>
                          <a:ea typeface="Calibri"/>
                          <a:cs typeface="Calibri"/>
                        </a:rPr>
                        <a:t>2024</a:t>
                      </a:r>
                    </a:p>
                  </a:txBody>
                  <a:tcPr>
                    <a:solidFill>
                      <a:srgbClr val="FFFFFF"/>
                    </a:solidFill>
                  </a:tcPr>
                </a:tc>
                <a:tc>
                  <a:txBody>
                    <a:bodyPr/>
                    <a:lstStyle/>
                    <a:p>
                      <a:pPr algn="ctr"/>
                      <a:r>
                        <a:rPr lang="ru-RU" sz="1400">
                          <a:solidFill>
                            <a:srgbClr val="1E2761"/>
                          </a:solidFill>
                          <a:latin typeface="Calibri"/>
                          <a:ea typeface="Calibri"/>
                          <a:cs typeface="Calibri"/>
                        </a:rPr>
                        <a:t>CQAES</a:t>
                      </a:r>
                    </a:p>
                  </a:txBody>
                  <a:tcPr>
                    <a:solidFill>
                      <a:srgbClr val="FFFFFF"/>
                    </a:solidFill>
                  </a:tcPr>
                </a:tc>
                <a:tc>
                  <a:txBody>
                    <a:bodyPr/>
                    <a:lstStyle/>
                    <a:p>
                      <a:pPr algn="ctr"/>
                      <a:r>
                        <a:rPr lang="ru-RU" sz="1400">
                          <a:solidFill>
                            <a:srgbClr val="1E2761"/>
                          </a:solidFill>
                          <a:latin typeface="Calibri"/>
                          <a:ea typeface="Calibri"/>
                          <a:cs typeface="Calibri"/>
                        </a:rPr>
                        <a:t>System design specification</a:t>
                      </a:r>
                    </a:p>
                  </a:txBody>
                  <a:tcPr>
                    <a:solidFill>
                      <a:srgbClr val="FFFFFF"/>
                    </a:solidFill>
                  </a:tcPr>
                </a:tc>
                <a:extLst>
                  <a:ext uri="{0D108BD9-81ED-4DB2-BD59-A6C34878D82A}">
                    <a16:rowId xmlns:a16="http://schemas.microsoft.com/office/drawing/2014/main" val="883020964"/>
                  </a:ext>
                </a:extLst>
              </a:tr>
              <a:tr h="381000">
                <a:tc>
                  <a:txBody>
                    <a:bodyPr/>
                    <a:lstStyle/>
                    <a:p>
                      <a:pPr algn="ctr"/>
                      <a:r>
                        <a:rPr lang="ru-RU" sz="1400" b="1">
                          <a:solidFill>
                            <a:srgbClr val="1E2761"/>
                          </a:solidFill>
                          <a:latin typeface="Calibri"/>
                          <a:ea typeface="Calibri"/>
                          <a:cs typeface="Calibri"/>
                        </a:rPr>
                        <a:t>5</a:t>
                      </a:r>
                    </a:p>
                  </a:txBody>
                  <a:tcPr>
                    <a:solidFill>
                      <a:srgbClr val="F0F4FA"/>
                    </a:solidFill>
                  </a:tcPr>
                </a:tc>
                <a:tc>
                  <a:txBody>
                    <a:bodyPr/>
                    <a:lstStyle/>
                    <a:p>
                      <a:pPr algn="l"/>
                      <a:r>
                        <a:rPr lang="ru-RU" sz="1400">
                          <a:solidFill>
                            <a:srgbClr val="1E2761"/>
                          </a:solidFill>
                          <a:latin typeface="Calibri"/>
                          <a:ea typeface="Calibri"/>
                          <a:cs typeface="Calibri"/>
                        </a:rPr>
                        <a:t>KazUTB journal</a:t>
                      </a:r>
                    </a:p>
                  </a:txBody>
                  <a:tcPr>
                    <a:solidFill>
                      <a:srgbClr val="F0F4FA"/>
                    </a:solidFill>
                  </a:tcPr>
                </a:tc>
                <a:tc>
                  <a:txBody>
                    <a:bodyPr/>
                    <a:lstStyle/>
                    <a:p>
                      <a:pPr algn="ctr"/>
                      <a:r>
                        <a:rPr lang="ru-RU" sz="1400">
                          <a:solidFill>
                            <a:srgbClr val="1E2761"/>
                          </a:solidFill>
                          <a:latin typeface="Calibri"/>
                          <a:ea typeface="Calibri"/>
                          <a:cs typeface="Calibri"/>
                        </a:rPr>
                        <a:t>2024</a:t>
                      </a:r>
                    </a:p>
                  </a:txBody>
                  <a:tcPr>
                    <a:solidFill>
                      <a:srgbClr val="F0F4FA"/>
                    </a:solidFill>
                  </a:tcPr>
                </a:tc>
                <a:tc>
                  <a:txBody>
                    <a:bodyPr/>
                    <a:lstStyle/>
                    <a:p>
                      <a:pPr algn="ctr"/>
                      <a:r>
                        <a:rPr lang="ru-RU" sz="1400">
                          <a:solidFill>
                            <a:srgbClr val="1E2761"/>
                          </a:solidFill>
                          <a:latin typeface="Calibri"/>
                          <a:ea typeface="Calibri"/>
                          <a:cs typeface="Calibri"/>
                        </a:rPr>
                        <a:t>CQAES</a:t>
                      </a:r>
                    </a:p>
                  </a:txBody>
                  <a:tcPr>
                    <a:solidFill>
                      <a:srgbClr val="F0F4FA"/>
                    </a:solidFill>
                  </a:tcPr>
                </a:tc>
                <a:tc>
                  <a:txBody>
                    <a:bodyPr/>
                    <a:lstStyle/>
                    <a:p>
                      <a:pPr algn="ctr"/>
                      <a:r>
                        <a:rPr lang="ru-RU" sz="1400">
                          <a:solidFill>
                            <a:srgbClr val="1E2761"/>
                          </a:solidFill>
                          <a:latin typeface="Calibri"/>
                          <a:ea typeface="Calibri"/>
                          <a:cs typeface="Calibri"/>
                        </a:rPr>
                        <a:t>Laser-tissue interaction</a:t>
                      </a:r>
                    </a:p>
                  </a:txBody>
                  <a:tcPr>
                    <a:solidFill>
                      <a:srgbClr val="F0F4FA"/>
                    </a:solidFill>
                  </a:tcPr>
                </a:tc>
                <a:extLst>
                  <a:ext uri="{0D108BD9-81ED-4DB2-BD59-A6C34878D82A}">
                    <a16:rowId xmlns:a16="http://schemas.microsoft.com/office/drawing/2014/main" val="587668846"/>
                  </a:ext>
                </a:extLst>
              </a:tr>
              <a:tr h="381000">
                <a:tc>
                  <a:txBody>
                    <a:bodyPr/>
                    <a:lstStyle/>
                    <a:p>
                      <a:pPr algn="ctr"/>
                      <a:r>
                        <a:rPr lang="ru-RU" sz="1400" b="1">
                          <a:solidFill>
                            <a:srgbClr val="1E2761"/>
                          </a:solidFill>
                          <a:latin typeface="Calibri"/>
                          <a:ea typeface="Calibri"/>
                          <a:cs typeface="Calibri"/>
                        </a:rPr>
                        <a:t>6</a:t>
                      </a:r>
                    </a:p>
                  </a:txBody>
                  <a:tcPr>
                    <a:solidFill>
                      <a:srgbClr val="FFFFFF"/>
                    </a:solidFill>
                  </a:tcPr>
                </a:tc>
                <a:tc>
                  <a:txBody>
                    <a:bodyPr/>
                    <a:lstStyle/>
                    <a:p>
                      <a:pPr algn="l"/>
                      <a:r>
                        <a:rPr lang="ru-RU" sz="1400">
                          <a:solidFill>
                            <a:srgbClr val="1E2761"/>
                          </a:solidFill>
                          <a:latin typeface="Calibri"/>
                          <a:ea typeface="Calibri"/>
                          <a:cs typeface="Calibri"/>
                        </a:rPr>
                        <a:t>KBTU journal</a:t>
                      </a:r>
                    </a:p>
                  </a:txBody>
                  <a:tcPr>
                    <a:solidFill>
                      <a:srgbClr val="FFFFFF"/>
                    </a:solidFill>
                  </a:tcPr>
                </a:tc>
                <a:tc>
                  <a:txBody>
                    <a:bodyPr/>
                    <a:lstStyle/>
                    <a:p>
                      <a:pPr algn="ctr"/>
                      <a:r>
                        <a:rPr lang="ru-RU" sz="1400">
                          <a:solidFill>
                            <a:srgbClr val="1E2761"/>
                          </a:solidFill>
                          <a:latin typeface="Calibri"/>
                          <a:ea typeface="Calibri"/>
                          <a:cs typeface="Calibri"/>
                        </a:rPr>
                        <a:t>2024</a:t>
                      </a:r>
                    </a:p>
                  </a:txBody>
                  <a:tcPr>
                    <a:solidFill>
                      <a:srgbClr val="FFFFFF"/>
                    </a:solidFill>
                  </a:tcPr>
                </a:tc>
                <a:tc>
                  <a:txBody>
                    <a:bodyPr/>
                    <a:lstStyle/>
                    <a:p>
                      <a:pPr algn="ctr"/>
                      <a:r>
                        <a:rPr lang="ru-RU" sz="1400">
                          <a:solidFill>
                            <a:srgbClr val="1E2761"/>
                          </a:solidFill>
                          <a:latin typeface="Calibri"/>
                          <a:ea typeface="Calibri"/>
                          <a:cs typeface="Calibri"/>
                        </a:rPr>
                        <a:t>CQAES</a:t>
                      </a:r>
                    </a:p>
                  </a:txBody>
                  <a:tcPr>
                    <a:solidFill>
                      <a:srgbClr val="FFFFFF"/>
                    </a:solidFill>
                  </a:tcPr>
                </a:tc>
                <a:tc>
                  <a:txBody>
                    <a:bodyPr/>
                    <a:lstStyle/>
                    <a:p>
                      <a:pPr algn="ctr"/>
                      <a:r>
                        <a:rPr lang="ru-RU" sz="1400">
                          <a:solidFill>
                            <a:srgbClr val="1E2761"/>
                          </a:solidFill>
                          <a:latin typeface="Calibri"/>
                          <a:ea typeface="Calibri"/>
                          <a:cs typeface="Calibri"/>
                        </a:rPr>
                        <a:t>CNN classification results</a:t>
                      </a:r>
                    </a:p>
                  </a:txBody>
                  <a:tcPr>
                    <a:solidFill>
                      <a:srgbClr val="FFFFFF"/>
                    </a:solidFill>
                  </a:tcPr>
                </a:tc>
                <a:extLst>
                  <a:ext uri="{0D108BD9-81ED-4DB2-BD59-A6C34878D82A}">
                    <a16:rowId xmlns:a16="http://schemas.microsoft.com/office/drawing/2014/main" val="2591771727"/>
                  </a:ext>
                </a:extLst>
              </a:tr>
            </a:tbl>
          </a:graphicData>
        </a:graphic>
      </p:graphicFrame>
      <p:sp>
        <p:nvSpPr>
          <p:cNvPr id="5" name="Прямоугольник: скругленные углы 4">
            <a:extLst>
              <a:ext uri="{FF2B5EF4-FFF2-40B4-BE49-F238E27FC236}">
                <a16:creationId xmlns:a16="http://schemas.microsoft.com/office/drawing/2014/main" id="{62155D95-9875-4C14-AB6A-8DCED7FD37B7}"/>
              </a:ext>
            </a:extLst>
          </p:cNvPr>
          <p:cNvSpPr/>
          <p:nvPr/>
        </p:nvSpPr>
        <p:spPr>
          <a:xfrm>
            <a:off x="508000" y="4826000"/>
            <a:ext cx="7620000" cy="444500"/>
          </a:xfrm>
          <a:prstGeom prst="roundRect">
            <a:avLst/>
          </a:prstGeom>
          <a:solidFill>
            <a:srgbClr val="F0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kk-KZ" sz="1400" b="1" dirty="0">
                <a:solidFill>
                  <a:srgbClr val="1E2761"/>
                </a:solidFill>
                <a:latin typeface="Calibri"/>
              </a:rPr>
              <a:t>Барлығы: 2 Scopus + 1 конференция + 3 CQAES = 6 жарияланым</a:t>
            </a:r>
          </a:p>
        </p:txBody>
      </p:sp>
      <p:sp>
        <p:nvSpPr>
          <p:cNvPr id="6" name="TextBox 5">
            <a:extLst>
              <a:ext uri="{FF2B5EF4-FFF2-40B4-BE49-F238E27FC236}">
                <a16:creationId xmlns:a16="http://schemas.microsoft.com/office/drawing/2014/main" id="{1F2D4B55-C966-47E2-817B-7DE246C54819}"/>
              </a:ext>
            </a:extLst>
          </p:cNvPr>
          <p:cNvSpPr txBox="1"/>
          <p:nvPr/>
        </p:nvSpPr>
        <p:spPr>
          <a:xfrm>
            <a:off x="508000" y="5397500"/>
            <a:ext cx="8890000" cy="254000"/>
          </a:xfrm>
          <a:prstGeom prst="rect">
            <a:avLst/>
          </a:prstGeom>
          <a:noFill/>
          <a:ln>
            <a:noFill/>
          </a:ln>
        </p:spPr>
        <p:txBody>
          <a:bodyPr vertOverflow="overflow" vert="horz" wrap="square" rtlCol="0" anchor="t">
            <a:spAutoFit/>
          </a:bodyPr>
          <a:lstStyle/>
          <a:p>
            <a:pPr algn="l">
              <a:buNone/>
            </a:pPr>
            <a:r>
              <a:rPr lang="kk-KZ" sz="1400" i="1" dirty="0">
                <a:solidFill>
                  <a:srgbClr val="C0392B"/>
                </a:solidFill>
                <a:latin typeface="Calibri"/>
              </a:rPr>
              <a:t>#5 және #6 эксперимент деректерін бөліседі (SIR-5: тәуелсіз растау емес)</a:t>
            </a:r>
          </a:p>
        </p:txBody>
      </p:sp>
      <p:pic>
        <p:nvPicPr>
          <p:cNvPr id="7" name="Graphic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66500" y="381000"/>
            <a:ext cx="609600" cy="609600"/>
          </a:xfrm>
          <a:prstGeom prst="rect">
            <a:avLst/>
          </a:prstGeom>
        </p:spPr>
      </p:pic>
    </p:spTree>
    <p:extLst>
      <p:ext uri="{BB962C8B-B14F-4D97-AF65-F5344CB8AC3E}">
        <p14:creationId xmlns:p14="http://schemas.microsoft.com/office/powerpoint/2010/main" val="26118043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25E4A728-B319-402D-A504-6DB9A8F03409}"/>
              </a:ext>
            </a:extLst>
          </p:cNvPr>
          <p:cNvSpPr txBox="1"/>
          <p:nvPr/>
        </p:nvSpPr>
        <p:spPr>
          <a:xfrm>
            <a:off x="1421491" y="2733473"/>
            <a:ext cx="9506385" cy="1384995"/>
          </a:xfrm>
          <a:prstGeom prst="rect">
            <a:avLst/>
          </a:prstGeom>
          <a:noFill/>
        </p:spPr>
        <p:txBody>
          <a:bodyPr wrap="square" rtlCol="0">
            <a:spAutoFit/>
          </a:bodyPr>
          <a:lstStyle/>
          <a:p>
            <a:pPr algn="ctr"/>
            <a:r>
              <a:rPr lang="en-US" sz="2800" b="1" dirty="0" err="1">
                <a:latin typeface="Agency FB" panose="020B0503020202020204" pitchFamily="34" charset="0"/>
              </a:rPr>
              <a:t>Компьютерлік</a:t>
            </a:r>
            <a:r>
              <a:rPr lang="en-US" sz="2800" b="1" dirty="0">
                <a:latin typeface="Agency FB" panose="020B0503020202020204" pitchFamily="34" charset="0"/>
              </a:rPr>
              <a:t> </a:t>
            </a:r>
            <a:r>
              <a:rPr lang="en-US" sz="2800" b="1" dirty="0" err="1">
                <a:latin typeface="Agency FB" panose="020B0503020202020204" pitchFamily="34" charset="0"/>
              </a:rPr>
              <a:t>өңдеу</a:t>
            </a:r>
            <a:r>
              <a:rPr lang="en-US" sz="2800" b="1" dirty="0">
                <a:latin typeface="Agency FB" panose="020B0503020202020204" pitchFamily="34" charset="0"/>
              </a:rPr>
              <a:t> </a:t>
            </a:r>
            <a:r>
              <a:rPr lang="en-US" sz="2800" b="1" dirty="0" err="1">
                <a:latin typeface="Agency FB" panose="020B0503020202020204" pitchFamily="34" charset="0"/>
              </a:rPr>
              <a:t>жүйесі</a:t>
            </a:r>
            <a:r>
              <a:rPr lang="en-US" sz="2800" b="1" dirty="0">
                <a:latin typeface="Agency FB" panose="020B0503020202020204" pitchFamily="34" charset="0"/>
              </a:rPr>
              <a:t> </a:t>
            </a:r>
            <a:r>
              <a:rPr lang="en-US" sz="2800" b="1" dirty="0" err="1">
                <a:latin typeface="Agency FB" panose="020B0503020202020204" pitchFamily="34" charset="0"/>
              </a:rPr>
              <a:t>және</a:t>
            </a:r>
            <a:r>
              <a:rPr lang="en-US" sz="2800" b="1" dirty="0">
                <a:latin typeface="Agency FB" panose="020B0503020202020204" pitchFamily="34" charset="0"/>
              </a:rPr>
              <a:t> </a:t>
            </a:r>
            <a:r>
              <a:rPr lang="en-US" sz="2800" b="1" dirty="0" err="1">
                <a:latin typeface="Agency FB" panose="020B0503020202020204" pitchFamily="34" charset="0"/>
              </a:rPr>
              <a:t>көз</a:t>
            </a:r>
            <a:r>
              <a:rPr lang="en-US" sz="2800" b="1" dirty="0">
                <a:latin typeface="Agency FB" panose="020B0503020202020204" pitchFamily="34" charset="0"/>
              </a:rPr>
              <a:t> </a:t>
            </a:r>
            <a:r>
              <a:rPr lang="en-US" sz="2800" b="1" dirty="0" err="1">
                <a:latin typeface="Agency FB" panose="020B0503020202020204" pitchFamily="34" charset="0"/>
              </a:rPr>
              <a:t>түбі</a:t>
            </a:r>
            <a:r>
              <a:rPr lang="en-US" sz="2800" b="1" dirty="0">
                <a:latin typeface="Agency FB" panose="020B0503020202020204" pitchFamily="34" charset="0"/>
              </a:rPr>
              <a:t> </a:t>
            </a:r>
            <a:r>
              <a:rPr lang="en-US" sz="2800" b="1" dirty="0" err="1">
                <a:latin typeface="Agency FB" panose="020B0503020202020204" pitchFamily="34" charset="0"/>
              </a:rPr>
              <a:t>dataін</a:t>
            </a:r>
            <a:r>
              <a:rPr lang="en-US" sz="2800" b="1" dirty="0">
                <a:latin typeface="Agency FB" panose="020B0503020202020204" pitchFamily="34" charset="0"/>
              </a:rPr>
              <a:t> </a:t>
            </a:r>
            <a:r>
              <a:rPr lang="en-US" sz="2800" b="1" dirty="0" err="1">
                <a:latin typeface="Agency FB" panose="020B0503020202020204" pitchFamily="34" charset="0"/>
              </a:rPr>
              <a:t>талдаумен</a:t>
            </a:r>
            <a:r>
              <a:rPr lang="en-US" sz="2800" b="1" dirty="0">
                <a:latin typeface="Agency FB" panose="020B0503020202020204" pitchFamily="34" charset="0"/>
              </a:rPr>
              <a:t> </a:t>
            </a:r>
            <a:r>
              <a:rPr lang="en-US" sz="2800" b="1" dirty="0" err="1">
                <a:latin typeface="Agency FB" panose="020B0503020202020204" pitchFamily="34" charset="0"/>
              </a:rPr>
              <a:t>diabetic</a:t>
            </a:r>
            <a:r>
              <a:rPr lang="en-US" sz="2800" b="1" dirty="0">
                <a:latin typeface="Agency FB" panose="020B0503020202020204" pitchFamily="34" charset="0"/>
              </a:rPr>
              <a:t> </a:t>
            </a:r>
            <a:r>
              <a:rPr lang="en-US" sz="2800" b="1" dirty="0" err="1">
                <a:latin typeface="Agency FB" panose="020B0503020202020204" pitchFamily="34" charset="0"/>
              </a:rPr>
              <a:t>retinopathy</a:t>
            </a:r>
            <a:r>
              <a:rPr lang="en-US" sz="2800" b="1" dirty="0">
                <a:latin typeface="Agency FB" panose="020B0503020202020204" pitchFamily="34" charset="0"/>
              </a:rPr>
              <a:t> </a:t>
            </a:r>
            <a:r>
              <a:rPr lang="en-US" sz="2800" b="1" dirty="0" err="1">
                <a:latin typeface="Agency FB" panose="020B0503020202020204" pitchFamily="34" charset="0"/>
              </a:rPr>
              <a:t>емдеу</a:t>
            </a:r>
            <a:r>
              <a:rPr lang="en-US" sz="2800" b="1" dirty="0">
                <a:latin typeface="Agency FB" panose="020B0503020202020204" pitchFamily="34" charset="0"/>
              </a:rPr>
              <a:t> </a:t>
            </a:r>
            <a:r>
              <a:rPr lang="en-US" sz="2800" b="1" dirty="0" err="1">
                <a:latin typeface="Agency FB" panose="020B0503020202020204" pitchFamily="34" charset="0"/>
              </a:rPr>
              <a:t>кезіндегі</a:t>
            </a:r>
            <a:r>
              <a:rPr lang="en-US" sz="2800" b="1" dirty="0">
                <a:latin typeface="Agency FB" panose="020B0503020202020204" pitchFamily="34" charset="0"/>
              </a:rPr>
              <a:t> </a:t>
            </a:r>
            <a:r>
              <a:rPr lang="en-US" sz="2800" b="1" dirty="0" err="1">
                <a:latin typeface="Agency FB" panose="020B0503020202020204" pitchFamily="34" charset="0"/>
              </a:rPr>
              <a:t>лазерлік</a:t>
            </a:r>
            <a:r>
              <a:rPr lang="en-US" sz="2800" b="1" dirty="0">
                <a:latin typeface="Agency FB" panose="020B0503020202020204" pitchFamily="34" charset="0"/>
              </a:rPr>
              <a:t> </a:t>
            </a:r>
            <a:r>
              <a:rPr lang="en-US" sz="2800" b="1" dirty="0" err="1">
                <a:latin typeface="Agency FB" panose="020B0503020202020204" pitchFamily="34" charset="0"/>
              </a:rPr>
              <a:t>коагуляцияны</a:t>
            </a:r>
            <a:r>
              <a:rPr lang="en-US" sz="2800" b="1" dirty="0">
                <a:latin typeface="Agency FB" panose="020B0503020202020204" pitchFamily="34" charset="0"/>
              </a:rPr>
              <a:t> </a:t>
            </a:r>
            <a:r>
              <a:rPr lang="en-US" sz="2800" b="1" dirty="0" err="1">
                <a:latin typeface="Agency FB" panose="020B0503020202020204" pitchFamily="34" charset="0"/>
              </a:rPr>
              <a:t>қолдау</a:t>
            </a:r>
            <a:endParaRPr lang="en-US" sz="1000" b="1" i="1" dirty="0"/>
          </a:p>
        </p:txBody>
      </p:sp>
      <p:sp>
        <p:nvSpPr>
          <p:cNvPr id="6" name="TextBox 5">
            <a:extLst>
              <a:ext uri="{FF2B5EF4-FFF2-40B4-BE49-F238E27FC236}">
                <a16:creationId xmlns:a16="http://schemas.microsoft.com/office/drawing/2014/main" id="{FA30CF55-245C-73FB-36D8-49E6F58EB9D8}"/>
              </a:ext>
            </a:extLst>
          </p:cNvPr>
          <p:cNvSpPr txBox="1"/>
          <p:nvPr/>
        </p:nvSpPr>
        <p:spPr>
          <a:xfrm>
            <a:off x="10511835" y="6377783"/>
            <a:ext cx="1543523" cy="338554"/>
          </a:xfrm>
          <a:prstGeom prst="rect">
            <a:avLst/>
          </a:prstGeom>
          <a:noFill/>
        </p:spPr>
        <p:txBody>
          <a:bodyPr wrap="square" rtlCol="0">
            <a:spAutoFit/>
          </a:bodyPr>
          <a:lstStyle/>
          <a:p>
            <a:r>
              <a:rPr lang="en-US" sz="1600" b="1" dirty="0">
                <a:latin typeface="Agency FB" panose="020B0503020202020204" pitchFamily="34" charset="0"/>
              </a:rPr>
              <a:t>IITU, Almaty, 2026</a:t>
            </a:r>
            <a:endParaRPr lang="en-US" sz="1600" b="1" dirty="0"/>
          </a:p>
        </p:txBody>
      </p:sp>
      <p:sp>
        <p:nvSpPr>
          <p:cNvPr id="9" name="Прямоугольник 8">
            <a:extLst>
              <a:ext uri="{FF2B5EF4-FFF2-40B4-BE49-F238E27FC236}">
                <a16:creationId xmlns:a16="http://schemas.microsoft.com/office/drawing/2014/main" id="{31301690-5C29-1B1B-BAC1-453D308C8392}"/>
              </a:ext>
            </a:extLst>
          </p:cNvPr>
          <p:cNvSpPr/>
          <p:nvPr/>
        </p:nvSpPr>
        <p:spPr>
          <a:xfrm>
            <a:off x="1421491" y="5981463"/>
            <a:ext cx="2603598" cy="646331"/>
          </a:xfrm>
          <a:prstGeom prst="rect">
            <a:avLst/>
          </a:prstGeom>
        </p:spPr>
        <p:txBody>
          <a:bodyPr wrap="none">
            <a:spAutoFit/>
          </a:bodyPr>
          <a:lstStyle/>
          <a:p>
            <a:r>
              <a:rPr lang="en-US" b="1" dirty="0">
                <a:latin typeface="Agency FB" panose="020B0503020202020204" pitchFamily="34" charset="0"/>
              </a:rPr>
              <a:t>Yesmukhamedov </a:t>
            </a:r>
            <a:r>
              <a:rPr lang="en-US" b="1" dirty="0" err="1">
                <a:latin typeface="Agency FB" panose="020B0503020202020204" pitchFamily="34" charset="0"/>
              </a:rPr>
              <a:t>Nurmaganbet</a:t>
            </a:r>
            <a:endParaRPr lang="en-US" b="1" dirty="0">
              <a:latin typeface="Agency FB" panose="020B0503020202020204" pitchFamily="34" charset="0"/>
            </a:endParaRPr>
          </a:p>
          <a:p>
            <a:r>
              <a:rPr lang="en-US" b="1" dirty="0">
                <a:latin typeface="Agency FB" panose="020B0503020202020204" pitchFamily="34" charset="0"/>
              </a:rPr>
              <a:t>n.yesmukhamedov@iitu.edu.kz</a:t>
            </a:r>
          </a:p>
        </p:txBody>
      </p:sp>
      <p:sp>
        <p:nvSpPr>
          <p:cNvPr id="11" name="Прямоугольник 10">
            <a:extLst>
              <a:ext uri="{FF2B5EF4-FFF2-40B4-BE49-F238E27FC236}">
                <a16:creationId xmlns:a16="http://schemas.microsoft.com/office/drawing/2014/main" id="{426E8E27-D191-A337-139A-48B3C01E887A}"/>
              </a:ext>
            </a:extLst>
          </p:cNvPr>
          <p:cNvSpPr/>
          <p:nvPr/>
        </p:nvSpPr>
        <p:spPr>
          <a:xfrm>
            <a:off x="2729074" y="189580"/>
            <a:ext cx="9326284" cy="1077218"/>
          </a:xfrm>
          <a:prstGeom prst="rect">
            <a:avLst/>
          </a:prstGeom>
        </p:spPr>
        <p:txBody>
          <a:bodyPr wrap="square">
            <a:spAutoFit/>
          </a:bodyPr>
          <a:lstStyle/>
          <a:p>
            <a:pPr algn="ctr"/>
            <a:r>
              <a:rPr lang="en-US" sz="3200" b="1" u="sng" dirty="0">
                <a:latin typeface="Agency FB" panose="020B0503020202020204" pitchFamily="34" charset="0"/>
                <a:cs typeface="Times New Roman" panose="02020603050405020304" pitchFamily="18" charset="0"/>
              </a:rPr>
              <a:t>International University of Information Technology</a:t>
            </a:r>
          </a:p>
          <a:p>
            <a:pPr algn="ctr"/>
            <a:r>
              <a:rPr lang="en-US" sz="3200" b="1" dirty="0">
                <a:latin typeface="Agency FB" panose="020B0503020202020204" pitchFamily="34" charset="0"/>
                <a:cs typeface="Times New Roman" panose="02020603050405020304" pitchFamily="18" charset="0"/>
              </a:rPr>
              <a:t>Department of Computer Engineering</a:t>
            </a:r>
            <a:endParaRPr lang="en-US" sz="3200" b="1" dirty="0">
              <a:cs typeface="Times New Roman" panose="02020603050405020304" pitchFamily="18" charset="0"/>
            </a:endParaRPr>
          </a:p>
        </p:txBody>
      </p:sp>
      <p:pic>
        <p:nvPicPr>
          <p:cNvPr id="13" name="Picture 2" descr="ЛОГОТИП">
            <a:extLst>
              <a:ext uri="{FF2B5EF4-FFF2-40B4-BE49-F238E27FC236}">
                <a16:creationId xmlns:a16="http://schemas.microsoft.com/office/drawing/2014/main" id="{87D1F200-DC2E-611B-0153-F9453FC7CCF3}"/>
              </a:ext>
            </a:extLst>
          </p:cNvPr>
          <p:cNvPicPr>
            <a:picLocks noChangeAspect="1" noChangeArrowheads="1"/>
          </p:cNvPicPr>
          <p:nvPr/>
        </p:nvPicPr>
        <p:blipFill rotWithShape="1">
          <a:blip r:embed="rId3" cstate="hqprint">
            <a:extLst>
              <a:ext uri="{28A0092B-C50C-407E-A947-70E740481C1C}">
                <a14:useLocalDpi xmlns:a14="http://schemas.microsoft.com/office/drawing/2010/main" val="0"/>
              </a:ext>
            </a:extLst>
          </a:blip>
          <a:srcRect t="16767" b="20951"/>
          <a:stretch>
            <a:fillRect/>
          </a:stretch>
        </p:blipFill>
        <p:spPr bwMode="auto">
          <a:xfrm>
            <a:off x="229816" y="189580"/>
            <a:ext cx="1933369" cy="1077218"/>
          </a:xfrm>
          <a:prstGeom prst="rect">
            <a:avLst/>
          </a:prstGeom>
          <a:noFill/>
          <a:extLst>
            <a:ext uri="{909E8E84-426E-40DD-AFC4-6F175D3DCCD1}">
              <a14:hiddenFill xmlns:a14="http://schemas.microsoft.com/office/drawing/2010/main">
                <a:solidFill>
                  <a:srgbClr val="FFFFFF"/>
                </a:solidFill>
              </a14:hiddenFill>
            </a:ext>
          </a:extLst>
        </p:spPr>
      </p:pic>
      <p:pic>
        <p:nvPicPr>
          <p:cNvPr id="8" name="Рисунок 7">
            <a:extLst>
              <a:ext uri="{FF2B5EF4-FFF2-40B4-BE49-F238E27FC236}">
                <a16:creationId xmlns:a16="http://schemas.microsoft.com/office/drawing/2014/main" id="{0D29BA94-8179-221A-26EE-60E8B2E54F79}"/>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t="3263" r="2862"/>
          <a:stretch/>
        </p:blipFill>
        <p:spPr>
          <a:xfrm>
            <a:off x="229815" y="5178096"/>
            <a:ext cx="1091779" cy="1449698"/>
          </a:xfrm>
          <a:custGeom>
            <a:avLst/>
            <a:gdLst>
              <a:gd name="connsiteX0" fmla="*/ 561975 w 1123950"/>
              <a:gd name="connsiteY0" fmla="*/ 0 h 1449698"/>
              <a:gd name="connsiteX1" fmla="*/ 1123950 w 1123950"/>
              <a:gd name="connsiteY1" fmla="*/ 724849 h 1449698"/>
              <a:gd name="connsiteX2" fmla="*/ 561975 w 1123950"/>
              <a:gd name="connsiteY2" fmla="*/ 1449698 h 1449698"/>
              <a:gd name="connsiteX3" fmla="*/ 0 w 1123950"/>
              <a:gd name="connsiteY3" fmla="*/ 724849 h 1449698"/>
              <a:gd name="connsiteX4" fmla="*/ 561975 w 1123950"/>
              <a:gd name="connsiteY4" fmla="*/ 0 h 1449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3950" h="1449698">
                <a:moveTo>
                  <a:pt x="561975" y="0"/>
                </a:moveTo>
                <a:cubicBezTo>
                  <a:pt x="872345" y="0"/>
                  <a:pt x="1123950" y="324526"/>
                  <a:pt x="1123950" y="724849"/>
                </a:cubicBezTo>
                <a:cubicBezTo>
                  <a:pt x="1123950" y="1125172"/>
                  <a:pt x="872345" y="1449698"/>
                  <a:pt x="561975" y="1449698"/>
                </a:cubicBezTo>
                <a:cubicBezTo>
                  <a:pt x="251605" y="1449698"/>
                  <a:pt x="0" y="1125172"/>
                  <a:pt x="0" y="724849"/>
                </a:cubicBezTo>
                <a:cubicBezTo>
                  <a:pt x="0" y="324526"/>
                  <a:pt x="251605" y="0"/>
                  <a:pt x="561975" y="0"/>
                </a:cubicBezTo>
                <a:close/>
              </a:path>
            </a:pathLst>
          </a:custGeom>
        </p:spPr>
      </p:pic>
    </p:spTree>
    <p:extLst>
      <p:ext uri="{BB962C8B-B14F-4D97-AF65-F5344CB8AC3E}">
        <p14:creationId xmlns:p14="http://schemas.microsoft.com/office/powerpoint/2010/main" val="4106408986"/>
      </p:ext>
    </p:extLst>
  </p:cSld>
  <p:clrMapOvr>
    <a:masterClrMapping/>
  </p:clrMapOvr>
</p:sld>
</file>

<file path=ppt/theme/theme1.xml><?xml version="1.0" encoding="utf-8"?>
<a:theme xmlns:a="http://schemas.openxmlformats.org/drawingml/2006/main" name="Тема Office [1774575125313]">
  <a:themeElements>
    <a:clrScheme name="Midnight Executive">
      <a:dk1>
        <a:srgbClr val="1E2761"/>
      </a:dk1>
      <a:lt1>
        <a:srgbClr val="FFFFFF"/>
      </a:lt1>
      <a:dk2>
        <a:srgbClr val="0F1438"/>
      </a:dk2>
      <a:lt2>
        <a:srgbClr val="F0F4FA"/>
      </a:lt2>
      <a:accent1>
        <a:srgbClr val="1E2761"/>
      </a:accent1>
      <a:accent2>
        <a:srgbClr val="CADCFC"/>
      </a:accent2>
      <a:accent3>
        <a:srgbClr val="3A7BD5"/>
      </a:accent3>
      <a:accent4>
        <a:srgbClr val="E8B84B"/>
      </a:accent4>
      <a:accent5>
        <a:srgbClr val="2ECC71"/>
      </a:accent5>
      <a:accent6>
        <a:srgbClr val="8E44AD"/>
      </a:accent6>
      <a:hlink>
        <a:srgbClr val="3A7BD5"/>
      </a:hlink>
      <a:folHlink>
        <a:srgbClr val="8E44AD"/>
      </a:folHlink>
    </a:clrScheme>
    <a:fontScheme name="Midnight Executive">
      <a:majorFont>
        <a:latin typeface="Cambria"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97"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FA90E1D-B386-4A55-8EBD-A027390009F1}">
  <we:reference id="wa200010001" version="1.0.0.1" store="en-US" storeType="OMEX"/>
  <we:alternateReferences>
    <we:reference id="wa200010001" version="1.0.0.1"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137</TotalTime>
  <Words>4345</Words>
  <Application>Microsoft Office PowerPoint</Application>
  <PresentationFormat>Широкоэкранный</PresentationFormat>
  <Paragraphs>555</Paragraphs>
  <Slides>28</Slides>
  <Notes>18</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28</vt:i4>
      </vt:variant>
    </vt:vector>
  </HeadingPairs>
  <TitlesOfParts>
    <vt:vector size="36" baseType="lpstr">
      <vt:lpstr>Agency FB</vt:lpstr>
      <vt:lpstr>Aptos</vt:lpstr>
      <vt:lpstr>Arial</vt:lpstr>
      <vt:lpstr>Calibri</vt:lpstr>
      <vt:lpstr>Calibri Light</vt:lpstr>
      <vt:lpstr>Cambria</vt:lpstr>
      <vt:lpstr>Times New Roman</vt:lpstr>
      <vt:lpstr>Тема Office [1774575125313]</vt:lpstr>
      <vt:lpstr>Презентация PowerPoint</vt:lpstr>
      <vt:lpstr>Зерттеу мотивациясы және өзектілігі</vt:lpstr>
      <vt:lpstr>Мәселенің қойылымы</vt:lpstr>
      <vt:lpstr>Зерттеу мақсаттары</vt:lpstr>
      <vt:lpstr>Зерттеу объектісі және пәні</vt:lpstr>
      <vt:lpstr>Ғылыми жаңалық</vt:lpstr>
      <vt:lpstr>Презентация PowerPoint</vt:lpstr>
      <vt:lpstr>Әдебиеттерге шолу</vt:lpstr>
      <vt:lpstr>Жүйе архитектурасы</vt:lpstr>
      <vt:lpstr>Алдын ала өңдеу pipeline</vt:lpstr>
      <vt:lpstr>CLAHE формуляциясы және V4 жетілдірулер</vt:lpstr>
      <vt:lpstr>CNN архитектурасы</vt:lpstr>
      <vt:lpstr>Деректер жиынтығы архитектурасы</vt:lpstr>
      <vt:lpstr>Эксперименттік жобалау</vt:lpstr>
      <vt:lpstr>1-эксперимент: факторлық жобалау</vt:lpstr>
      <vt:lpstr>2-эксперимент: Ablation + CLAHE сезімталдығы</vt:lpstr>
      <vt:lpstr>4-эксперимент: Grad-CAM түсіндірме</vt:lpstr>
      <vt:lpstr>5 және 6-эксперименттер</vt:lpstr>
      <vt:lpstr>Бағалау метрикалары жүйесі</vt:lpstr>
      <vt:lpstr>1-эксперимент: 2×2 факторлық нәтижелер</vt:lpstr>
      <vt:lpstr>2, 4, 5, 6-эксперименттер: синтезделген нәтижелер</vt:lpstr>
      <vt:lpstr>Нәтижелерді талқылау</vt:lpstr>
      <vt:lpstr>Негізгі үлестер</vt:lpstr>
      <vt:lpstr>Қосымша үлестер</vt:lpstr>
      <vt:lpstr>Негізгі эксперименттік тұжырымдар</vt:lpstr>
      <vt:lpstr>Теориялық және практикалық маңыздылығы</vt:lpstr>
      <vt:lpstr>Жарияланымдар және апробация</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Yeskendyr Yesmukhamedov</dc:creator>
  <cp:lastModifiedBy>Yeskendyr Yesmukhamedov</cp:lastModifiedBy>
  <cp:revision>3</cp:revision>
  <dcterms:created xsi:type="dcterms:W3CDTF">2026-03-27T01:27:22Z</dcterms:created>
  <dcterms:modified xsi:type="dcterms:W3CDTF">2026-03-27T03:44:44Z</dcterms:modified>
</cp:coreProperties>
</file>