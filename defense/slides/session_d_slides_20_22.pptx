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 — Experiment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Factorial Design: Baseline vs. Full V4 Pipeline × ResNet-50 vs. EfficientNet-B3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868680"/>
                <a:gridCol w="1417320"/>
                <a:gridCol w="1234440"/>
                <a:gridCol w="1051560"/>
                <a:gridCol w="105156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 ± 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 ± 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 ± 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 ± 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 ± 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 ± 0.021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 ± 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 ± 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 ± 0.050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 ± 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 ± 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 ± 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EH-3 Dominance Criterion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vs A (ResNet-50):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ΔF1 = −0.1 pp  </a:t>
            </a:r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(req. ≥5 pp) — NOT MET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ΔAUC = −0.003  </a:t>
            </a:r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(req. ≥0.02) — NOT MET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vs C (EfficientNet-B3, partial):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ΔF1 = +5.7 pp  </a:t>
            </a:r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(req. ≥5 pp) — MET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ΔAUC = +0.004  </a:t>
            </a:r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(req. ≥0.02) — NOT MET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30175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33832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ResNet-50: no measurable preprocessing effect; baseline and V4 configurations yield equivalent performance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EfficientNet-B3: partial results suggest preprocessing benefit (ΔF1 ≈ +5.7 pp, Δκ ≈ +0.08), pending final fold completion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exhibits overfitting pattern (train loss ≈ 0.14, val loss ≈ 2.6) — requires interpretation in Discussion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Configs C and D: 2/3 folds complete (1 fold pending — power interruption). Reported means are provisional.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2, 4, 5, 6 — Pending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2: Ablation + CLAHE Sensitivity (H-2)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7-level V4 ablation (baseline → full pipeline)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parameter sweep on IDRiD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metrics: CNR, VVI, Entropy, SSIM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criterion: non-trivial sensitivity curve with identifiable local optimum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[PENDING — experiment not yet run]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182880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4: Grad-CAM Explainability (H-5)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 (primary): lesion coverage by model attention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(secondary): symmetric spatial precision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lesion types × baseline vs. preprocessed (IDRiD)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NC-14: Grad-CAM provides interpretability signals, not clinical localization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[PENDING — experiment not yet run]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64008" cy="1508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5: Cross-Dataset Generalization (H-4)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F1_external / F1_EyePACS, criterion: G ≥ 0.85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 to Messidor-2 and IDRiD (no retraining)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[PENDING — experiment not yet run]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64008" cy="150876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 6: Device Domain Shift (H-6)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3375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matrix: Canon, Topcon, Kowa, Zeiss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RFMiD, DDR, ODIR-5K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NC-16: Device results ≠ device certification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[PENDING — experiment not yet run]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2, 4, 5, and 6 have defined protocols and success criteria but have not yet been executed. Results will be populated upon 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and Key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Preliminary Findings (Exp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H-1 not confirmed for ResNet-50: baseline and V4 pipeline produce equivalent results (ΔF1 &lt; 1 pp)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H-1 partially supported for EfficientNet-B3: preprocessing improves F1 (+5.7 pp) and κ (+0.08), but AUC criterion not met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EH-3 dominance criterion not satisfied on either architecture with current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64008" cy="164592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Interpretation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ResNet-50's skip connections may inherently compensate for input variability, reducing the marginal value of external preprocessing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appears more sensitive to input feature quality, suggesting preprocessing benefit may be architecture-dependent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in EfficientNet-B3 (val_loss divergence) may partially mask the preprocessing signal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64008" cy="1463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Limitations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bounded to tested datasets and architectures (DGL-1)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 or deployment testing (DGL-4)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folds reduce statistical confidence of current comparisons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variability coverage not exhaustive (4 manufacturers)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64008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Provisional Conclusion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evidence suggests that preprocessing impact is architecture-dependent rather than universally dominant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 of H-1 requires completion of remaining folds and Experiments 2, 5, and 6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improves consistency and robustness indicators for EfficientNet-B3, but does not claim clinical deployment readiness (CFC-2.4)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98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claims are bounded to the experimental scope defined in INVARIANTS.md v4.1.  No superiority claim (CFC-2.2) or clinical validation claim (CFC-2.4) is made.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36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are provisional pending Experiment 1 fold completion and execution of Experiments 2, 4, 5, and 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Dissertation Defense — Session D: Results + Discussion</dc:title>
  <dc:subject>PptxGenJS Presentation</dc:subject>
  <dc:creator>Yesmukhamedov N.S.</dc:creator>
  <cp:lastModifiedBy>Yesmukhamedov N.S.</cp:lastModifiedBy>
  <cp:revision>1</cp:revision>
  <dcterms:created xsi:type="dcterms:W3CDTF">2026-03-26T14:37:43Z</dcterms:created>
  <dcterms:modified xsi:type="dcterms:W3CDTF">2026-03-26T14:37:43Z</dcterms:modified>
</cp:coreProperties>
</file>